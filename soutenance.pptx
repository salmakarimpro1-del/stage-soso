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Sémantique</c:v>
                </c:pt>
              </c:strCache>
            </c:strRef>
          </c:tx>
          <c:spPr>
            <a:solidFill>
              <a:srgbClr val="8B5CF6"/>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Sheet1!$A$2:$A$6</c:f>
              <c:multiLvlStrCache>
                <c:ptCount val="5"/>
                <c:lvl>
                  <c:pt idx="0">
                    <c:v>Recall@1</c:v>
                  </c:pt>
                  <c:pt idx="1">
                    <c:v>Recall@5</c:v>
                  </c:pt>
                  <c:pt idx="2">
                    <c:v>Recall@10</c:v>
                  </c:pt>
                  <c:pt idx="3">
                    <c:v>MRR@10</c:v>
                  </c:pt>
                  <c:pt idx="4">
                    <c:v>nDCG@10</c:v>
                  </c:pt>
                </c:lvl>
              </c:multiLvlStrCache>
            </c:multiLvlStrRef>
          </c:cat>
          <c:val>
            <c:numRef>
              <c:f>Sheet1!$B$2:$B$6</c:f>
              <c:numCache>
                <c:formatCode>General</c:formatCode>
                <c:ptCount val="5"/>
                <c:pt idx="0">
                  <c:v>0.896</c:v>
                </c:pt>
                <c:pt idx="1">
                  <c:v>0.956</c:v>
                </c:pt>
                <c:pt idx="2">
                  <c:v>0.964</c:v>
                </c:pt>
                <c:pt idx="3">
                  <c:v>0.9218</c:v>
                </c:pt>
                <c:pt idx="4">
                  <c:v>0.9323</c:v>
                </c:pt>
              </c:numCache>
            </c:numRef>
          </c:val>
        </c:ser>
        <c:ser>
          <c:idx val="1"/>
          <c:order val="1"/>
          <c:tx>
            <c:strRef>
              <c:f>Sheet1!$C$1</c:f>
              <c:strCache>
                <c:ptCount val="1"/>
                <c:pt idx="0">
                  <c:v>BM25</c:v>
                </c:pt>
              </c:strCache>
            </c:strRef>
          </c:tx>
          <c:spPr>
            <a:solidFill>
              <a:srgbClr val="F59E0B"/>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Sheet1!$A$2:$A$6</c:f>
              <c:multiLvlStrCache>
                <c:ptCount val="5"/>
                <c:lvl>
                  <c:pt idx="0">
                    <c:v>Recall@1</c:v>
                  </c:pt>
                  <c:pt idx="1">
                    <c:v>Recall@5</c:v>
                  </c:pt>
                  <c:pt idx="2">
                    <c:v>Recall@10</c:v>
                  </c:pt>
                  <c:pt idx="3">
                    <c:v>MRR@10</c:v>
                  </c:pt>
                  <c:pt idx="4">
                    <c:v>nDCG@10</c:v>
                  </c:pt>
                </c:lvl>
              </c:multiLvlStrCache>
            </c:multiLvlStrRef>
          </c:cat>
          <c:val>
            <c:numRef>
              <c:f>Sheet1!$C$2:$C$6</c:f>
              <c:numCache>
                <c:formatCode>General</c:formatCode>
                <c:ptCount val="5"/>
                <c:pt idx="0">
                  <c:v>0.93</c:v>
                </c:pt>
                <c:pt idx="1">
                  <c:v>0.984</c:v>
                </c:pt>
                <c:pt idx="2">
                  <c:v>0.99</c:v>
                </c:pt>
                <c:pt idx="3">
                  <c:v>0.9531</c:v>
                </c:pt>
                <c:pt idx="4">
                  <c:v>0.9622</c:v>
                </c:pt>
              </c:numCache>
            </c:numRef>
          </c:val>
        </c:ser>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9AA3BC"/>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14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727C96"/>
                </a:solidFill>
                <a:latin typeface="Arial"/>
              </a:defRPr>
            </a:pPr>
            <a:endParaRPr lang="en-US"/>
          </a:p>
        </c:txPr>
        <c:crossAx val="2094734554"/>
        <c:crosses val="autoZero"/>
        <c:crossBetween val="between"/>
      </c:valAx>
      <c:spPr>
        <a:solidFill>
          <a:srgbClr val="141822"/>
        </a:solidFill>
        <a:ln>
          <a:noFill/>
        </a:ln>
        <a:effectLst/>
      </c:spPr>
    </c:plotArea>
    <c:legend>
      <c:legendPos val="t"/>
      <c:overlay val="0"/>
      <c:txPr>
        <a:bodyPr/>
        <a:lstStyle/>
        <a:p>
          <a:pPr>
            <a:defRPr sz="1000">
              <a:solidFill>
                <a:srgbClr val="9AA3BC"/>
              </a:solidFill>
            </a:defRPr>
          </a:pPr>
          <a:endParaRPr lang="en-US"/>
        </a:p>
      </c:txPr>
    </c:legend>
    <c:plotVisOnly val="1"/>
    <c:dispBlanksAs val="span"/>
  </c:chart>
  <c:spPr>
    <a:solidFill>
      <a:srgbClr val="141822"/>
    </a:solidFill>
    <a:ln w="12700" cap="flat">
      <a:solidFill>
        <a:srgbClr val="141822"/>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Sémantique</c:v>
                </c:pt>
              </c:strCache>
            </c:strRef>
          </c:tx>
          <c:spPr>
            <a:solidFill>
              <a:srgbClr val="8B5CF6"/>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63 % de mots communs</c:v>
                  </c:pt>
                  <c:pt idx="1">
                    <c:v>83 % de mots communs</c:v>
                  </c:pt>
                  <c:pt idx="2">
                    <c:v>96 % de mots communs</c:v>
                  </c:pt>
                </c:lvl>
              </c:multiLvlStrCache>
            </c:multiLvlStrRef>
          </c:cat>
          <c:val>
            <c:numRef>
              <c:f>Sheet1!$B$2:$B$4</c:f>
              <c:numCache>
                <c:formatCode>General</c:formatCode>
                <c:ptCount val="3"/>
                <c:pt idx="0">
                  <c:v>0.827</c:v>
                </c:pt>
                <c:pt idx="1">
                  <c:v>0.96</c:v>
                </c:pt>
                <c:pt idx="2">
                  <c:v>0.978</c:v>
                </c:pt>
              </c:numCache>
            </c:numRef>
          </c:val>
        </c:ser>
        <c:ser>
          <c:idx val="1"/>
          <c:order val="1"/>
          <c:tx>
            <c:strRef>
              <c:f>Sheet1!$C$1</c:f>
              <c:strCache>
                <c:ptCount val="1"/>
                <c:pt idx="0">
                  <c:v>BM25</c:v>
                </c:pt>
              </c:strCache>
            </c:strRef>
          </c:tx>
          <c:spPr>
            <a:solidFill>
              <a:srgbClr val="F59E0B"/>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63 % de mots communs</c:v>
                  </c:pt>
                  <c:pt idx="1">
                    <c:v>83 % de mots communs</c:v>
                  </c:pt>
                  <c:pt idx="2">
                    <c:v>96 % de mots communs</c:v>
                  </c:pt>
                </c:lvl>
              </c:multiLvlStrCache>
            </c:multiLvlStrRef>
          </c:cat>
          <c:val>
            <c:numRef>
              <c:f>Sheet1!$C$2:$C$4</c:f>
              <c:numCache>
                <c:formatCode>General</c:formatCode>
                <c:ptCount val="3"/>
                <c:pt idx="0">
                  <c:v>0.877</c:v>
                </c:pt>
                <c:pt idx="1">
                  <c:v>0.988</c:v>
                </c:pt>
                <c:pt idx="2">
                  <c:v>0.994</c:v>
                </c:pt>
              </c:numCache>
            </c:numRef>
          </c:val>
        </c:ser>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9AA3BC"/>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14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727C96"/>
                </a:solidFill>
                <a:latin typeface="Arial"/>
              </a:defRPr>
            </a:pPr>
            <a:endParaRPr lang="en-US"/>
          </a:p>
        </c:txPr>
        <c:crossAx val="2094734554"/>
        <c:crosses val="autoZero"/>
        <c:crossBetween val="between"/>
      </c:valAx>
      <c:spPr>
        <a:solidFill>
          <a:srgbClr val="141822"/>
        </a:solidFill>
        <a:ln>
          <a:noFill/>
        </a:ln>
        <a:effectLst/>
      </c:spPr>
    </c:plotArea>
    <c:legend>
      <c:legendPos val="t"/>
      <c:overlay val="0"/>
      <c:txPr>
        <a:bodyPr/>
        <a:lstStyle/>
        <a:p>
          <a:pPr>
            <a:defRPr sz="1000">
              <a:solidFill>
                <a:srgbClr val="9AA3BC"/>
              </a:solidFill>
            </a:defRPr>
          </a:pPr>
          <a:endParaRPr lang="en-US"/>
        </a:p>
      </c:txPr>
    </c:legend>
    <c:plotVisOnly val="1"/>
    <c:dispBlanksAs val="span"/>
  </c:chart>
  <c:spPr>
    <a:solidFill>
      <a:srgbClr val="141822"/>
    </a:solidFill>
    <a:ln w="12700" cap="flat">
      <a:solidFill>
        <a:srgbClr val="141822"/>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Sémantique</c:v>
                </c:pt>
              </c:strCache>
            </c:strRef>
          </c:tx>
          <c:spPr>
            <a:solidFill>
              <a:srgbClr val="8B5CF6"/>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Sheet1!$A$2:$A$3</c:f>
              <c:multiLvlStrCache>
                <c:ptCount val="2"/>
                <c:lvl>
                  <c:pt idx="0">
                    <c:v>Requêtes complètes</c:v>
                  </c:pt>
                  <c:pt idx="1">
                    <c:v>Requêtes appauvries</c:v>
                  </c:pt>
                </c:lvl>
              </c:multiLvlStrCache>
            </c:multiLvlStrRef>
          </c:cat>
          <c:val>
            <c:numRef>
              <c:f>Sheet1!$B$2:$B$3</c:f>
              <c:numCache>
                <c:formatCode>General</c:formatCode>
                <c:ptCount val="2"/>
                <c:pt idx="0">
                  <c:v>0.9218</c:v>
                </c:pt>
                <c:pt idx="1">
                  <c:v>0.5644</c:v>
                </c:pt>
              </c:numCache>
            </c:numRef>
          </c:val>
        </c:ser>
        <c:ser>
          <c:idx val="1"/>
          <c:order val="1"/>
          <c:tx>
            <c:strRef>
              <c:f>Sheet1!$C$1</c:f>
              <c:strCache>
                <c:ptCount val="1"/>
                <c:pt idx="0">
                  <c:v>BM25</c:v>
                </c:pt>
              </c:strCache>
            </c:strRef>
          </c:tx>
          <c:spPr>
            <a:solidFill>
              <a:srgbClr val="F59E0B"/>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Sheet1!$A$2:$A$3</c:f>
              <c:multiLvlStrCache>
                <c:ptCount val="2"/>
                <c:lvl>
                  <c:pt idx="0">
                    <c:v>Requêtes complètes</c:v>
                  </c:pt>
                  <c:pt idx="1">
                    <c:v>Requêtes appauvries</c:v>
                  </c:pt>
                </c:lvl>
              </c:multiLvlStrCache>
            </c:multiLvlStrRef>
          </c:cat>
          <c:val>
            <c:numRef>
              <c:f>Sheet1!$C$2:$C$3</c:f>
              <c:numCache>
                <c:formatCode>General</c:formatCode>
                <c:ptCount val="2"/>
                <c:pt idx="0">
                  <c:v>0.9531</c:v>
                </c:pt>
                <c:pt idx="1">
                  <c:v>0.6453</c:v>
                </c:pt>
              </c:numCache>
            </c:numRef>
          </c:val>
        </c:ser>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9AA3BC"/>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14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727C96"/>
                </a:solidFill>
                <a:latin typeface="Arial"/>
              </a:defRPr>
            </a:pPr>
            <a:endParaRPr lang="en-US"/>
          </a:p>
        </c:txPr>
        <c:crossAx val="2094734554"/>
        <c:crosses val="autoZero"/>
        <c:crossBetween val="between"/>
      </c:valAx>
      <c:spPr>
        <a:solidFill>
          <a:srgbClr val="141822"/>
        </a:solidFill>
        <a:ln>
          <a:noFill/>
        </a:ln>
        <a:effectLst/>
      </c:spPr>
    </c:plotArea>
    <c:legend>
      <c:legendPos val="t"/>
      <c:overlay val="0"/>
      <c:txPr>
        <a:bodyPr/>
        <a:lstStyle/>
        <a:p>
          <a:pPr>
            <a:defRPr sz="1000">
              <a:solidFill>
                <a:srgbClr val="9AA3BC"/>
              </a:solidFill>
            </a:defRPr>
          </a:pPr>
          <a:endParaRPr lang="en-US"/>
        </a:p>
      </c:txPr>
    </c:legend>
    <c:plotVisOnly val="1"/>
    <c:dispBlanksAs val="span"/>
  </c:chart>
  <c:spPr>
    <a:solidFill>
      <a:srgbClr val="141822"/>
    </a:solidFill>
    <a:ln w="12700" cap="flat">
      <a:solidFill>
        <a:srgbClr val="141822"/>
      </a:solid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Sémantique</c:v>
                </c:pt>
              </c:strCache>
            </c:strRef>
          </c:tx>
          <c:spPr>
            <a:solidFill>
              <a:srgbClr val="8B5CF6"/>
            </a:solidFill>
            <a:effectLst/>
          </c:spPr>
          <c:invertIfNegative val="0"/>
          <c:dLbls>
            <c:numFmt formatCode="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français ↔ anglais</c:v>
                  </c:pt>
                  <c:pt idx="1">
                    <c:v>arabe ↔ anglais</c:v>
                  </c:pt>
                  <c:pt idx="2">
                    <c:v>français ↔ arabe</c:v>
                  </c:pt>
                </c:lvl>
              </c:multiLvlStrCache>
            </c:multiLvlStrRef>
          </c:cat>
          <c:val>
            <c:numRef>
              <c:f>Sheet1!$B$2:$B$4</c:f>
              <c:numCache>
                <c:formatCode>General</c:formatCode>
                <c:ptCount val="3"/>
                <c:pt idx="0">
                  <c:v>0.445</c:v>
                </c:pt>
                <c:pt idx="1">
                  <c:v>0.13</c:v>
                </c:pt>
                <c:pt idx="2">
                  <c:v>0.205</c:v>
                </c:pt>
              </c:numCache>
            </c:numRef>
          </c:val>
        </c:ser>
        <c:ser>
          <c:idx val="1"/>
          <c:order val="1"/>
          <c:tx>
            <c:strRef>
              <c:f>Sheet1!$C$1</c:f>
              <c:strCache>
                <c:ptCount val="1"/>
                <c:pt idx="0">
                  <c:v>BM25</c:v>
                </c:pt>
              </c:strCache>
            </c:strRef>
          </c:tx>
          <c:spPr>
            <a:solidFill>
              <a:srgbClr val="F59E0B"/>
            </a:solidFill>
            <a:effectLst/>
          </c:spPr>
          <c:invertIfNegative val="0"/>
          <c:dLbls>
            <c:numFmt formatCode="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français ↔ anglais</c:v>
                  </c:pt>
                  <c:pt idx="1">
                    <c:v>arabe ↔ anglais</c:v>
                  </c:pt>
                  <c:pt idx="2">
                    <c:v>français ↔ arabe</c:v>
                  </c:pt>
                </c:lvl>
              </c:multiLvlStrCache>
            </c:multiLvlStrRef>
          </c:cat>
          <c:val>
            <c:numRef>
              <c:f>Sheet1!$C$2:$C$4</c:f>
              <c:numCache>
                <c:formatCode>General</c:formatCode>
                <c:ptCount val="3"/>
                <c:pt idx="0">
                  <c:v>0.035</c:v>
                </c:pt>
                <c:pt idx="1">
                  <c:v>0</c:v>
                </c:pt>
                <c:pt idx="2">
                  <c:v>0</c:v>
                </c:pt>
              </c:numCache>
            </c:numRef>
          </c:val>
        </c:ser>
        <c:dLbls>
          <c:numFmt formatCode="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9AA3BC"/>
                </a:solidFill>
                <a:latin typeface="Arial"/>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12700" cap="flat">
              <a:solidFill>
                <a:srgbClr val="2A3145"/>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27C96"/>
                </a:solidFill>
                <a:latin typeface="Arial"/>
              </a:defRPr>
            </a:pPr>
            <a:endParaRPr lang="en-US"/>
          </a:p>
        </c:txPr>
        <c:crossAx val="2094734554"/>
        <c:crosses val="autoZero"/>
        <c:crossBetween val="between"/>
      </c:valAx>
      <c:spPr>
        <a:solidFill>
          <a:srgbClr val="141822"/>
        </a:solidFill>
        <a:ln>
          <a:noFill/>
        </a:ln>
        <a:effectLst/>
      </c:spPr>
    </c:plotArea>
    <c:legend>
      <c:legendPos val="t"/>
      <c:overlay val="0"/>
      <c:txPr>
        <a:bodyPr/>
        <a:lstStyle/>
        <a:p>
          <a:pPr>
            <a:defRPr sz="1000">
              <a:solidFill>
                <a:srgbClr val="9AA3BC"/>
              </a:solidFill>
            </a:defRPr>
          </a:pPr>
          <a:endParaRPr lang="en-US"/>
        </a:p>
      </c:txPr>
    </c:legend>
    <c:plotVisOnly val="1"/>
    <c:dispBlanksAs val="span"/>
  </c:chart>
  <c:spPr>
    <a:solidFill>
      <a:srgbClr val="141822"/>
    </a:solidFill>
    <a:ln w="12700" cap="flat">
      <a:solidFill>
        <a:srgbClr val="141822"/>
      </a:solid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Sémantique</c:v>
                </c:pt>
              </c:strCache>
            </c:strRef>
          </c:tx>
          <c:spPr>
            <a:solidFill>
              <a:srgbClr val="8B5CF6"/>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titre → résumé</c:v>
                  </c:pt>
                  <c:pt idx="1">
                    <c:v>requêtes appauvries</c:v>
                  </c:pt>
                  <c:pt idx="2">
                    <c:v>faible recouvrement</c:v>
                  </c:pt>
                </c:lvl>
              </c:multiLvlStrCache>
            </c:multiLvlStrRef>
          </c:cat>
          <c:val>
            <c:numRef>
              <c:f>Sheet1!$B$2:$B$4</c:f>
              <c:numCache>
                <c:formatCode>General</c:formatCode>
                <c:ptCount val="3"/>
                <c:pt idx="0">
                  <c:v>0.929</c:v>
                </c:pt>
                <c:pt idx="1">
                  <c:v>0.712</c:v>
                </c:pt>
                <c:pt idx="2">
                  <c:v>0.846</c:v>
                </c:pt>
              </c:numCache>
            </c:numRef>
          </c:val>
        </c:ser>
        <c:ser>
          <c:idx val="1"/>
          <c:order val="1"/>
          <c:tx>
            <c:strRef>
              <c:f>Sheet1!$C$1</c:f>
              <c:strCache>
                <c:ptCount val="1"/>
                <c:pt idx="0">
                  <c:v>BM25</c:v>
                </c:pt>
              </c:strCache>
            </c:strRef>
          </c:tx>
          <c:spPr>
            <a:solidFill>
              <a:srgbClr val="F59E0B"/>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titre → résumé</c:v>
                  </c:pt>
                  <c:pt idx="1">
                    <c:v>requêtes appauvries</c:v>
                  </c:pt>
                  <c:pt idx="2">
                    <c:v>faible recouvrement</c:v>
                  </c:pt>
                </c:lvl>
              </c:multiLvlStrCache>
            </c:multiLvlStrRef>
          </c:cat>
          <c:val>
            <c:numRef>
              <c:f>Sheet1!$C$2:$C$4</c:f>
              <c:numCache>
                <c:formatCode>General</c:formatCode>
                <c:ptCount val="3"/>
                <c:pt idx="0">
                  <c:v>0.975</c:v>
                </c:pt>
                <c:pt idx="1">
                  <c:v>0.751</c:v>
                </c:pt>
                <c:pt idx="2">
                  <c:v>0.923</c:v>
                </c:pt>
              </c:numCache>
            </c:numRef>
          </c:val>
        </c:ser>
        <c:ser>
          <c:idx val="2"/>
          <c:order val="2"/>
          <c:tx>
            <c:strRef>
              <c:f>Sheet1!$D$1</c:f>
              <c:strCache>
                <c:ptCount val="1"/>
                <c:pt idx="0">
                  <c:v>Hybride</c:v>
                </c:pt>
              </c:strCache>
            </c:strRef>
          </c:tx>
          <c:spPr>
            <a:solidFill>
              <a:srgbClr val="10B981"/>
            </a:solidFill>
            <a:effectLst/>
          </c:spPr>
          <c:invertIfNegative val="0"/>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cat>
            <c:multiLvlStrRef>
              <c:f>Sheet1!$A$2:$A$4</c:f>
              <c:multiLvlStrCache>
                <c:ptCount val="3"/>
                <c:lvl>
                  <c:pt idx="0">
                    <c:v>titre → résumé</c:v>
                  </c:pt>
                  <c:pt idx="1">
                    <c:v>requêtes appauvries</c:v>
                  </c:pt>
                  <c:pt idx="2">
                    <c:v>faible recouvrement</c:v>
                  </c:pt>
                </c:lvl>
              </c:multiLvlStrCache>
            </c:multiLvlStrRef>
          </c:cat>
          <c:val>
            <c:numRef>
              <c:f>Sheet1!$D$2:$D$4</c:f>
              <c:numCache>
                <c:formatCode>General</c:formatCode>
                <c:ptCount val="3"/>
                <c:pt idx="0">
                  <c:v>0.978</c:v>
                </c:pt>
                <c:pt idx="1">
                  <c:v>0.774</c:v>
                </c:pt>
                <c:pt idx="2">
                  <c:v>0.933</c:v>
                </c:pt>
              </c:numCache>
            </c:numRef>
          </c:val>
        </c:ser>
        <c:dLbls>
          <c:numFmt formatCode="0.00" sourceLinked="0"/>
          <c:txPr>
            <a:bodyPr/>
            <a:lstStyle/>
            <a:p>
              <a:pPr>
                <a:defRPr b="0" i="0" strike="noStrike" sz="900" u="none">
                  <a:solidFill>
                    <a:srgbClr val="9AA3B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9AA3BC"/>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14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727C96"/>
                </a:solidFill>
                <a:latin typeface="Arial"/>
              </a:defRPr>
            </a:pPr>
            <a:endParaRPr lang="en-US"/>
          </a:p>
        </c:txPr>
        <c:crossAx val="2094734554"/>
        <c:crosses val="autoZero"/>
        <c:crossBetween val="between"/>
      </c:valAx>
      <c:spPr>
        <a:solidFill>
          <a:srgbClr val="141822"/>
        </a:solidFill>
        <a:ln>
          <a:noFill/>
        </a:ln>
        <a:effectLst/>
      </c:spPr>
    </c:plotArea>
    <c:legend>
      <c:legendPos val="t"/>
      <c:overlay val="0"/>
      <c:txPr>
        <a:bodyPr/>
        <a:lstStyle/>
        <a:p>
          <a:pPr>
            <a:defRPr sz="1000">
              <a:solidFill>
                <a:srgbClr val="9AA3BC"/>
              </a:solidFill>
            </a:defRPr>
          </a:pPr>
          <a:endParaRPr lang="en-US"/>
        </a:p>
      </c:txPr>
    </c:legend>
    <c:plotVisOnly val="1"/>
    <c:dispBlanksAs val="span"/>
  </c:chart>
  <c:spPr>
    <a:solidFill>
      <a:srgbClr val="141822"/>
    </a:solidFill>
    <a:ln w="12700" cap="flat">
      <a:solidFill>
        <a:srgbClr val="141822"/>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conception et le développement d'un moteur de recherche sémantique appliqué à un corpus d'articles scientifiques.
Le fil conducteur tient en une phrase : je ne vais pas essayer de vous montrer que le sémantique bat le lexical — les mesures disent autre chose, de plus solide. Je vais vous montrer où chacun gagne, et pourquoi cela mène à les combiner.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le résultat, pas par la théorie.
Voici une question posée en arabe. Voici le premier article renvoyé, en anglais. Les deux ne partagent pas un seul caractère — ils ne partagent même pas l'alphabet.
Un moteur qui compare des mots est structurellement incapable de faire ce rapprochement. Ce n'est pas une question de réglage : le score est nul, il n'y a rien à optimiser.
Toute la question du projet est là : comment chercher par le sens plutôt que par les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façons de représenter un texte.
À gauche, la recherche lexicale : un document est un sac de mots. On compare des chaînes de caractères, pondérées par leur rareté. C'est rapide, gratuit, et c'est la référence du domaine depuis les années 1990.
À droite, la recherche sémantique : un texte devient un point dans un espace à 384 dimensions. Deux textes qui veulent dire la même chose se retrouvent au même endroit — même sans mot commun, même dans deux langues différentes.
L'analogie : la latitude et la longitude. Deux villes proches ont des coordonnées proches. Ici, deux sens proches ont des coordonnées proches.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fixait sept conditions minimales de validation. Les voici, toutes remplies.
Je souligne la dernière, parce que c'est celle qui décide si le projet a un sens : montrer au moins un cas où la recherche sémantique retrouve un document pertinent sans correspondance lexicale évidente.
Dans ce projet, ce cas n'est pas une anecdote choisie à la main : il se produit sur les vingt requêtes arabes du jeu d'évaluation, et l'interface le détecte automatiquement.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système a deux phases, et il est essentiel de ne pas les confondre.
L'indexation est hors ligne : lente, exécutée une seule fois. Douze minutes de calcul sur un processeur sans carte graphique.
La recherche est en ligne : quelques dizaines de millisecondes, à chaque question.
Le mot le plus important de ces deux schémas est « même ». Si j'indexe avec un modèle et que je cherche avec un autre, les deux ensembles de vecteurs vivent dans des espaces différents et les résultats deviennent du pur hasard — sans qu'aucune erreur ne s'affiche. C'est le piège numéro un du domaine, et c'est pour ça que le code n'a qu'un seul module qui connaît le modèle.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corpus vient de l'API publique d'arXiv : 8 569 articles uniques répartis sur huit catégories d'informatique et de statistiques.
Trois raisons de ce choix. D'abord c'est un corpus réel, pas un jeu de données jouet. Ensuite il est entièrement en anglais, ce qui est exactement la condition qui rend la démonstration multilingue significative. Enfin il est reconstructible : un script le retélécharge à l'identique, en respectant le délai de trois secondes qu'impose l'API.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prétraitement est volontairement léger : je ne supprime pas les mots vides et je ne lemmatise pas avant l'encodage, parce qu'un modèle de type BERT a été entraîné sur du texte naturel — le mutiler dégraderait sa représentation. La lemmatisation resterait pertinente pour un pipeline TF-IDF classique, pas ici.
Maintenant la décision la plus importante de tout le projet.
L'évaluation automatique utilise le titre d'un article comme requête. Si le titre était aussi présent dans le texte indexé, BM25 le retrouverait par simple correspondance exacte, et la comparaison entre les deux moteurs n'aurait plus aucun sens. C'est ce qu'on appelle une fuite de données.
J'indexe donc le résumé seul. Le titre reste une métadonnée d'affichage. C'est un paramètre explicite du fichier de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est multilingual-e5-small. Trois raisons.
Un : le multilingue est structurel, pas décoratif. Le modèle a été entraîné sur des paires de phrases traduites, donc « fraud detection », « détection de fraude » et l'équivalent arabe se retrouvent au même endroit de l'espace. Ce n'est pas de la traduction, c'est un espace partagé.
Deux : il tient sur un processeur ordinaire. 118 millions de paramètres, 384 dimensions, et j'ai mesuré : 10 897 passages encodés en douze minutes sur un portable sans carte graphique.
Trois : il est entraîné spécifiquement pour la recherche, sur des paires question-document.
Un piège à connaître : la famille E5 exige les préfixes query et passage. Les oublier dégrade nettement la qualité sans provoquer la moindre erreur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FAISS répond à une seule question, mais très vite : parmi ces dix mille vecteurs, lesquels ressemblent le plus à celui-ci ?
Le choix par défaut est l'index exact. Comparaison exhaustive, donc résultat exact. Sur dix mille vecteurs, une recherche prend une milliseconde : l'approximation n'apporterait rien.
Un détail qui compte : je normalise tous les vecteurs à une longueur de un. Le produit scalaire devient alors exactement la similarité cosinus. Autrement dit, je mesure un angle — donc le sens — et pas une longueur, qui refléterait la taille du texte.
L'index approximatif IVF est aussi implémenté, et je le mesure. À cette échelle, il ne se justifie pas. Le mesurer vaut mieux que le citer.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moteurs, et c'est important : ils partagent le même index et les mêmes passages. Ce qui les sépare est uniquement la façon de classer, jamais ce qui a été indexé. C'est la condition pour que la comparaison veuille dire quelque chose.
Le sémantique compare des vecteurs de sens. Le lexical compare des mots. L'hybride fait voter les deux.
Le troisième mérite qu'on s'y arrête, parce que la façon de fusionner n'est pas évidente.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problème. Un score BM25 vaut typiquement entre zéro et quarante, sans borne supérieure, et il dépend du corpus. Un cosinus vaut entre moins un et un. Les additionner n'a aucun sens : l'échelle de BM25 écraserait l'autre.
On pourrait normaliser les scores. Mais la normalisation dépendrait alors du lot de résultats renvoyé, donc de la requête, et deux requêtes ne seraient plus comparables entre elles.
La Reciprocal Rank Fusion contourne le problème en n'utilisant que les rangs, qui sont dans la même unité par construction.
La constante soixante amortit le sommet du classement : sans elle, la première place vaudrait deux fois la deuxième, ce qui donnerait à un seul moteur un droit de veto sur la fusion.
Et le cas limite est déjà traité : quand BM25 ne renvoie rien, la somme se réduit à un seul terme, et la fusion rend le classement sémantique inchangé.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logicielle sépare strictement le moteur de l'affichage.
Le moteur est une bibliothèque Python. FastAPI le transforme en service web. L'index et le modèle sont chargés une seule fois au démarrage : chaque requête ne paie plus que le coût de la recherche. Sans ce préchauffage, le tout premier utilisateur attendrait quinze secondes — je l'ai mesuré, puis corrigé.
L'interface Streamlit ne sait rien de Sentence-BERT ni de FAISS : elle appelle l'API. On peut changer entièrement le moteur sans toucher une ligne d'affichage.
Et l'API génère sa propre documentation interactive, sur laquelle je peux vous montrer le moteur sans passer par l'interface.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L'interface est organisée en cinq vues, qui suivent exactement l'ordre d'une soutenance.
Recherche, pour l'usage normal. Duel, pour comparer. Démonstration, pour le scénario multilingue. Évaluation, pour les mesures. Architecture, pour le fonctionnement.
Un détail d'ergonomie : la barre de recherche est au-dessus des onglets. On tape la question une fois, et on change de point de vue sans la retaper.
Et chaque moteur garde la même couleur partout — violet, ambre, émeraude — des cartes de résultats jusqu'aux histogrammes d'évaluation.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score de 0,84 affiché seul demande qu'on lui fasse confiance. J'ai donc ajouté deux justifications, de coûts très différents.
La première, gratuite : les mots partagés entre la question et le document, surlignés.
La seconde, coûteuse : le passage est redécoupé en phrases, chacune est encodée séparément, et je mets en évidence celle dont le vecteur est le plus proche de la question. Le modèle désigne lui-même ce qui a déclenché le rapprochement.
C'est la seule qui fonctionne quand il n'y a aucun mot en commun — c'est-à-dire précisément dans le cas qui justifie le projet.
Et le coût, je l'assume plutôt que de le masquer : sur un CPU, l'explication coûte environ neuf fois la recherche. C'est pour ça que la phrase clé n'est calculée que pour les cinq premiers résultats. Les mots partagés, eux, restent calculés pour tous, parce que c'est eux qui portent le signal « aucun mot en commun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démonstration réussie peut toujours être une coïncidence. J'ai donc construit trois protocoles complémentaires, sur des centaines de requêtes.
Le premier produit une vérité terrain sans aucune annotation manuelle : je prends le titre d'un article au hasard et je m'en sers comme requête. Le bon résultat est connu d'avance, c'est l'article lui-même. Cinq cents requêtes annotées gratuitement.
Le deuxième attaque directement l'argument central du projet : la même question posée en trois langues doit renvoyer approximativement les mêmes articles.
Le troisième mesure le coût : latence, taille d'index, et le compromis entre index exact et approximatif.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résultat, et je commence par celui qui ne m'arrange pas.
Sur ce protocole, BM25 devance le moteur sémantique sur les cinq métriques. Recall@1 : 93 % contre 89,6 %. MRR : 0,953 contre 0,922.
Ce n'est pas un défaut d'implémentation, c'est le terrain de jeu naturel de BM25. Un titre partage avec son résumé des termes techniques rares — un nom de méthode, un acronyme — et faire correspondre des termes rares est exactement ce que BM25 fait le mieux.
Je pourrais présenter ces chiffres autrement. Je préfère les présenter tels quels et expliquer pourquoi, parce que la diapositive suivante montre que ce protocole ne mesure pas ce qu'on croit.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diapositive la plus importante de mon analyse, et c'est une critique de mon propre protocole.
J'ai réparti les cinq cents mêmes requêtes en trois groupes, selon la part des mots de la requête effectivement présents dans le bon document. C'est la quantité dont BM25 dépend entièrement.
Regardez le groupe le plus difficile : il partage encore soixante-trois pour cent de son vocabulaire avec le bon document. Le tiers le plus dur de mon protocole est encore largement lexical.
Autrement dit : ce protocole ne descend jamais dans le régime où la correspondance de mots cesse de fonctionner. Il mesure du lexical, pas du sens.
Le reconnaître vaut mieux que de présenter les chiffres précédents comme une validation du moteur sémantique. Et cela justifie les deux protocoles suivants.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atteindre ce régime, j'ai retiré les trois mots les plus rares de chaque titre.
Mon hypothèse était que BM25, privé de sa signature lexicale, chuterait davantage. C'est l'inverse qui se produit : le moteur sémantique perd 0,357 de MRR, BM25 seulement 0,308.
L'exemple explique le résultat. Les mots rares n'étaient pas seulement discriminants, ils portaient le sujet. Leur retrait dégrade le sens autant que le lexique.
Et un modèle dense y est plus sensible, parce qu'il compresse la requête entière — mots vides compris — dans un vecteur unique. BM25, lui, ignore simplement les termes qui ne correspondent à rien.
Je présente ce résultat parce qu'il est contraire à mon hypothèse de départ. C'est exactement le genre de chose qu'une évaluation sert à découvrir.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l'apport réel du projet.
Vingt questions posées en français, en arabe et en anglais, sur un corpus entièrement anglophone. Je mesure la part d'articles communs entre les résultats de deux langues.
Le moteur sémantique obtient 0,445 entre français et anglais, 0,130 entre arabe et anglais. BM25 obtient 0,035 et zéro.
Mais le chiffre à retenir est celui de droite : BM25 ne renvoie strictement rien sur les vingt requêtes arabes. Zéro résultat, vingt fois sur vingt. Ce n'est pas un mauvais réglage : aucun mot arabe n'existe dans un corpus anglophone, donc aucun score n'est calculable.
Sur ce terrain, les deux approches ne se comparent pas. Une seule fonctionne.
Deux nuances honnêtes. Le recouvrement de 0,445 en français doit se lire avec prudence : sur un corpus aussi dense, deux formulations peuvent renvoyer des articles différents et tous deux pertinents. Et le score arabe est nettement plus faible que le français : la qualité multilingue de ce modèle n'est pas uniforme entre les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résultat : la fusion hybride, mesurée sur les mêmes protocoles.
Elle est meilleure que chacun des deux moteurs pris séparément — sur le protocole titre vers résumé, sur les requêtes appauvries, et sur le groupe à faible recouvrement lexical. Et elle conserve la couverture multilingue : zéro requête arabe sans résultat.
Ces chiffres viennent d'une exécution de contrôle sur un corpus réduit ; l'ordre entre les moteurs est net et reproductible, mais les valeurs absolues sont à régénérer sur le corpus complet.
Le prix à payer est la latence : la fusion interroge les deux moteurs, donc elle paie la somme de leurs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coût, mesuré.
À gauche, les latences. Le temps du moteur sémantique est presque entièrement consacré à l'encodage de la requête ; la recherche FAISS elle-même ne coûte qu'une milliseconde.
À droite, le compromis de l'index approximatif. Et voici une conclusion qui va contre l'intuition : à onze mille vecteurs, l'index approximatif fait perdre quatorze pour cent de rappel pour économiser moins d'une milliseconde sur une requête qui en prend quatre-vingt-trois.
L'approximation ne se justifie pas à cette échelle. Je la garde implémentée pour le jour où le corpus atteindra le million de documents. Mesurer un compromis vaut mieux que le citer — et ici, la mesure dit de ne pas l'utiliser.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conclus sur ce que les mesures autorisent à dire.
La thèse de ce projet n'est pas « le sémantique bat le lexical ». Les mesures disent autre chose, de plus solide.
Là où les mots se recouvrent, BM25 reste légèrement meilleur, gratuit et instantané. Là où ils ne se recouvrent pas — autre langue, autre vocabulaire — le moteur sémantique est le seul à fonctionner, tandis que BM25 ne renvoie rien.
Et c'est exactement pour cette raison que la recherche hybride est devenue le standard en production. Elle n'est pas un bonus du projet : elle en est la conclusion logique. C'est pour ça que je l'ai implémentée et mesurée, et pas seulement citée en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que je préfère énoncer moi-même.
La qualité multilingue n'est pas uniforme. Le protocole titre vers résumé ne descend jamais dans le régime purement sémantique. Le corpus est mono-domaine. Et l'explicabilité coûte neuf fois la recherche.
Les perspectives, par ordre de rapport qualité-effort. Le reranking par cross-encoder est ce qui reste de plus rentable : on repasse les cinquante premiers résultats dans un modèle qui lit la question et le document ensemble, au lieu de comparer deux vecteurs calculés séparément.
Ensuite : faire varier les poids de la fusion, tester e5-base pour réduire l'écart entre langues, ajouter une couche de génération, et passer à l'échelle.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à la démonstration en direct. Le scénario est en trois temps.
Un : une question en anglais, dont les mots existent dans le corpus. Les deux moteurs fonctionnent, et ils s'accordent largement. C'est le cas normal.
Deux : la même question en français. BM25 s'effondre. Le moteur sémantique continue de répondre.
Trois : la même question en arabe. BM25 ne renvoie plus rien du tout. Le moteur sémantique répond toujours, et l'interface signale d'elle-même qu'il n'y a aucun mot en commun.
L'onglet Démonstration de l'application déroule ce scénario automatiquement, et affiche à la fin un tableau récapitulatif des trois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Je suis à votre disposition pour vos questions.
La diapositive suivante contient les réponses aux questions que j'anticipe — je peux y aller directement si l'une d'elles est posée.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d'appui, à n'afficher que si la question est posée.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6-image-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7-image-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18-image-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Slide-19-image-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Slide-20-image-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1481328"/>
            <a:ext cx="137160" cy="137160"/>
          </a:xfrm>
          <a:prstGeom prst="ellipse">
            <a:avLst/>
          </a:prstGeom>
          <a:solidFill>
            <a:srgbClr val="8B5CF6"/>
          </a:solidFill>
          <a:ln w="12700">
            <a:solidFill>
              <a:srgbClr val="333333"/>
            </a:solidFill>
            <a:prstDash val="solid"/>
          </a:ln>
        </p:spPr>
      </p:sp>
      <p:sp>
        <p:nvSpPr>
          <p:cNvPr id="4" name="Text 1"/>
          <p:cNvSpPr txBox="1"/>
          <p:nvPr/>
        </p:nvSpPr>
        <p:spPr>
          <a:xfrm>
            <a:off x="804672" y="1417320"/>
            <a:ext cx="11057839" cy="274320"/>
          </a:xfrm>
          <a:prstGeom prst="rect">
            <a:avLst/>
          </a:prstGeom>
          <a:noFill/>
          <a:ln/>
        </p:spPr>
        <p:txBody>
          <a:bodyPr wrap="square" lIns="0" tIns="0" rIns="0" bIns="0" rtlCol="0" anchor="ctr"/>
          <a:lstStyle/>
          <a:p>
            <a:pPr indent="0" marL="0">
              <a:buNone/>
            </a:pPr>
            <a:r>
              <a:rPr lang="en-US" sz="1100" b="1" spc="160" kern="0" dirty="0">
                <a:solidFill>
                  <a:srgbClr val="8B5CF6"/>
                </a:solidFill>
                <a:latin typeface="Calibri" pitchFamily="34" charset="0"/>
                <a:ea typeface="Calibri" pitchFamily="34" charset="-122"/>
                <a:cs typeface="Calibri" pitchFamily="34" charset="-120"/>
              </a:rPr>
              <a:t>PROJET DE FIN D'ANNÉE  ·  INFORMATIQUE &amp; INTELLIGENCE ARTIFICIELLE</a:t>
            </a:r>
            <a:endParaRPr lang="en-US" sz="1100" dirty="0"/>
          </a:p>
        </p:txBody>
      </p:sp>
      <p:sp>
        <p:nvSpPr>
          <p:cNvPr id="5" name="Text 2"/>
          <p:cNvSpPr txBox="1"/>
          <p:nvPr/>
        </p:nvSpPr>
        <p:spPr>
          <a:xfrm>
            <a:off x="566928" y="1874520"/>
            <a:ext cx="11057839" cy="1920240"/>
          </a:xfrm>
          <a:prstGeom prst="rect">
            <a:avLst/>
          </a:prstGeom>
          <a:noFill/>
          <a:ln/>
        </p:spPr>
        <p:txBody>
          <a:bodyPr wrap="square" lIns="0" tIns="0" rIns="0" bIns="0" rtlCol="0" anchor="t"/>
          <a:lstStyle/>
          <a:p>
            <a:pPr indent="0" marL="0">
              <a:lnSpc>
                <a:spcPct val="106000"/>
              </a:lnSpc>
              <a:buNone/>
            </a:pPr>
            <a:r>
              <a:rPr lang="en-US" sz="4400" b="1" dirty="0">
                <a:solidFill>
                  <a:srgbClr val="E9ECF5"/>
                </a:solidFill>
                <a:latin typeface="Calibri" pitchFamily="34" charset="0"/>
                <a:ea typeface="Calibri" pitchFamily="34" charset="-122"/>
                <a:cs typeface="Calibri" pitchFamily="34" charset="-120"/>
              </a:rPr>
              <a:t>Conception et développement d'un
</a:t>
            </a:r>
            <a:pPr indent="0" marL="0">
              <a:lnSpc>
                <a:spcPct val="106000"/>
              </a:lnSpc>
              <a:buNone/>
            </a:pPr>
            <a:r>
              <a:rPr lang="en-US" sz="4400" b="1" dirty="0">
                <a:solidFill>
                  <a:srgbClr val="8B5CF6"/>
                </a:solidFill>
                <a:latin typeface="Calibri" pitchFamily="34" charset="0"/>
                <a:ea typeface="Calibri" pitchFamily="34" charset="-122"/>
                <a:cs typeface="Calibri" pitchFamily="34" charset="-120"/>
              </a:rPr>
              <a:t>moteur de recherche sémantique
</a:t>
            </a:r>
            <a:pPr indent="0" marL="0">
              <a:lnSpc>
                <a:spcPct val="106000"/>
              </a:lnSpc>
              <a:buNone/>
            </a:pPr>
            <a:r>
              <a:rPr lang="en-US" sz="4400" b="1" dirty="0">
                <a:solidFill>
                  <a:srgbClr val="E9ECF5"/>
                </a:solidFill>
                <a:latin typeface="Calibri" pitchFamily="34" charset="0"/>
                <a:ea typeface="Calibri" pitchFamily="34" charset="-122"/>
                <a:cs typeface="Calibri" pitchFamily="34" charset="-120"/>
              </a:rPr>
              <a:t>basé sur le NLP</a:t>
            </a:r>
            <a:endParaRPr lang="en-US" sz="4400" dirty="0"/>
          </a:p>
        </p:txBody>
      </p:sp>
      <p:sp>
        <p:nvSpPr>
          <p:cNvPr id="6" name="Text 3"/>
          <p:cNvSpPr txBox="1"/>
          <p:nvPr/>
        </p:nvSpPr>
        <p:spPr>
          <a:xfrm>
            <a:off x="566928" y="4160520"/>
            <a:ext cx="7680960" cy="640080"/>
          </a:xfrm>
          <a:prstGeom prst="rect">
            <a:avLst/>
          </a:prstGeom>
          <a:noFill/>
          <a:ln/>
        </p:spPr>
        <p:txBody>
          <a:bodyPr wrap="square" lIns="0" tIns="0" rIns="0" bIns="0" rtlCol="0" anchor="t"/>
          <a:lstStyle/>
          <a:p>
            <a:pPr indent="0" marL="0">
              <a:lnSpc>
                <a:spcPct val="125000"/>
              </a:lnSpc>
              <a:buNone/>
            </a:pPr>
            <a:r>
              <a:rPr lang="en-US" sz="1450" dirty="0">
                <a:solidFill>
                  <a:srgbClr val="9AA3BC"/>
                </a:solidFill>
                <a:latin typeface="Calibri" pitchFamily="34" charset="0"/>
                <a:ea typeface="Calibri" pitchFamily="34" charset="-122"/>
                <a:cs typeface="Calibri" pitchFamily="34" charset="-120"/>
              </a:rPr>
              <a:t>Retrouver un article scientifique à partir d'une question posée en français, en arabe ou en anglais — sur un corpus entièrement anglophone.</a:t>
            </a:r>
            <a:endParaRPr lang="en-US" sz="1450" dirty="0"/>
          </a:p>
        </p:txBody>
      </p:sp>
      <p:sp>
        <p:nvSpPr>
          <p:cNvPr id="7" name="Text 4"/>
          <p:cNvSpPr txBox="1"/>
          <p:nvPr/>
        </p:nvSpPr>
        <p:spPr>
          <a:xfrm>
            <a:off x="566928" y="4956048"/>
            <a:ext cx="2651760" cy="219456"/>
          </a:xfrm>
          <a:prstGeom prst="rect">
            <a:avLst/>
          </a:prstGeom>
          <a:noFill/>
          <a:ln/>
        </p:spPr>
        <p:txBody>
          <a:bodyPr wrap="square" lIns="0" tIns="0" rIns="0" bIns="0" rtlCol="0" anchor="ctr"/>
          <a:lstStyle/>
          <a:p>
            <a:pPr indent="0" marL="0">
              <a:buNone/>
            </a:pPr>
            <a:r>
              <a:rPr lang="en-US" sz="1000" dirty="0">
                <a:solidFill>
                  <a:srgbClr val="727C96"/>
                </a:solidFill>
                <a:latin typeface="Calibri" pitchFamily="34" charset="0"/>
                <a:ea typeface="Calibri" pitchFamily="34" charset="-122"/>
                <a:cs typeface="Calibri" pitchFamily="34" charset="-120"/>
              </a:rPr>
              <a:t>Étudiante</a:t>
            </a:r>
            <a:endParaRPr lang="en-US" sz="1000" dirty="0"/>
          </a:p>
        </p:txBody>
      </p:sp>
      <p:sp>
        <p:nvSpPr>
          <p:cNvPr id="8" name="Text 5"/>
          <p:cNvSpPr txBox="1"/>
          <p:nvPr/>
        </p:nvSpPr>
        <p:spPr>
          <a:xfrm>
            <a:off x="566928" y="5175504"/>
            <a:ext cx="2651760" cy="274320"/>
          </a:xfrm>
          <a:prstGeom prst="rect">
            <a:avLst/>
          </a:prstGeom>
          <a:noFill/>
          <a:ln/>
        </p:spPr>
        <p:txBody>
          <a:bodyPr wrap="square" lIns="0" tIns="0" rIns="0" bIns="0" rtlCol="0" anchor="ctr"/>
          <a:lstStyle/>
          <a:p>
            <a:pPr indent="0" marL="0">
              <a:buNone/>
            </a:pPr>
            <a:r>
              <a:rPr lang="en-US" sz="1400" b="1" dirty="0">
                <a:solidFill>
                  <a:srgbClr val="E9ECF5"/>
                </a:solidFill>
                <a:latin typeface="Calibri" pitchFamily="34" charset="0"/>
                <a:ea typeface="Calibri" pitchFamily="34" charset="-122"/>
                <a:cs typeface="Calibri" pitchFamily="34" charset="-120"/>
              </a:rPr>
              <a:t>Salma Karim</a:t>
            </a:r>
            <a:endParaRPr lang="en-US" sz="1400" dirty="0"/>
          </a:p>
        </p:txBody>
      </p:sp>
      <p:sp>
        <p:nvSpPr>
          <p:cNvPr id="9" name="Text 6"/>
          <p:cNvSpPr txBox="1"/>
          <p:nvPr/>
        </p:nvSpPr>
        <p:spPr>
          <a:xfrm>
            <a:off x="3401568" y="4956048"/>
            <a:ext cx="2651760" cy="219456"/>
          </a:xfrm>
          <a:prstGeom prst="rect">
            <a:avLst/>
          </a:prstGeom>
          <a:noFill/>
          <a:ln/>
        </p:spPr>
        <p:txBody>
          <a:bodyPr wrap="square" lIns="0" tIns="0" rIns="0" bIns="0" rtlCol="0" anchor="ctr"/>
          <a:lstStyle/>
          <a:p>
            <a:pPr indent="0" marL="0">
              <a:buNone/>
            </a:pPr>
            <a:r>
              <a:rPr lang="en-US" sz="1000" dirty="0">
                <a:solidFill>
                  <a:srgbClr val="727C96"/>
                </a:solidFill>
                <a:latin typeface="Calibri" pitchFamily="34" charset="0"/>
                <a:ea typeface="Calibri" pitchFamily="34" charset="-122"/>
                <a:cs typeface="Calibri" pitchFamily="34" charset="-120"/>
              </a:rPr>
              <a:t>Encadrant</a:t>
            </a:r>
            <a:endParaRPr lang="en-US" sz="1000" dirty="0"/>
          </a:p>
        </p:txBody>
      </p:sp>
      <p:sp>
        <p:nvSpPr>
          <p:cNvPr id="10" name="Text 7"/>
          <p:cNvSpPr txBox="1"/>
          <p:nvPr/>
        </p:nvSpPr>
        <p:spPr>
          <a:xfrm>
            <a:off x="3401568" y="5175504"/>
            <a:ext cx="2651760" cy="274320"/>
          </a:xfrm>
          <a:prstGeom prst="rect">
            <a:avLst/>
          </a:prstGeom>
          <a:noFill/>
          <a:ln/>
        </p:spPr>
        <p:txBody>
          <a:bodyPr wrap="square" lIns="0" tIns="0" rIns="0" bIns="0" rtlCol="0" anchor="ctr"/>
          <a:lstStyle/>
          <a:p>
            <a:pPr indent="0" marL="0">
              <a:buNone/>
            </a:pPr>
            <a:r>
              <a:rPr lang="en-US" sz="1400" b="1" dirty="0">
                <a:solidFill>
                  <a:srgbClr val="E9ECF5"/>
                </a:solidFill>
                <a:latin typeface="Calibri" pitchFamily="34" charset="0"/>
                <a:ea typeface="Calibri" pitchFamily="34" charset="-122"/>
                <a:cs typeface="Calibri" pitchFamily="34" charset="-120"/>
              </a:rPr>
              <a:t>M. Achraf Zahid</a:t>
            </a:r>
            <a:endParaRPr lang="en-US" sz="1400" dirty="0"/>
          </a:p>
        </p:txBody>
      </p:sp>
      <p:sp>
        <p:nvSpPr>
          <p:cNvPr id="11" name="Text 8"/>
          <p:cNvSpPr txBox="1"/>
          <p:nvPr/>
        </p:nvSpPr>
        <p:spPr>
          <a:xfrm>
            <a:off x="6236208" y="4956048"/>
            <a:ext cx="2651760" cy="219456"/>
          </a:xfrm>
          <a:prstGeom prst="rect">
            <a:avLst/>
          </a:prstGeom>
          <a:noFill/>
          <a:ln/>
        </p:spPr>
        <p:txBody>
          <a:bodyPr wrap="square" lIns="0" tIns="0" rIns="0" bIns="0" rtlCol="0" anchor="ctr"/>
          <a:lstStyle/>
          <a:p>
            <a:pPr indent="0" marL="0">
              <a:buNone/>
            </a:pPr>
            <a:r>
              <a:rPr lang="en-US" sz="1000" dirty="0">
                <a:solidFill>
                  <a:srgbClr val="727C96"/>
                </a:solidFill>
                <a:latin typeface="Calibri" pitchFamily="34" charset="0"/>
                <a:ea typeface="Calibri" pitchFamily="34" charset="-122"/>
                <a:cs typeface="Calibri" pitchFamily="34" charset="-120"/>
              </a:rPr>
              <a:t>Année universitaire</a:t>
            </a:r>
            <a:endParaRPr lang="en-US" sz="1000" dirty="0"/>
          </a:p>
        </p:txBody>
      </p:sp>
      <p:sp>
        <p:nvSpPr>
          <p:cNvPr id="12" name="Text 9"/>
          <p:cNvSpPr txBox="1"/>
          <p:nvPr/>
        </p:nvSpPr>
        <p:spPr>
          <a:xfrm>
            <a:off x="6236208" y="5175504"/>
            <a:ext cx="2651760" cy="274320"/>
          </a:xfrm>
          <a:prstGeom prst="rect">
            <a:avLst/>
          </a:prstGeom>
          <a:noFill/>
          <a:ln/>
        </p:spPr>
        <p:txBody>
          <a:bodyPr wrap="square" lIns="0" tIns="0" rIns="0" bIns="0" rtlCol="0" anchor="ctr"/>
          <a:lstStyle/>
          <a:p>
            <a:pPr indent="0" marL="0">
              <a:buNone/>
            </a:pPr>
            <a:r>
              <a:rPr lang="en-US" sz="1400" b="1" dirty="0">
                <a:solidFill>
                  <a:srgbClr val="E9ECF5"/>
                </a:solidFill>
                <a:latin typeface="Calibri" pitchFamily="34" charset="0"/>
                <a:ea typeface="Calibri" pitchFamily="34" charset="-122"/>
                <a:cs typeface="Calibri" pitchFamily="34" charset="-120"/>
              </a:rPr>
              <a:t>2026 – 2027</a:t>
            </a:r>
            <a:endParaRPr lang="en-US" sz="1400" dirty="0"/>
          </a:p>
        </p:txBody>
      </p:sp>
      <p:sp>
        <p:nvSpPr>
          <p:cNvPr id="13" name="Text 10"/>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Page de titre</a:t>
            </a:r>
            <a:endParaRPr lang="en-US" sz="900" dirty="0"/>
          </a:p>
        </p:txBody>
      </p:sp>
      <p:sp>
        <p:nvSpPr>
          <p:cNvPr id="14" name="Text 11"/>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01 / 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LE PROBLÈME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Une question. Un résultat. Zéro mot en commun.</a:t>
            </a:r>
            <a:endParaRPr lang="en-US" sz="3400" dirty="0"/>
          </a:p>
        </p:txBody>
      </p:sp>
      <p:sp>
        <p:nvSpPr>
          <p:cNvPr id="6" name="Shape 3"/>
          <p:cNvSpPr/>
          <p:nvPr/>
        </p:nvSpPr>
        <p:spPr>
          <a:xfrm>
            <a:off x="566928" y="1755648"/>
            <a:ext cx="5349240" cy="1554480"/>
          </a:xfrm>
          <a:prstGeom prst="roundRect">
            <a:avLst>
              <a:gd name="adj" fmla="val 4706"/>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LA QUESTION POSÉE</a:t>
            </a:r>
            <a:endParaRPr lang="en-US" sz="900" dirty="0"/>
          </a:p>
        </p:txBody>
      </p:sp>
      <p:sp>
        <p:nvSpPr>
          <p:cNvPr id="8" name="Text 5"/>
          <p:cNvSpPr txBox="1"/>
          <p:nvPr/>
        </p:nvSpPr>
        <p:spPr>
          <a:xfrm>
            <a:off x="804672" y="2176272"/>
            <a:ext cx="4873752" cy="292608"/>
          </a:xfrm>
          <a:prstGeom prst="rect">
            <a:avLst/>
          </a:prstGeom>
          <a:noFill/>
          <a:ln/>
        </p:spPr>
        <p:txBody>
          <a:bodyPr wrap="square" lIns="0" tIns="0" rIns="0" bIns="0" rtlCol="0" anchor="t"/>
          <a:lstStyle/>
          <a:p>
            <a:pPr indent="0" marL="0">
              <a:buNone/>
            </a:pPr>
            <a:r>
              <a:rPr lang="en-US" sz="1700" b="1" dirty="0">
                <a:solidFill>
                  <a:srgbClr val="E9ECF5"/>
                </a:solidFill>
                <a:latin typeface="Calibri" pitchFamily="34" charset="0"/>
                <a:ea typeface="Calibri" pitchFamily="34" charset="-122"/>
                <a:cs typeface="Calibri" pitchFamily="34" charset="-120"/>
              </a:rPr>
              <a:t>كشف الاحتيال المصرفي باستخدام التعلم الآلي</a:t>
            </a:r>
            <a:endParaRPr lang="en-US" sz="1700" dirty="0"/>
          </a:p>
        </p:txBody>
      </p:sp>
      <p:sp>
        <p:nvSpPr>
          <p:cNvPr id="9" name="Text 6"/>
          <p:cNvSpPr txBox="1"/>
          <p:nvPr/>
        </p:nvSpPr>
        <p:spPr>
          <a:xfrm>
            <a:off x="804672" y="2560320"/>
            <a:ext cx="4873752" cy="603504"/>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 détection de la fraude bancaire par apprentissage automatique »</a:t>
            </a:r>
            <a:endParaRPr lang="en-US" sz="1150" dirty="0"/>
          </a:p>
        </p:txBody>
      </p:sp>
      <p:sp>
        <p:nvSpPr>
          <p:cNvPr id="10" name="Shape 7"/>
          <p:cNvSpPr/>
          <p:nvPr/>
        </p:nvSpPr>
        <p:spPr>
          <a:xfrm>
            <a:off x="566928" y="3584448"/>
            <a:ext cx="2560320" cy="1143000"/>
          </a:xfrm>
          <a:prstGeom prst="roundRect">
            <a:avLst>
              <a:gd name="adj" fmla="val 640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1" name="Text 8"/>
          <p:cNvSpPr txBox="1"/>
          <p:nvPr/>
        </p:nvSpPr>
        <p:spPr>
          <a:xfrm>
            <a:off x="749808" y="3712464"/>
            <a:ext cx="2194560" cy="457200"/>
          </a:xfrm>
          <a:prstGeom prst="rect">
            <a:avLst/>
          </a:prstGeom>
          <a:noFill/>
          <a:ln/>
        </p:spPr>
        <p:txBody>
          <a:bodyPr wrap="square" lIns="0" tIns="0" rIns="0" bIns="0" rtlCol="0" anchor="ctr"/>
          <a:lstStyle/>
          <a:p>
            <a:pPr indent="0" marL="0">
              <a:buNone/>
            </a:pPr>
            <a:r>
              <a:rPr lang="en-US" sz="2800" b="1" dirty="0">
                <a:solidFill>
                  <a:srgbClr val="8B5CF6"/>
                </a:solidFill>
                <a:latin typeface="Consolas" pitchFamily="34" charset="0"/>
                <a:ea typeface="Consolas" pitchFamily="34" charset="-122"/>
                <a:cs typeface="Consolas" pitchFamily="34" charset="-120"/>
              </a:rPr>
              <a:t>0,837</a:t>
            </a:r>
            <a:endParaRPr lang="en-US" sz="2800" dirty="0"/>
          </a:p>
        </p:txBody>
      </p:sp>
      <p:sp>
        <p:nvSpPr>
          <p:cNvPr id="12" name="Text 9"/>
          <p:cNvSpPr txBox="1"/>
          <p:nvPr/>
        </p:nvSpPr>
        <p:spPr>
          <a:xfrm>
            <a:off x="749808" y="4169664"/>
            <a:ext cx="2194560" cy="42976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similarité cosinus du 1er résultat</a:t>
            </a:r>
            <a:endParaRPr lang="en-US" sz="1000" dirty="0"/>
          </a:p>
        </p:txBody>
      </p:sp>
      <p:sp>
        <p:nvSpPr>
          <p:cNvPr id="13" name="Shape 10"/>
          <p:cNvSpPr/>
          <p:nvPr/>
        </p:nvSpPr>
        <p:spPr>
          <a:xfrm>
            <a:off x="3355848" y="3584448"/>
            <a:ext cx="2560320" cy="1143000"/>
          </a:xfrm>
          <a:prstGeom prst="roundRect">
            <a:avLst>
              <a:gd name="adj" fmla="val 640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4" name="Text 11"/>
          <p:cNvSpPr txBox="1"/>
          <p:nvPr/>
        </p:nvSpPr>
        <p:spPr>
          <a:xfrm>
            <a:off x="3538728" y="3712464"/>
            <a:ext cx="2194560" cy="457200"/>
          </a:xfrm>
          <a:prstGeom prst="rect">
            <a:avLst/>
          </a:prstGeom>
          <a:noFill/>
          <a:ln/>
        </p:spPr>
        <p:txBody>
          <a:bodyPr wrap="square" lIns="0" tIns="0" rIns="0" bIns="0" rtlCol="0" anchor="ctr"/>
          <a:lstStyle/>
          <a:p>
            <a:pPr indent="0" marL="0">
              <a:buNone/>
            </a:pPr>
            <a:r>
              <a:rPr lang="en-US" sz="2800" b="1" dirty="0">
                <a:solidFill>
                  <a:srgbClr val="F59E0B"/>
                </a:solidFill>
                <a:latin typeface="Consolas" pitchFamily="34" charset="0"/>
                <a:ea typeface="Consolas" pitchFamily="34" charset="-122"/>
                <a:cs typeface="Consolas" pitchFamily="34" charset="-120"/>
              </a:rPr>
              <a:t>0</a:t>
            </a:r>
            <a:endParaRPr lang="en-US" sz="2800" dirty="0"/>
          </a:p>
        </p:txBody>
      </p:sp>
      <p:sp>
        <p:nvSpPr>
          <p:cNvPr id="15" name="Text 12"/>
          <p:cNvSpPr txBox="1"/>
          <p:nvPr/>
        </p:nvSpPr>
        <p:spPr>
          <a:xfrm>
            <a:off x="3538728" y="4169664"/>
            <a:ext cx="2194560" cy="42976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résultat renvoyé par la baseline BM25</a:t>
            </a:r>
            <a:endParaRPr lang="en-US" sz="1000" dirty="0"/>
          </a:p>
        </p:txBody>
      </p:sp>
      <p:sp>
        <p:nvSpPr>
          <p:cNvPr id="16" name="Shape 13"/>
          <p:cNvSpPr/>
          <p:nvPr/>
        </p:nvSpPr>
        <p:spPr>
          <a:xfrm>
            <a:off x="6272784" y="1755648"/>
            <a:ext cx="5349240" cy="1965960"/>
          </a:xfrm>
          <a:prstGeom prst="roundRect">
            <a:avLst>
              <a:gd name="adj" fmla="val 372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6510528"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PREMIER RÉSULTAT — CORPUS ANGLOPHONE</a:t>
            </a:r>
            <a:endParaRPr lang="en-US" sz="900" dirty="0"/>
          </a:p>
        </p:txBody>
      </p:sp>
      <p:sp>
        <p:nvSpPr>
          <p:cNvPr id="18" name="Shape 15"/>
          <p:cNvSpPr/>
          <p:nvPr/>
        </p:nvSpPr>
        <p:spPr>
          <a:xfrm>
            <a:off x="6510528" y="2244852"/>
            <a:ext cx="118872" cy="118872"/>
          </a:xfrm>
          <a:prstGeom prst="ellipse">
            <a:avLst/>
          </a:prstGeom>
          <a:solidFill>
            <a:srgbClr val="8B5CF6"/>
          </a:solidFill>
          <a:ln w="12700">
            <a:solidFill>
              <a:srgbClr val="333333"/>
            </a:solidFill>
            <a:prstDash val="solid"/>
          </a:ln>
        </p:spPr>
      </p:sp>
      <p:sp>
        <p:nvSpPr>
          <p:cNvPr id="19" name="Text 16"/>
          <p:cNvSpPr txBox="1"/>
          <p:nvPr/>
        </p:nvSpPr>
        <p:spPr>
          <a:xfrm>
            <a:off x="6711696" y="2176272"/>
            <a:ext cx="4672584" cy="640080"/>
          </a:xfrm>
          <a:prstGeom prst="rect">
            <a:avLst/>
          </a:prstGeom>
          <a:noFill/>
          <a:ln/>
        </p:spPr>
        <p:txBody>
          <a:bodyPr wrap="square" lIns="0" tIns="0" rIns="0" bIns="0" rtlCol="0" anchor="t"/>
          <a:lstStyle/>
          <a:p>
            <a:pPr indent="0" marL="0">
              <a:buNone/>
            </a:pPr>
            <a:r>
              <a:rPr lang="en-US" sz="1300" b="1" dirty="0">
                <a:solidFill>
                  <a:srgbClr val="E9ECF5"/>
                </a:solidFill>
                <a:latin typeface="Calibri" pitchFamily="34" charset="0"/>
                <a:ea typeface="Calibri" pitchFamily="34" charset="-122"/>
                <a:cs typeface="Calibri" pitchFamily="34" charset="-120"/>
              </a:rPr>
              <a:t>Shapley Value-Guided Adaptive Ensemble Learning for Explainable Financial Fraud Detection</a:t>
            </a:r>
            <a:endParaRPr lang="en-US" sz="1300" dirty="0"/>
          </a:p>
        </p:txBody>
      </p:sp>
      <p:sp>
        <p:nvSpPr>
          <p:cNvPr id="20" name="Text 17"/>
          <p:cNvSpPr txBox="1"/>
          <p:nvPr/>
        </p:nvSpPr>
        <p:spPr>
          <a:xfrm>
            <a:off x="6510528" y="2816352"/>
            <a:ext cx="4873752" cy="758952"/>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Aucun caractère commun avec la question posée.</a:t>
            </a:r>
            <a:endParaRPr lang="en-US" sz="1150" dirty="0"/>
          </a:p>
        </p:txBody>
      </p:sp>
      <p:sp>
        <p:nvSpPr>
          <p:cNvPr id="21" name="Shape 18"/>
          <p:cNvSpPr/>
          <p:nvPr/>
        </p:nvSpPr>
        <p:spPr>
          <a:xfrm>
            <a:off x="6272784" y="3904488"/>
            <a:ext cx="5349240" cy="1417320"/>
          </a:xfrm>
          <a:prstGeom prst="roundRect">
            <a:avLst>
              <a:gd name="adj" fmla="val 5161"/>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22" name="Shape 19"/>
          <p:cNvSpPr/>
          <p:nvPr/>
        </p:nvSpPr>
        <p:spPr>
          <a:xfrm>
            <a:off x="6510528" y="4114800"/>
            <a:ext cx="118872" cy="118872"/>
          </a:xfrm>
          <a:prstGeom prst="ellipse">
            <a:avLst/>
          </a:prstGeom>
          <a:solidFill>
            <a:srgbClr val="8B5CF6"/>
          </a:solidFill>
          <a:ln w="12700">
            <a:solidFill>
              <a:srgbClr val="333333"/>
            </a:solidFill>
            <a:prstDash val="solid"/>
          </a:ln>
        </p:spPr>
      </p:sp>
      <p:sp>
        <p:nvSpPr>
          <p:cNvPr id="23" name="Text 20"/>
          <p:cNvSpPr txBox="1"/>
          <p:nvPr/>
        </p:nvSpPr>
        <p:spPr>
          <a:xfrm>
            <a:off x="6711696" y="4059936"/>
            <a:ext cx="4672584"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CE QUE CELA IMPLIQUE</a:t>
            </a:r>
            <a:endParaRPr lang="en-US" sz="900" dirty="0"/>
          </a:p>
        </p:txBody>
      </p:sp>
      <p:sp>
        <p:nvSpPr>
          <p:cNvPr id="24" name="Text 21"/>
          <p:cNvSpPr txBox="1"/>
          <p:nvPr/>
        </p:nvSpPr>
        <p:spPr>
          <a:xfrm>
            <a:off x="6510528" y="4361688"/>
            <a:ext cx="4873752" cy="81381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Une recherche par mots-clés ne peut pas trouver ce document. Le score n'est pas faible : il est nul, et aucun réglage n'y changerait rien.</a:t>
            </a:r>
            <a:endParaRPr lang="en-US" sz="1250" dirty="0"/>
          </a:p>
        </p:txBody>
      </p:sp>
      <p:sp>
        <p:nvSpPr>
          <p:cNvPr id="25" name="Text 22"/>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Le problème en un exemple</a:t>
            </a:r>
            <a:endParaRPr lang="en-US" sz="900" dirty="0"/>
          </a:p>
        </p:txBody>
      </p:sp>
      <p:sp>
        <p:nvSpPr>
          <p:cNvPr id="26" name="Text 23"/>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CONTEXTE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Deux manières de représenter un texte</a:t>
            </a:r>
            <a:endParaRPr lang="en-US" sz="3400" dirty="0"/>
          </a:p>
        </p:txBody>
      </p:sp>
      <p:sp>
        <p:nvSpPr>
          <p:cNvPr id="6" name="Shape 3"/>
          <p:cNvSpPr/>
          <p:nvPr/>
        </p:nvSpPr>
        <p:spPr>
          <a:xfrm>
            <a:off x="566928" y="1755648"/>
            <a:ext cx="5349240" cy="2423160"/>
          </a:xfrm>
          <a:prstGeom prst="roundRect">
            <a:avLst>
              <a:gd name="adj" fmla="val 30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APPROCHE LEXICALE · BM25</a:t>
            </a:r>
            <a:endParaRPr lang="en-US" sz="900" dirty="0"/>
          </a:p>
        </p:txBody>
      </p:sp>
      <p:sp>
        <p:nvSpPr>
          <p:cNvPr id="8" name="Shape 5"/>
          <p:cNvSpPr/>
          <p:nvPr/>
        </p:nvSpPr>
        <p:spPr>
          <a:xfrm>
            <a:off x="804672" y="2244852"/>
            <a:ext cx="118872" cy="118872"/>
          </a:xfrm>
          <a:prstGeom prst="ellipse">
            <a:avLst/>
          </a:prstGeom>
          <a:solidFill>
            <a:srgbClr val="F59E0B"/>
          </a:solidFill>
          <a:ln w="12700">
            <a:solidFill>
              <a:srgbClr val="333333"/>
            </a:solidFill>
            <a:prstDash val="solid"/>
          </a:ln>
        </p:spPr>
      </p:sp>
      <p:sp>
        <p:nvSpPr>
          <p:cNvPr id="9" name="Text 6"/>
          <p:cNvSpPr txBox="1"/>
          <p:nvPr/>
        </p:nvSpPr>
        <p:spPr>
          <a:xfrm>
            <a:off x="1005840" y="2176272"/>
            <a:ext cx="4672584"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Un document est un sac de mots</a:t>
            </a:r>
            <a:endParaRPr lang="en-US" sz="1500" dirty="0"/>
          </a:p>
        </p:txBody>
      </p:sp>
      <p:sp>
        <p:nvSpPr>
          <p:cNvPr id="10" name="Text 7"/>
          <p:cNvSpPr txBox="1"/>
          <p:nvPr/>
        </p:nvSpPr>
        <p:spPr>
          <a:xfrm>
            <a:off x="804672" y="2487168"/>
            <a:ext cx="4873752" cy="1545336"/>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Rapide, sans modèle, sans entraînement</a:t>
            </a:r>
            <a:endParaRPr lang="en-US" sz="1200" dirty="0"/>
          </a:p>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Explicable par construction : on voit les mots qui ont compté</a:t>
            </a:r>
            <a:endParaRPr lang="en-US" sz="1200" dirty="0"/>
          </a:p>
          <a:p>
            <a:pPr marL="342900" indent="-342900">
              <a:lnSpc>
                <a:spcPct val="115000"/>
              </a:lnSpc>
              <a:spcAft>
                <a:spcPts val="600"/>
              </a:spcAft>
              <a:buSzPct val="100000"/>
              <a:buChar char="•"/>
            </a:pPr>
            <a:r>
              <a:rPr lang="en-US" sz="1200" b="1" dirty="0">
                <a:solidFill>
                  <a:srgbClr val="F59E0B"/>
                </a:solidFill>
                <a:latin typeface="Calibri" pitchFamily="34" charset="0"/>
                <a:ea typeface="Calibri" pitchFamily="34" charset="-122"/>
                <a:cs typeface="Calibri" pitchFamily="34" charset="-120"/>
              </a:rPr>
              <a:t>Aucun mot commun → score nul. Ni synonyme, ni reformulation, ni traduction</a:t>
            </a:r>
            <a:endParaRPr lang="en-US" sz="1200" dirty="0"/>
          </a:p>
        </p:txBody>
      </p:sp>
      <p:sp>
        <p:nvSpPr>
          <p:cNvPr id="11" name="Shape 8"/>
          <p:cNvSpPr/>
          <p:nvPr/>
        </p:nvSpPr>
        <p:spPr>
          <a:xfrm>
            <a:off x="6272784" y="1755648"/>
            <a:ext cx="5349240" cy="2423160"/>
          </a:xfrm>
          <a:prstGeom prst="roundRect">
            <a:avLst>
              <a:gd name="adj" fmla="val 30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6510528"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APPROCHE SÉMANTIQUE · SENTENCE-BERT</a:t>
            </a:r>
            <a:endParaRPr lang="en-US" sz="900" dirty="0"/>
          </a:p>
        </p:txBody>
      </p:sp>
      <p:sp>
        <p:nvSpPr>
          <p:cNvPr id="13" name="Shape 10"/>
          <p:cNvSpPr/>
          <p:nvPr/>
        </p:nvSpPr>
        <p:spPr>
          <a:xfrm>
            <a:off x="6510528" y="2244852"/>
            <a:ext cx="118872" cy="118872"/>
          </a:xfrm>
          <a:prstGeom prst="ellipse">
            <a:avLst/>
          </a:prstGeom>
          <a:solidFill>
            <a:srgbClr val="8B5CF6"/>
          </a:solidFill>
          <a:ln w="12700">
            <a:solidFill>
              <a:srgbClr val="333333"/>
            </a:solidFill>
            <a:prstDash val="solid"/>
          </a:ln>
        </p:spPr>
      </p:sp>
      <p:sp>
        <p:nvSpPr>
          <p:cNvPr id="14" name="Text 11"/>
          <p:cNvSpPr txBox="1"/>
          <p:nvPr/>
        </p:nvSpPr>
        <p:spPr>
          <a:xfrm>
            <a:off x="6711696" y="2176272"/>
            <a:ext cx="4672584"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Un document est un point dans l'espace</a:t>
            </a:r>
            <a:endParaRPr lang="en-US" sz="1500" dirty="0"/>
          </a:p>
        </p:txBody>
      </p:sp>
      <p:sp>
        <p:nvSpPr>
          <p:cNvPr id="15" name="Text 12"/>
          <p:cNvSpPr txBox="1"/>
          <p:nvPr/>
        </p:nvSpPr>
        <p:spPr>
          <a:xfrm>
            <a:off x="6510528" y="2487168"/>
            <a:ext cx="4873752" cy="1545336"/>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Trouve sans partager un seul mot</a:t>
            </a:r>
            <a:endParaRPr lang="en-US" sz="1200" dirty="0"/>
          </a:p>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Espace commun à une centaine de langues</a:t>
            </a:r>
            <a:endParaRPr lang="en-US" sz="1200" dirty="0"/>
          </a:p>
          <a:p>
            <a:pPr marL="342900" indent="-342900">
              <a:lnSpc>
                <a:spcPct val="115000"/>
              </a:lnSpc>
              <a:spcAft>
                <a:spcPts val="600"/>
              </a:spcAft>
              <a:buSzPct val="100000"/>
              <a:buChar char="•"/>
            </a:pPr>
            <a:r>
              <a:rPr lang="en-US" sz="1200" b="1" dirty="0">
                <a:solidFill>
                  <a:srgbClr val="8B5CF6"/>
                </a:solidFill>
                <a:latin typeface="Calibri" pitchFamily="34" charset="0"/>
                <a:ea typeface="Calibri" pitchFamily="34" charset="-122"/>
                <a:cs typeface="Calibri" pitchFamily="34" charset="-120"/>
              </a:rPr>
              <a:t>Opaque : rien n'indique pourquoi un document remonte — d'où le travail d'explication</a:t>
            </a:r>
            <a:endParaRPr lang="en-US" sz="1200" dirty="0"/>
          </a:p>
        </p:txBody>
      </p:sp>
      <p:sp>
        <p:nvSpPr>
          <p:cNvPr id="16" name="Shape 13"/>
          <p:cNvSpPr/>
          <p:nvPr/>
        </p:nvSpPr>
        <p:spPr>
          <a:xfrm>
            <a:off x="566928" y="4443984"/>
            <a:ext cx="11057839" cy="1371600"/>
          </a:xfrm>
          <a:prstGeom prst="roundRect">
            <a:avLst>
              <a:gd name="adj" fmla="val 5333"/>
            </a:avLst>
          </a:prstGeom>
          <a:solidFill>
            <a:srgbClr val="1B2130"/>
          </a:solidFill>
          <a:ln w="15875">
            <a:solidFill>
              <a:srgbClr val="22D3EE"/>
            </a:solidFill>
            <a:prstDash val="solid"/>
          </a:ln>
          <a:effectLst>
            <a:outerShdw sx="100000" sy="100000" kx="0" ky="0" algn="bl" rotWithShape="0" blurRad="127000" dist="38100" dir="5400000">
              <a:srgbClr val="000000">
                <a:alpha val="35000"/>
              </a:srgbClr>
            </a:outerShdw>
          </a:effectLst>
        </p:spPr>
      </p:sp>
      <p:sp>
        <p:nvSpPr>
          <p:cNvPr id="17" name="Shape 14"/>
          <p:cNvSpPr/>
          <p:nvPr/>
        </p:nvSpPr>
        <p:spPr>
          <a:xfrm>
            <a:off x="804672" y="4654296"/>
            <a:ext cx="118872" cy="118872"/>
          </a:xfrm>
          <a:prstGeom prst="ellipse">
            <a:avLst/>
          </a:prstGeom>
          <a:solidFill>
            <a:srgbClr val="22D3EE"/>
          </a:solidFill>
          <a:ln w="12700">
            <a:solidFill>
              <a:srgbClr val="333333"/>
            </a:solidFill>
            <a:prstDash val="solid"/>
          </a:ln>
        </p:spPr>
      </p:sp>
      <p:sp>
        <p:nvSpPr>
          <p:cNvPr id="18" name="Text 15"/>
          <p:cNvSpPr txBox="1"/>
          <p:nvPr/>
        </p:nvSpPr>
        <p:spPr>
          <a:xfrm>
            <a:off x="1005840" y="4599432"/>
            <a:ext cx="10381183" cy="219456"/>
          </a:xfrm>
          <a:prstGeom prst="rect">
            <a:avLst/>
          </a:prstGeom>
          <a:noFill/>
          <a:ln/>
        </p:spPr>
        <p:txBody>
          <a:bodyPr wrap="square" lIns="0" tIns="0" rIns="0" bIns="0" rtlCol="0" anchor="ctr"/>
          <a:lstStyle/>
          <a:p>
            <a:pPr indent="0" marL="0">
              <a:buNone/>
            </a:pPr>
            <a:r>
              <a:rPr lang="en-US" sz="900" b="1" spc="120" kern="0" dirty="0">
                <a:solidFill>
                  <a:srgbClr val="22D3EE"/>
                </a:solidFill>
                <a:latin typeface="Calibri" pitchFamily="34" charset="0"/>
                <a:ea typeface="Calibri" pitchFamily="34" charset="-122"/>
                <a:cs typeface="Calibri" pitchFamily="34" charset="-120"/>
              </a:rPr>
              <a:t>L'IMAGE MENTALE</a:t>
            </a:r>
            <a:endParaRPr lang="en-US" sz="900" dirty="0"/>
          </a:p>
        </p:txBody>
      </p:sp>
      <p:sp>
        <p:nvSpPr>
          <p:cNvPr id="19" name="Text 16"/>
          <p:cNvSpPr txBox="1"/>
          <p:nvPr/>
        </p:nvSpPr>
        <p:spPr>
          <a:xfrm>
            <a:off x="804672" y="4901184"/>
            <a:ext cx="10582351" cy="768096"/>
          </a:xfrm>
          <a:prstGeom prst="rect">
            <a:avLst/>
          </a:prstGeom>
          <a:noFill/>
          <a:ln/>
        </p:spPr>
        <p:txBody>
          <a:bodyPr wrap="square" lIns="0" tIns="0" rIns="0" bIns="0" rtlCol="0" anchor="t"/>
          <a:lstStyle/>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Chaque ville a une latitude et une longitude : deux nombres qui encodent sa position, et deux villes proches ont des coordonnées proches. Ce projet fait la même chose avec le sens. Chercher devient alors une opération géométrique.</a:t>
            </a:r>
            <a:endParaRPr lang="en-US" sz="1300" dirty="0"/>
          </a:p>
        </p:txBody>
      </p:sp>
      <p:sp>
        <p:nvSpPr>
          <p:cNvPr id="20" name="Text 17"/>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Lexical contre sémantique</a:t>
            </a:r>
            <a:endParaRPr lang="en-US" sz="900" dirty="0"/>
          </a:p>
        </p:txBody>
      </p:sp>
      <p:sp>
        <p:nvSpPr>
          <p:cNvPr id="21" name="Text 18"/>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03 / 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OBJECTIFS</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Sept conditions de validation</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6766560" cy="914400"/>
        </p:xfrm>
        <a:graphic>
          <a:graphicData uri="http://schemas.openxmlformats.org/drawingml/2006/table">
            <a:tbl>
              <a:tblPr/>
              <a:tblGrid>
                <a:gridCol w="5486400"/>
                <a:gridCol w="1280160"/>
              </a:tblGrid>
              <a:tr h="384048">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Condition minimale du cahier des charges</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État</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Baseline TF-IDF ou BM25 réellement implémentée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Modèle d'embeddings pour la recherche sémantique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Index vectoriel et mécanisme Top-K fonctionnels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Interface permettant de tester le moteur</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Comparaison expérimentale baseline / sémantique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Precision@K et Recall@K sur un jeu de test</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onsolas" pitchFamily="34" charset="0"/>
                          <a:ea typeface="Consolas" pitchFamily="34" charset="-122"/>
                          <a:cs typeface="Consolas" pitchFamily="34" charset="-120"/>
                        </a:rPr>
                        <a:t>fait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b="1" dirty="0">
                          <a:solidFill>
                            <a:srgbClr val="E9ECF5"/>
                          </a:solidFill>
                          <a:latin typeface="Calibri" pitchFamily="34" charset="0"/>
                          <a:ea typeface="Calibri" pitchFamily="34" charset="-122"/>
                          <a:cs typeface="Calibri" pitchFamily="34" charset="-120"/>
                        </a:rPr>
                        <a:t>Un cas trouvé sans correspondance lexicale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8B5CF6"/>
                          </a:solidFill>
                          <a:latin typeface="Consolas" pitchFamily="34" charset="0"/>
                          <a:ea typeface="Consolas" pitchFamily="34" charset="-122"/>
                          <a:cs typeface="Consolas" pitchFamily="34" charset="-120"/>
                        </a:rPr>
                        <a:t>20/20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7" name="Shape 3"/>
          <p:cNvSpPr/>
          <p:nvPr/>
        </p:nvSpPr>
        <p:spPr>
          <a:xfrm>
            <a:off x="7699248" y="1755648"/>
            <a:ext cx="3922776" cy="1600200"/>
          </a:xfrm>
          <a:prstGeom prst="roundRect">
            <a:avLst>
              <a:gd name="adj" fmla="val 4571"/>
            </a:avLst>
          </a:prstGeom>
          <a:solidFill>
            <a:srgbClr val="1B2130"/>
          </a:solidFill>
          <a:ln w="15875">
            <a:solidFill>
              <a:srgbClr val="10B981"/>
            </a:solidFill>
            <a:prstDash val="solid"/>
          </a:ln>
          <a:effectLst>
            <a:outerShdw sx="100000" sy="100000" kx="0" ky="0" algn="bl" rotWithShape="0" blurRad="127000" dist="38100" dir="5400000">
              <a:srgbClr val="000000">
                <a:alpha val="35000"/>
              </a:srgbClr>
            </a:outerShdw>
          </a:effectLst>
        </p:spPr>
      </p:sp>
      <p:sp>
        <p:nvSpPr>
          <p:cNvPr id="8" name="Shape 4"/>
          <p:cNvSpPr/>
          <p:nvPr/>
        </p:nvSpPr>
        <p:spPr>
          <a:xfrm>
            <a:off x="7936992" y="1965960"/>
            <a:ext cx="118872" cy="118872"/>
          </a:xfrm>
          <a:prstGeom prst="ellipse">
            <a:avLst/>
          </a:prstGeom>
          <a:solidFill>
            <a:srgbClr val="10B981"/>
          </a:solidFill>
          <a:ln w="12700">
            <a:solidFill>
              <a:srgbClr val="333333"/>
            </a:solidFill>
            <a:prstDash val="solid"/>
          </a:ln>
        </p:spPr>
      </p:sp>
      <p:sp>
        <p:nvSpPr>
          <p:cNvPr id="9" name="Text 5"/>
          <p:cNvSpPr txBox="1"/>
          <p:nvPr/>
        </p:nvSpPr>
        <p:spPr>
          <a:xfrm>
            <a:off x="8138160" y="1911096"/>
            <a:ext cx="3246120" cy="219456"/>
          </a:xfrm>
          <a:prstGeom prst="rect">
            <a:avLst/>
          </a:prstGeom>
          <a:noFill/>
          <a:ln/>
        </p:spPr>
        <p:txBody>
          <a:bodyPr wrap="square" lIns="0" tIns="0" rIns="0" bIns="0" rtlCol="0" anchor="ctr"/>
          <a:lstStyle/>
          <a:p>
            <a:pPr indent="0" marL="0">
              <a:buNone/>
            </a:pPr>
            <a:r>
              <a:rPr lang="en-US" sz="900" b="1" spc="120" kern="0" dirty="0">
                <a:solidFill>
                  <a:srgbClr val="10B981"/>
                </a:solidFill>
                <a:latin typeface="Calibri" pitchFamily="34" charset="0"/>
                <a:ea typeface="Calibri" pitchFamily="34" charset="-122"/>
                <a:cs typeface="Calibri" pitchFamily="34" charset="-120"/>
              </a:rPr>
              <a:t>AU-DELÀ DU MINIMUM</a:t>
            </a:r>
            <a:endParaRPr lang="en-US" sz="900" dirty="0"/>
          </a:p>
        </p:txBody>
      </p:sp>
      <p:sp>
        <p:nvSpPr>
          <p:cNvPr id="10" name="Text 6"/>
          <p:cNvSpPr txBox="1"/>
          <p:nvPr/>
        </p:nvSpPr>
        <p:spPr>
          <a:xfrm>
            <a:off x="7936992" y="2212848"/>
            <a:ext cx="3447288" cy="99669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Trois extensions facultatives sont implémentées et mesurées : recherche hybride par fusion de rangs, filtres sur métadonnées, et mise en évidence du passage le plus proche.</a:t>
            </a:r>
            <a:endParaRPr lang="en-US" sz="1200" dirty="0"/>
          </a:p>
        </p:txBody>
      </p:sp>
      <p:sp>
        <p:nvSpPr>
          <p:cNvPr id="11" name="Shape 7"/>
          <p:cNvSpPr/>
          <p:nvPr/>
        </p:nvSpPr>
        <p:spPr>
          <a:xfrm>
            <a:off x="7699248" y="3657600"/>
            <a:ext cx="1847088"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8"/>
          <p:cNvSpPr txBox="1"/>
          <p:nvPr/>
        </p:nvSpPr>
        <p:spPr>
          <a:xfrm>
            <a:off x="7882128" y="3785616"/>
            <a:ext cx="1481328" cy="457200"/>
          </a:xfrm>
          <a:prstGeom prst="rect">
            <a:avLst/>
          </a:prstGeom>
          <a:noFill/>
          <a:ln/>
        </p:spPr>
        <p:txBody>
          <a:bodyPr wrap="square" lIns="0" tIns="0" rIns="0" bIns="0" rtlCol="0" anchor="ctr"/>
          <a:lstStyle/>
          <a:p>
            <a:pPr indent="0" marL="0">
              <a:buNone/>
            </a:pPr>
            <a:r>
              <a:rPr lang="en-US" sz="2800" b="1" dirty="0">
                <a:solidFill>
                  <a:srgbClr val="8B5CF6"/>
                </a:solidFill>
                <a:latin typeface="Consolas" pitchFamily="34" charset="0"/>
                <a:ea typeface="Consolas" pitchFamily="34" charset="-122"/>
                <a:cs typeface="Consolas" pitchFamily="34" charset="-120"/>
              </a:rPr>
              <a:t>47</a:t>
            </a:r>
            <a:endParaRPr lang="en-US" sz="2800" dirty="0"/>
          </a:p>
        </p:txBody>
      </p:sp>
      <p:sp>
        <p:nvSpPr>
          <p:cNvPr id="13" name="Text 9"/>
          <p:cNvSpPr txBox="1"/>
          <p:nvPr/>
        </p:nvSpPr>
        <p:spPr>
          <a:xfrm>
            <a:off x="7882128" y="4242816"/>
            <a:ext cx="1481328"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tests automatiques, tous verts</a:t>
            </a:r>
            <a:endParaRPr lang="en-US" sz="1000" dirty="0"/>
          </a:p>
        </p:txBody>
      </p:sp>
      <p:sp>
        <p:nvSpPr>
          <p:cNvPr id="14" name="Shape 10"/>
          <p:cNvSpPr/>
          <p:nvPr/>
        </p:nvSpPr>
        <p:spPr>
          <a:xfrm>
            <a:off x="9774936" y="3657600"/>
            <a:ext cx="1847088"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5" name="Text 11"/>
          <p:cNvSpPr txBox="1"/>
          <p:nvPr/>
        </p:nvSpPr>
        <p:spPr>
          <a:xfrm>
            <a:off x="9957816" y="3785616"/>
            <a:ext cx="1481328" cy="457200"/>
          </a:xfrm>
          <a:prstGeom prst="rect">
            <a:avLst/>
          </a:prstGeom>
          <a:noFill/>
          <a:ln/>
        </p:spPr>
        <p:txBody>
          <a:bodyPr wrap="square" lIns="0" tIns="0" rIns="0" bIns="0" rtlCol="0" anchor="ctr"/>
          <a:lstStyle/>
          <a:p>
            <a:pPr indent="0" marL="0">
              <a:buNone/>
            </a:pPr>
            <a:r>
              <a:rPr lang="en-US" sz="2800" b="1" dirty="0">
                <a:solidFill>
                  <a:srgbClr val="22D3EE"/>
                </a:solidFill>
                <a:latin typeface="Consolas" pitchFamily="34" charset="0"/>
                <a:ea typeface="Consolas" pitchFamily="34" charset="-122"/>
                <a:cs typeface="Consolas" pitchFamily="34" charset="-120"/>
              </a:rPr>
              <a:t>3</a:t>
            </a:r>
            <a:endParaRPr lang="en-US" sz="2800" dirty="0"/>
          </a:p>
        </p:txBody>
      </p:sp>
      <p:sp>
        <p:nvSpPr>
          <p:cNvPr id="16" name="Text 12"/>
          <p:cNvSpPr txBox="1"/>
          <p:nvPr/>
        </p:nvSpPr>
        <p:spPr>
          <a:xfrm>
            <a:off x="9957816" y="4242816"/>
            <a:ext cx="1481328"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moteurs sur le même index</a:t>
            </a:r>
            <a:endParaRPr lang="en-US" sz="1000" dirty="0"/>
          </a:p>
        </p:txBody>
      </p:sp>
      <p:sp>
        <p:nvSpPr>
          <p:cNvPr id="17" name="Text 1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Objectifs et périmètre</a:t>
            </a:r>
            <a:endParaRPr lang="en-US" sz="900" dirty="0"/>
          </a:p>
        </p:txBody>
      </p:sp>
      <p:sp>
        <p:nvSpPr>
          <p:cNvPr id="18" name="Text 1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04 / 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ARCHITECTURE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Deux phases, un seul espace vectoriel</a:t>
            </a:r>
            <a:endParaRPr lang="en-US" sz="3400" dirty="0"/>
          </a:p>
        </p:txBody>
      </p:sp>
      <p:sp>
        <p:nvSpPr>
          <p:cNvPr id="6" name="Text 3"/>
          <p:cNvSpPr txBox="1"/>
          <p:nvPr/>
        </p:nvSpPr>
        <p:spPr>
          <a:xfrm>
            <a:off x="566928" y="1691640"/>
            <a:ext cx="11057839" cy="256032"/>
          </a:xfrm>
          <a:prstGeom prst="rect">
            <a:avLst/>
          </a:prstGeom>
          <a:noFill/>
          <a:ln/>
        </p:spPr>
        <p:txBody>
          <a:bodyPr wrap="square" lIns="0" tIns="0" rIns="0" bIns="0" rtlCol="0" anchor="ctr"/>
          <a:lstStyle/>
          <a:p>
            <a:pPr indent="0" marL="0">
              <a:buNone/>
            </a:pPr>
            <a:r>
              <a:rPr lang="en-US" sz="1300" b="1" dirty="0">
                <a:solidFill>
                  <a:srgbClr val="E9ECF5"/>
                </a:solidFill>
                <a:latin typeface="Calibri" pitchFamily="34" charset="0"/>
                <a:ea typeface="Calibri" pitchFamily="34" charset="-122"/>
                <a:cs typeface="Calibri" pitchFamily="34" charset="-120"/>
              </a:rPr>
              <a:t>Chaîne d'indexation  —  hors ligne, une seule fois</a:t>
            </a:r>
            <a:endParaRPr lang="en-US" sz="1300" dirty="0"/>
          </a:p>
        </p:txBody>
      </p:sp>
      <p:sp>
        <p:nvSpPr>
          <p:cNvPr id="7" name="Shape 4"/>
          <p:cNvSpPr/>
          <p:nvPr/>
        </p:nvSpPr>
        <p:spPr>
          <a:xfrm>
            <a:off x="566928" y="20116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8" name="Text 5"/>
          <p:cNvSpPr txBox="1"/>
          <p:nvPr/>
        </p:nvSpPr>
        <p:spPr>
          <a:xfrm>
            <a:off x="713232" y="2121408"/>
            <a:ext cx="2238680" cy="182880"/>
          </a:xfrm>
          <a:prstGeom prst="rect">
            <a:avLst/>
          </a:prstGeom>
          <a:noFill/>
          <a:ln/>
        </p:spPr>
        <p:txBody>
          <a:bodyPr wrap="square" lIns="0" tIns="0" rIns="0" bIns="0" rtlCol="0" anchor="ctr"/>
          <a:lstStyle/>
          <a:p>
            <a:pPr indent="0" marL="0">
              <a:buNone/>
            </a:pPr>
            <a:r>
              <a:rPr lang="en-US" sz="850" b="1" dirty="0">
                <a:solidFill>
                  <a:srgbClr val="8B5CF6"/>
                </a:solidFill>
                <a:latin typeface="Consolas" pitchFamily="34" charset="0"/>
                <a:ea typeface="Consolas" pitchFamily="34" charset="-122"/>
                <a:cs typeface="Consolas" pitchFamily="34" charset="-120"/>
              </a:rPr>
              <a:t>01</a:t>
            </a:r>
            <a:endParaRPr lang="en-US" sz="850" dirty="0"/>
          </a:p>
        </p:txBody>
      </p:sp>
      <p:sp>
        <p:nvSpPr>
          <p:cNvPr id="9" name="Text 6"/>
          <p:cNvSpPr txBox="1"/>
          <p:nvPr/>
        </p:nvSpPr>
        <p:spPr>
          <a:xfrm>
            <a:off x="713232" y="23134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Corpus arXiv</a:t>
            </a:r>
            <a:endParaRPr lang="en-US" sz="1200" dirty="0"/>
          </a:p>
        </p:txBody>
      </p:sp>
      <p:sp>
        <p:nvSpPr>
          <p:cNvPr id="10" name="Text 7"/>
          <p:cNvSpPr txBox="1"/>
          <p:nvPr/>
        </p:nvSpPr>
        <p:spPr>
          <a:xfrm>
            <a:off x="713232" y="25877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8 569 résumés, API publique</a:t>
            </a:r>
            <a:endParaRPr lang="en-US" sz="950" dirty="0"/>
          </a:p>
        </p:txBody>
      </p:sp>
      <p:sp>
        <p:nvSpPr>
          <p:cNvPr id="11" name="Text 8"/>
          <p:cNvSpPr txBox="1"/>
          <p:nvPr/>
        </p:nvSpPr>
        <p:spPr>
          <a:xfrm>
            <a:off x="3098216" y="24003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12" name="Shape 9"/>
          <p:cNvSpPr/>
          <p:nvPr/>
        </p:nvSpPr>
        <p:spPr>
          <a:xfrm>
            <a:off x="3409112" y="20116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10"/>
          <p:cNvSpPr txBox="1"/>
          <p:nvPr/>
        </p:nvSpPr>
        <p:spPr>
          <a:xfrm>
            <a:off x="3555416" y="2121408"/>
            <a:ext cx="2238680" cy="182880"/>
          </a:xfrm>
          <a:prstGeom prst="rect">
            <a:avLst/>
          </a:prstGeom>
          <a:noFill/>
          <a:ln/>
        </p:spPr>
        <p:txBody>
          <a:bodyPr wrap="square" lIns="0" tIns="0" rIns="0" bIns="0" rtlCol="0" anchor="ctr"/>
          <a:lstStyle/>
          <a:p>
            <a:pPr indent="0" marL="0">
              <a:buNone/>
            </a:pPr>
            <a:r>
              <a:rPr lang="en-US" sz="850" b="1" dirty="0">
                <a:solidFill>
                  <a:srgbClr val="8B5CF6"/>
                </a:solidFill>
                <a:latin typeface="Consolas" pitchFamily="34" charset="0"/>
                <a:ea typeface="Consolas" pitchFamily="34" charset="-122"/>
                <a:cs typeface="Consolas" pitchFamily="34" charset="-120"/>
              </a:rPr>
              <a:t>02</a:t>
            </a:r>
            <a:endParaRPr lang="en-US" sz="850" dirty="0"/>
          </a:p>
        </p:txBody>
      </p:sp>
      <p:sp>
        <p:nvSpPr>
          <p:cNvPr id="14" name="Text 11"/>
          <p:cNvSpPr txBox="1"/>
          <p:nvPr/>
        </p:nvSpPr>
        <p:spPr>
          <a:xfrm>
            <a:off x="3555416" y="23134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Prétraitement</a:t>
            </a:r>
            <a:endParaRPr lang="en-US" sz="1200" dirty="0"/>
          </a:p>
        </p:txBody>
      </p:sp>
      <p:sp>
        <p:nvSpPr>
          <p:cNvPr id="15" name="Text 12"/>
          <p:cNvSpPr txBox="1"/>
          <p:nvPr/>
        </p:nvSpPr>
        <p:spPr>
          <a:xfrm>
            <a:off x="3555416" y="25877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LaTeX simplifié, découpage en passages</a:t>
            </a:r>
            <a:endParaRPr lang="en-US" sz="950" dirty="0"/>
          </a:p>
        </p:txBody>
      </p:sp>
      <p:sp>
        <p:nvSpPr>
          <p:cNvPr id="16" name="Text 13"/>
          <p:cNvSpPr txBox="1"/>
          <p:nvPr/>
        </p:nvSpPr>
        <p:spPr>
          <a:xfrm>
            <a:off x="5940400" y="24003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17" name="Shape 14"/>
          <p:cNvSpPr/>
          <p:nvPr/>
        </p:nvSpPr>
        <p:spPr>
          <a:xfrm>
            <a:off x="6251296" y="20116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8" name="Text 15"/>
          <p:cNvSpPr txBox="1"/>
          <p:nvPr/>
        </p:nvSpPr>
        <p:spPr>
          <a:xfrm>
            <a:off x="6397600" y="2121408"/>
            <a:ext cx="2238680" cy="182880"/>
          </a:xfrm>
          <a:prstGeom prst="rect">
            <a:avLst/>
          </a:prstGeom>
          <a:noFill/>
          <a:ln/>
        </p:spPr>
        <p:txBody>
          <a:bodyPr wrap="square" lIns="0" tIns="0" rIns="0" bIns="0" rtlCol="0" anchor="ctr"/>
          <a:lstStyle/>
          <a:p>
            <a:pPr indent="0" marL="0">
              <a:buNone/>
            </a:pPr>
            <a:r>
              <a:rPr lang="en-US" sz="850" b="1" dirty="0">
                <a:solidFill>
                  <a:srgbClr val="8B5CF6"/>
                </a:solidFill>
                <a:latin typeface="Consolas" pitchFamily="34" charset="0"/>
                <a:ea typeface="Consolas" pitchFamily="34" charset="-122"/>
                <a:cs typeface="Consolas" pitchFamily="34" charset="-120"/>
              </a:rPr>
              <a:t>03</a:t>
            </a:r>
            <a:endParaRPr lang="en-US" sz="850" dirty="0"/>
          </a:p>
        </p:txBody>
      </p:sp>
      <p:sp>
        <p:nvSpPr>
          <p:cNvPr id="19" name="Text 16"/>
          <p:cNvSpPr txBox="1"/>
          <p:nvPr/>
        </p:nvSpPr>
        <p:spPr>
          <a:xfrm>
            <a:off x="6397600" y="23134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Embeddings</a:t>
            </a:r>
            <a:endParaRPr lang="en-US" sz="1200" dirty="0"/>
          </a:p>
        </p:txBody>
      </p:sp>
      <p:sp>
        <p:nvSpPr>
          <p:cNvPr id="20" name="Text 17"/>
          <p:cNvSpPr txBox="1"/>
          <p:nvPr/>
        </p:nvSpPr>
        <p:spPr>
          <a:xfrm>
            <a:off x="6397600" y="25877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préfixe passage:, 384 dimensions</a:t>
            </a:r>
            <a:endParaRPr lang="en-US" sz="950" dirty="0"/>
          </a:p>
        </p:txBody>
      </p:sp>
      <p:sp>
        <p:nvSpPr>
          <p:cNvPr id="21" name="Text 18"/>
          <p:cNvSpPr txBox="1"/>
          <p:nvPr/>
        </p:nvSpPr>
        <p:spPr>
          <a:xfrm>
            <a:off x="8782583" y="24003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22" name="Shape 19"/>
          <p:cNvSpPr/>
          <p:nvPr/>
        </p:nvSpPr>
        <p:spPr>
          <a:xfrm>
            <a:off x="9093479" y="20116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3" name="Text 20"/>
          <p:cNvSpPr txBox="1"/>
          <p:nvPr/>
        </p:nvSpPr>
        <p:spPr>
          <a:xfrm>
            <a:off x="9239783" y="2121408"/>
            <a:ext cx="2238680" cy="182880"/>
          </a:xfrm>
          <a:prstGeom prst="rect">
            <a:avLst/>
          </a:prstGeom>
          <a:noFill/>
          <a:ln/>
        </p:spPr>
        <p:txBody>
          <a:bodyPr wrap="square" lIns="0" tIns="0" rIns="0" bIns="0" rtlCol="0" anchor="ctr"/>
          <a:lstStyle/>
          <a:p>
            <a:pPr indent="0" marL="0">
              <a:buNone/>
            </a:pPr>
            <a:r>
              <a:rPr lang="en-US" sz="850" b="1" dirty="0">
                <a:solidFill>
                  <a:srgbClr val="8B5CF6"/>
                </a:solidFill>
                <a:latin typeface="Consolas" pitchFamily="34" charset="0"/>
                <a:ea typeface="Consolas" pitchFamily="34" charset="-122"/>
                <a:cs typeface="Consolas" pitchFamily="34" charset="-120"/>
              </a:rPr>
              <a:t>04</a:t>
            </a:r>
            <a:endParaRPr lang="en-US" sz="850" dirty="0"/>
          </a:p>
        </p:txBody>
      </p:sp>
      <p:sp>
        <p:nvSpPr>
          <p:cNvPr id="24" name="Text 21"/>
          <p:cNvSpPr txBox="1"/>
          <p:nvPr/>
        </p:nvSpPr>
        <p:spPr>
          <a:xfrm>
            <a:off x="9239783" y="23134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Index FAISS</a:t>
            </a:r>
            <a:endParaRPr lang="en-US" sz="1200" dirty="0"/>
          </a:p>
        </p:txBody>
      </p:sp>
      <p:sp>
        <p:nvSpPr>
          <p:cNvPr id="25" name="Text 22"/>
          <p:cNvSpPr txBox="1"/>
          <p:nvPr/>
        </p:nvSpPr>
        <p:spPr>
          <a:xfrm>
            <a:off x="9239783" y="25877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vecteurs normalisés, écrits sur disque</a:t>
            </a:r>
            <a:endParaRPr lang="en-US" sz="950" dirty="0"/>
          </a:p>
        </p:txBody>
      </p:sp>
      <p:sp>
        <p:nvSpPr>
          <p:cNvPr id="26" name="Text 23"/>
          <p:cNvSpPr txBox="1"/>
          <p:nvPr/>
        </p:nvSpPr>
        <p:spPr>
          <a:xfrm>
            <a:off x="566928" y="3291840"/>
            <a:ext cx="11057839" cy="256032"/>
          </a:xfrm>
          <a:prstGeom prst="rect">
            <a:avLst/>
          </a:prstGeom>
          <a:noFill/>
          <a:ln/>
        </p:spPr>
        <p:txBody>
          <a:bodyPr wrap="square" lIns="0" tIns="0" rIns="0" bIns="0" rtlCol="0" anchor="ctr"/>
          <a:lstStyle/>
          <a:p>
            <a:pPr indent="0" marL="0">
              <a:buNone/>
            </a:pPr>
            <a:r>
              <a:rPr lang="en-US" sz="1300" b="1" dirty="0">
                <a:solidFill>
                  <a:srgbClr val="E9ECF5"/>
                </a:solidFill>
                <a:latin typeface="Calibri" pitchFamily="34" charset="0"/>
                <a:ea typeface="Calibri" pitchFamily="34" charset="-122"/>
                <a:cs typeface="Calibri" pitchFamily="34" charset="-120"/>
              </a:rPr>
              <a:t>Chaîne de recherche  —  en ligne, à chaque question</a:t>
            </a:r>
            <a:endParaRPr lang="en-US" sz="1300" dirty="0"/>
          </a:p>
        </p:txBody>
      </p:sp>
      <p:sp>
        <p:nvSpPr>
          <p:cNvPr id="27" name="Shape 24"/>
          <p:cNvSpPr/>
          <p:nvPr/>
        </p:nvSpPr>
        <p:spPr>
          <a:xfrm>
            <a:off x="566928" y="36118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8" name="Text 25"/>
          <p:cNvSpPr txBox="1"/>
          <p:nvPr/>
        </p:nvSpPr>
        <p:spPr>
          <a:xfrm>
            <a:off x="713232" y="3721608"/>
            <a:ext cx="2238680" cy="182880"/>
          </a:xfrm>
          <a:prstGeom prst="rect">
            <a:avLst/>
          </a:prstGeom>
          <a:noFill/>
          <a:ln/>
        </p:spPr>
        <p:txBody>
          <a:bodyPr wrap="square" lIns="0" tIns="0" rIns="0" bIns="0" rtlCol="0" anchor="ctr"/>
          <a:lstStyle/>
          <a:p>
            <a:pPr indent="0" marL="0">
              <a:buNone/>
            </a:pPr>
            <a:r>
              <a:rPr lang="en-US" sz="850" b="1" dirty="0">
                <a:solidFill>
                  <a:srgbClr val="22D3EE"/>
                </a:solidFill>
                <a:latin typeface="Consolas" pitchFamily="34" charset="0"/>
                <a:ea typeface="Consolas" pitchFamily="34" charset="-122"/>
                <a:cs typeface="Consolas" pitchFamily="34" charset="-120"/>
              </a:rPr>
              <a:t>01</a:t>
            </a:r>
            <a:endParaRPr lang="en-US" sz="850" dirty="0"/>
          </a:p>
        </p:txBody>
      </p:sp>
      <p:sp>
        <p:nvSpPr>
          <p:cNvPr id="29" name="Text 26"/>
          <p:cNvSpPr txBox="1"/>
          <p:nvPr/>
        </p:nvSpPr>
        <p:spPr>
          <a:xfrm>
            <a:off x="713232" y="39136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Question</a:t>
            </a:r>
            <a:endParaRPr lang="en-US" sz="1200" dirty="0"/>
          </a:p>
        </p:txBody>
      </p:sp>
      <p:sp>
        <p:nvSpPr>
          <p:cNvPr id="30" name="Text 27"/>
          <p:cNvSpPr txBox="1"/>
          <p:nvPr/>
        </p:nvSpPr>
        <p:spPr>
          <a:xfrm>
            <a:off x="713232" y="41879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français, arabe ou anglais</a:t>
            </a:r>
            <a:endParaRPr lang="en-US" sz="950" dirty="0"/>
          </a:p>
        </p:txBody>
      </p:sp>
      <p:sp>
        <p:nvSpPr>
          <p:cNvPr id="31" name="Text 28"/>
          <p:cNvSpPr txBox="1"/>
          <p:nvPr/>
        </p:nvSpPr>
        <p:spPr>
          <a:xfrm>
            <a:off x="3098216" y="40005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32" name="Shape 29"/>
          <p:cNvSpPr/>
          <p:nvPr/>
        </p:nvSpPr>
        <p:spPr>
          <a:xfrm>
            <a:off x="3409112" y="36118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33" name="Text 30"/>
          <p:cNvSpPr txBox="1"/>
          <p:nvPr/>
        </p:nvSpPr>
        <p:spPr>
          <a:xfrm>
            <a:off x="3555416" y="3721608"/>
            <a:ext cx="2238680" cy="182880"/>
          </a:xfrm>
          <a:prstGeom prst="rect">
            <a:avLst/>
          </a:prstGeom>
          <a:noFill/>
          <a:ln/>
        </p:spPr>
        <p:txBody>
          <a:bodyPr wrap="square" lIns="0" tIns="0" rIns="0" bIns="0" rtlCol="0" anchor="ctr"/>
          <a:lstStyle/>
          <a:p>
            <a:pPr indent="0" marL="0">
              <a:buNone/>
            </a:pPr>
            <a:r>
              <a:rPr lang="en-US" sz="850" b="1" dirty="0">
                <a:solidFill>
                  <a:srgbClr val="22D3EE"/>
                </a:solidFill>
                <a:latin typeface="Consolas" pitchFamily="34" charset="0"/>
                <a:ea typeface="Consolas" pitchFamily="34" charset="-122"/>
                <a:cs typeface="Consolas" pitchFamily="34" charset="-120"/>
              </a:rPr>
              <a:t>02</a:t>
            </a:r>
            <a:endParaRPr lang="en-US" sz="850" dirty="0"/>
          </a:p>
        </p:txBody>
      </p:sp>
      <p:sp>
        <p:nvSpPr>
          <p:cNvPr id="34" name="Text 31"/>
          <p:cNvSpPr txBox="1"/>
          <p:nvPr/>
        </p:nvSpPr>
        <p:spPr>
          <a:xfrm>
            <a:off x="3555416" y="39136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Le même encodeur</a:t>
            </a:r>
            <a:endParaRPr lang="en-US" sz="1200" dirty="0"/>
          </a:p>
        </p:txBody>
      </p:sp>
      <p:sp>
        <p:nvSpPr>
          <p:cNvPr id="35" name="Text 32"/>
          <p:cNvSpPr txBox="1"/>
          <p:nvPr/>
        </p:nvSpPr>
        <p:spPr>
          <a:xfrm>
            <a:off x="3555416" y="41879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préfixe query: cette fois</a:t>
            </a:r>
            <a:endParaRPr lang="en-US" sz="950" dirty="0"/>
          </a:p>
        </p:txBody>
      </p:sp>
      <p:sp>
        <p:nvSpPr>
          <p:cNvPr id="36" name="Text 33"/>
          <p:cNvSpPr txBox="1"/>
          <p:nvPr/>
        </p:nvSpPr>
        <p:spPr>
          <a:xfrm>
            <a:off x="5940400" y="40005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6251296" y="36118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38" name="Text 35"/>
          <p:cNvSpPr txBox="1"/>
          <p:nvPr/>
        </p:nvSpPr>
        <p:spPr>
          <a:xfrm>
            <a:off x="6397600" y="3721608"/>
            <a:ext cx="2238680" cy="182880"/>
          </a:xfrm>
          <a:prstGeom prst="rect">
            <a:avLst/>
          </a:prstGeom>
          <a:noFill/>
          <a:ln/>
        </p:spPr>
        <p:txBody>
          <a:bodyPr wrap="square" lIns="0" tIns="0" rIns="0" bIns="0" rtlCol="0" anchor="ctr"/>
          <a:lstStyle/>
          <a:p>
            <a:pPr indent="0" marL="0">
              <a:buNone/>
            </a:pPr>
            <a:r>
              <a:rPr lang="en-US" sz="850" b="1" dirty="0">
                <a:solidFill>
                  <a:srgbClr val="22D3EE"/>
                </a:solidFill>
                <a:latin typeface="Consolas" pitchFamily="34" charset="0"/>
                <a:ea typeface="Consolas" pitchFamily="34" charset="-122"/>
                <a:cs typeface="Consolas" pitchFamily="34" charset="-120"/>
              </a:rPr>
              <a:t>03</a:t>
            </a:r>
            <a:endParaRPr lang="en-US" sz="850" dirty="0"/>
          </a:p>
        </p:txBody>
      </p:sp>
      <p:sp>
        <p:nvSpPr>
          <p:cNvPr id="39" name="Text 36"/>
          <p:cNvSpPr txBox="1"/>
          <p:nvPr/>
        </p:nvSpPr>
        <p:spPr>
          <a:xfrm>
            <a:off x="6397600" y="39136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Plus proches voisins</a:t>
            </a:r>
            <a:endParaRPr lang="en-US" sz="1200" dirty="0"/>
          </a:p>
        </p:txBody>
      </p:sp>
      <p:sp>
        <p:nvSpPr>
          <p:cNvPr id="40" name="Text 37"/>
          <p:cNvSpPr txBox="1"/>
          <p:nvPr/>
        </p:nvSpPr>
        <p:spPr>
          <a:xfrm>
            <a:off x="6397600" y="41879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FAISS, ordre de la milliseconde</a:t>
            </a:r>
            <a:endParaRPr lang="en-US" sz="950" dirty="0"/>
          </a:p>
        </p:txBody>
      </p:sp>
      <p:sp>
        <p:nvSpPr>
          <p:cNvPr id="41" name="Text 38"/>
          <p:cNvSpPr txBox="1"/>
          <p:nvPr/>
        </p:nvSpPr>
        <p:spPr>
          <a:xfrm>
            <a:off x="8782583" y="4000500"/>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42" name="Shape 39"/>
          <p:cNvSpPr/>
          <p:nvPr/>
        </p:nvSpPr>
        <p:spPr>
          <a:xfrm>
            <a:off x="9093479" y="3611880"/>
            <a:ext cx="2531288" cy="1051560"/>
          </a:xfrm>
          <a:prstGeom prst="roundRect">
            <a:avLst>
              <a:gd name="adj" fmla="val 608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43" name="Text 40"/>
          <p:cNvSpPr txBox="1"/>
          <p:nvPr/>
        </p:nvSpPr>
        <p:spPr>
          <a:xfrm>
            <a:off x="9239783" y="3721608"/>
            <a:ext cx="2238680" cy="182880"/>
          </a:xfrm>
          <a:prstGeom prst="rect">
            <a:avLst/>
          </a:prstGeom>
          <a:noFill/>
          <a:ln/>
        </p:spPr>
        <p:txBody>
          <a:bodyPr wrap="square" lIns="0" tIns="0" rIns="0" bIns="0" rtlCol="0" anchor="ctr"/>
          <a:lstStyle/>
          <a:p>
            <a:pPr indent="0" marL="0">
              <a:buNone/>
            </a:pPr>
            <a:r>
              <a:rPr lang="en-US" sz="850" b="1" dirty="0">
                <a:solidFill>
                  <a:srgbClr val="22D3EE"/>
                </a:solidFill>
                <a:latin typeface="Consolas" pitchFamily="34" charset="0"/>
                <a:ea typeface="Consolas" pitchFamily="34" charset="-122"/>
                <a:cs typeface="Consolas" pitchFamily="34" charset="-120"/>
              </a:rPr>
              <a:t>04</a:t>
            </a:r>
            <a:endParaRPr lang="en-US" sz="850" dirty="0"/>
          </a:p>
        </p:txBody>
      </p:sp>
      <p:sp>
        <p:nvSpPr>
          <p:cNvPr id="44" name="Text 41"/>
          <p:cNvSpPr txBox="1"/>
          <p:nvPr/>
        </p:nvSpPr>
        <p:spPr>
          <a:xfrm>
            <a:off x="9239783" y="3913632"/>
            <a:ext cx="2238680"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Regroupement</a:t>
            </a:r>
            <a:endParaRPr lang="en-US" sz="1200" dirty="0"/>
          </a:p>
        </p:txBody>
      </p:sp>
      <p:sp>
        <p:nvSpPr>
          <p:cNvPr id="45" name="Text 42"/>
          <p:cNvSpPr txBox="1"/>
          <p:nvPr/>
        </p:nvSpPr>
        <p:spPr>
          <a:xfrm>
            <a:off x="9239783" y="4187952"/>
            <a:ext cx="2238680" cy="36576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un article, une seule ligne</a:t>
            </a:r>
            <a:endParaRPr lang="en-US" sz="950" dirty="0"/>
          </a:p>
        </p:txBody>
      </p:sp>
      <p:sp>
        <p:nvSpPr>
          <p:cNvPr id="46" name="Shape 43"/>
          <p:cNvSpPr/>
          <p:nvPr/>
        </p:nvSpPr>
        <p:spPr>
          <a:xfrm>
            <a:off x="566928" y="4892040"/>
            <a:ext cx="11057839" cy="1234440"/>
          </a:xfrm>
          <a:prstGeom prst="roundRect">
            <a:avLst>
              <a:gd name="adj" fmla="val 5926"/>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47" name="Shape 44"/>
          <p:cNvSpPr/>
          <p:nvPr/>
        </p:nvSpPr>
        <p:spPr>
          <a:xfrm>
            <a:off x="804672" y="5102352"/>
            <a:ext cx="118872" cy="118872"/>
          </a:xfrm>
          <a:prstGeom prst="ellipse">
            <a:avLst/>
          </a:prstGeom>
          <a:solidFill>
            <a:srgbClr val="FB7185"/>
          </a:solidFill>
          <a:ln w="12700">
            <a:solidFill>
              <a:srgbClr val="333333"/>
            </a:solidFill>
            <a:prstDash val="solid"/>
          </a:ln>
        </p:spPr>
      </p:sp>
      <p:sp>
        <p:nvSpPr>
          <p:cNvPr id="48" name="Text 45"/>
          <p:cNvSpPr txBox="1"/>
          <p:nvPr/>
        </p:nvSpPr>
        <p:spPr>
          <a:xfrm>
            <a:off x="1005840" y="5047488"/>
            <a:ext cx="10381183"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LE PIÈGE NUMÉRO UN DU DOMAINE</a:t>
            </a:r>
            <a:endParaRPr lang="en-US" sz="900" dirty="0"/>
          </a:p>
        </p:txBody>
      </p:sp>
      <p:sp>
        <p:nvSpPr>
          <p:cNvPr id="49" name="Text 46"/>
          <p:cNvSpPr txBox="1"/>
          <p:nvPr/>
        </p:nvSpPr>
        <p:spPr>
          <a:xfrm>
            <a:off x="804672" y="5349240"/>
            <a:ext cx="10582351" cy="63093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Indexer avec un modèle et chercher avec un autre place les vecteurs dans deux espaces différents : les résultats deviennent aléatoires, sans aucun message d'erreur. Un seul module du projet connaît le modèle — c'est ce qui rend l'erreur impossible.</a:t>
            </a:r>
            <a:endParaRPr lang="en-US" sz="1250" dirty="0"/>
          </a:p>
        </p:txBody>
      </p:sp>
      <p:sp>
        <p:nvSpPr>
          <p:cNvPr id="50" name="Text 47"/>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Architecture — les deux phases</a:t>
            </a:r>
            <a:endParaRPr lang="en-US" sz="900" dirty="0"/>
          </a:p>
        </p:txBody>
      </p:sp>
      <p:sp>
        <p:nvSpPr>
          <p:cNvPr id="51" name="Text 48"/>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05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ÉTAPE 1</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Un corpus réel, reconstructible</a:t>
            </a:r>
            <a:endParaRPr lang="en-US" sz="3400" dirty="0"/>
          </a:p>
        </p:txBody>
      </p:sp>
      <p:sp>
        <p:nvSpPr>
          <p:cNvPr id="6" name="Shape 3"/>
          <p:cNvSpPr/>
          <p:nvPr/>
        </p:nvSpPr>
        <p:spPr>
          <a:xfrm>
            <a:off x="566928" y="1755648"/>
            <a:ext cx="1536192"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749808" y="1883664"/>
            <a:ext cx="1170432" cy="457200"/>
          </a:xfrm>
          <a:prstGeom prst="rect">
            <a:avLst/>
          </a:prstGeom>
          <a:noFill/>
          <a:ln/>
        </p:spPr>
        <p:txBody>
          <a:bodyPr wrap="square" lIns="0" tIns="0" rIns="0" bIns="0" rtlCol="0" anchor="ctr"/>
          <a:lstStyle/>
          <a:p>
            <a:pPr indent="0" marL="0">
              <a:buNone/>
            </a:pPr>
            <a:r>
              <a:rPr lang="en-US" sz="2200" b="1" dirty="0">
                <a:solidFill>
                  <a:srgbClr val="8B5CF6"/>
                </a:solidFill>
                <a:latin typeface="Consolas" pitchFamily="34" charset="0"/>
                <a:ea typeface="Consolas" pitchFamily="34" charset="-122"/>
                <a:cs typeface="Consolas" pitchFamily="34" charset="-120"/>
              </a:rPr>
              <a:t>8 569</a:t>
            </a:r>
            <a:endParaRPr lang="en-US" sz="2200" dirty="0"/>
          </a:p>
        </p:txBody>
      </p:sp>
      <p:sp>
        <p:nvSpPr>
          <p:cNvPr id="8" name="Text 5"/>
          <p:cNvSpPr txBox="1"/>
          <p:nvPr/>
        </p:nvSpPr>
        <p:spPr>
          <a:xfrm>
            <a:off x="749808" y="2340864"/>
            <a:ext cx="1170432"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articles uniques</a:t>
            </a:r>
            <a:endParaRPr lang="en-US" sz="1000" dirty="0"/>
          </a:p>
        </p:txBody>
      </p:sp>
      <p:sp>
        <p:nvSpPr>
          <p:cNvPr id="9" name="Shape 6"/>
          <p:cNvSpPr/>
          <p:nvPr/>
        </p:nvSpPr>
        <p:spPr>
          <a:xfrm>
            <a:off x="2258568" y="1755648"/>
            <a:ext cx="1536192"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7"/>
          <p:cNvSpPr txBox="1"/>
          <p:nvPr/>
        </p:nvSpPr>
        <p:spPr>
          <a:xfrm>
            <a:off x="2441448" y="1883664"/>
            <a:ext cx="1170432" cy="457200"/>
          </a:xfrm>
          <a:prstGeom prst="rect">
            <a:avLst/>
          </a:prstGeom>
          <a:noFill/>
          <a:ln/>
        </p:spPr>
        <p:txBody>
          <a:bodyPr wrap="square" lIns="0" tIns="0" rIns="0" bIns="0" rtlCol="0" anchor="ctr"/>
          <a:lstStyle/>
          <a:p>
            <a:pPr indent="0" marL="0">
              <a:buNone/>
            </a:pPr>
            <a:r>
              <a:rPr lang="en-US" sz="2200" b="1" dirty="0">
                <a:solidFill>
                  <a:srgbClr val="8B5CF6"/>
                </a:solidFill>
                <a:latin typeface="Consolas" pitchFamily="34" charset="0"/>
                <a:ea typeface="Consolas" pitchFamily="34" charset="-122"/>
                <a:cs typeface="Consolas" pitchFamily="34" charset="-120"/>
              </a:rPr>
              <a:t>10 897</a:t>
            </a:r>
            <a:endParaRPr lang="en-US" sz="2200" dirty="0"/>
          </a:p>
        </p:txBody>
      </p:sp>
      <p:sp>
        <p:nvSpPr>
          <p:cNvPr id="11" name="Text 8"/>
          <p:cNvSpPr txBox="1"/>
          <p:nvPr/>
        </p:nvSpPr>
        <p:spPr>
          <a:xfrm>
            <a:off x="2441448" y="2340864"/>
            <a:ext cx="1170432"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passages indexés</a:t>
            </a:r>
            <a:endParaRPr lang="en-US" sz="1000" dirty="0"/>
          </a:p>
        </p:txBody>
      </p:sp>
      <p:sp>
        <p:nvSpPr>
          <p:cNvPr id="12" name="Shape 9"/>
          <p:cNvSpPr/>
          <p:nvPr/>
        </p:nvSpPr>
        <p:spPr>
          <a:xfrm>
            <a:off x="3950208" y="1755648"/>
            <a:ext cx="1536192"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10"/>
          <p:cNvSpPr txBox="1"/>
          <p:nvPr/>
        </p:nvSpPr>
        <p:spPr>
          <a:xfrm>
            <a:off x="4133088" y="1883664"/>
            <a:ext cx="1170432" cy="457200"/>
          </a:xfrm>
          <a:prstGeom prst="rect">
            <a:avLst/>
          </a:prstGeom>
          <a:noFill/>
          <a:ln/>
        </p:spPr>
        <p:txBody>
          <a:bodyPr wrap="square" lIns="0" tIns="0" rIns="0" bIns="0" rtlCol="0" anchor="ctr"/>
          <a:lstStyle/>
          <a:p>
            <a:pPr indent="0" marL="0">
              <a:buNone/>
            </a:pPr>
            <a:r>
              <a:rPr lang="en-US" sz="2200" b="1" dirty="0">
                <a:solidFill>
                  <a:srgbClr val="22D3EE"/>
                </a:solidFill>
                <a:latin typeface="Consolas" pitchFamily="34" charset="0"/>
                <a:ea typeface="Consolas" pitchFamily="34" charset="-122"/>
                <a:cs typeface="Consolas" pitchFamily="34" charset="-120"/>
              </a:rPr>
              <a:t>8</a:t>
            </a:r>
            <a:endParaRPr lang="en-US" sz="2200" dirty="0"/>
          </a:p>
        </p:txBody>
      </p:sp>
      <p:sp>
        <p:nvSpPr>
          <p:cNvPr id="14" name="Text 11"/>
          <p:cNvSpPr txBox="1"/>
          <p:nvPr/>
        </p:nvSpPr>
        <p:spPr>
          <a:xfrm>
            <a:off x="4133088" y="2340864"/>
            <a:ext cx="1170432"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catégories arXiv</a:t>
            </a:r>
            <a:endParaRPr lang="en-US" sz="1000" dirty="0"/>
          </a:p>
        </p:txBody>
      </p:sp>
      <p:sp>
        <p:nvSpPr>
          <p:cNvPr id="15" name="Shape 12"/>
          <p:cNvSpPr/>
          <p:nvPr/>
        </p:nvSpPr>
        <p:spPr>
          <a:xfrm>
            <a:off x="5641848" y="1755648"/>
            <a:ext cx="1536192"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6" name="Text 13"/>
          <p:cNvSpPr txBox="1"/>
          <p:nvPr/>
        </p:nvSpPr>
        <p:spPr>
          <a:xfrm>
            <a:off x="5824728" y="1883664"/>
            <a:ext cx="1170432" cy="457200"/>
          </a:xfrm>
          <a:prstGeom prst="rect">
            <a:avLst/>
          </a:prstGeom>
          <a:noFill/>
          <a:ln/>
        </p:spPr>
        <p:txBody>
          <a:bodyPr wrap="square" lIns="0" tIns="0" rIns="0" bIns="0" rtlCol="0" anchor="ctr"/>
          <a:lstStyle/>
          <a:p>
            <a:pPr indent="0" marL="0">
              <a:buNone/>
            </a:pPr>
            <a:r>
              <a:rPr lang="en-US" sz="2200" b="1" dirty="0">
                <a:solidFill>
                  <a:srgbClr val="22D3EE"/>
                </a:solidFill>
                <a:latin typeface="Consolas" pitchFamily="34" charset="0"/>
                <a:ea typeface="Consolas" pitchFamily="34" charset="-122"/>
                <a:cs typeface="Consolas" pitchFamily="34" charset="-120"/>
              </a:rPr>
              <a:t>100 %</a:t>
            </a:r>
            <a:endParaRPr lang="en-US" sz="2200" dirty="0"/>
          </a:p>
        </p:txBody>
      </p:sp>
      <p:sp>
        <p:nvSpPr>
          <p:cNvPr id="17" name="Text 14"/>
          <p:cNvSpPr txBox="1"/>
          <p:nvPr/>
        </p:nvSpPr>
        <p:spPr>
          <a:xfrm>
            <a:off x="5824728" y="2340864"/>
            <a:ext cx="1170432"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anglophone</a:t>
            </a:r>
            <a:endParaRPr lang="en-US" sz="1000" dirty="0"/>
          </a:p>
        </p:txBody>
      </p:sp>
      <p:sp>
        <p:nvSpPr>
          <p:cNvPr id="18" name="Shape 15"/>
          <p:cNvSpPr/>
          <p:nvPr/>
        </p:nvSpPr>
        <p:spPr>
          <a:xfrm>
            <a:off x="566928" y="3035808"/>
            <a:ext cx="6492240" cy="1874520"/>
          </a:xfrm>
          <a:prstGeom prst="roundRect">
            <a:avLst>
              <a:gd name="adj" fmla="val 3902"/>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9" name="Text 16"/>
          <p:cNvSpPr txBox="1"/>
          <p:nvPr/>
        </p:nvSpPr>
        <p:spPr>
          <a:xfrm>
            <a:off x="804672" y="3218688"/>
            <a:ext cx="6016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LES HUIT CATÉGORIES INTERROGÉES</a:t>
            </a:r>
            <a:endParaRPr lang="en-US" sz="900" dirty="0"/>
          </a:p>
        </p:txBody>
      </p:sp>
      <p:sp>
        <p:nvSpPr>
          <p:cNvPr id="20" name="Text 17"/>
          <p:cNvSpPr txBox="1"/>
          <p:nvPr/>
        </p:nvSpPr>
        <p:spPr>
          <a:xfrm>
            <a:off x="804672" y="3456432"/>
            <a:ext cx="6016752" cy="1307592"/>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cs.LG apprentissage · cs.CL langage · cs.CV vision · cs.AI</a:t>
            </a:r>
            <a:endParaRPr lang="en-US" sz="1200" dirty="0"/>
          </a:p>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cs.CR sécurité · cs.IR recherche d'information · cs.NE · stat.ML</a:t>
            </a:r>
            <a:endParaRPr lang="en-US" sz="1200" dirty="0"/>
          </a:p>
          <a:p>
            <a:pPr marL="342900" indent="-342900">
              <a:lnSpc>
                <a:spcPct val="115000"/>
              </a:lnSpc>
              <a:spcAft>
                <a:spcPts val="600"/>
              </a:spcAft>
              <a:buSzPct val="100000"/>
              <a:buChar char="•"/>
            </a:pPr>
            <a:r>
              <a:rPr lang="en-US" sz="1200" dirty="0">
                <a:solidFill>
                  <a:srgbClr val="9AA3BC"/>
                </a:solidFill>
                <a:latin typeface="Calibri" pitchFamily="34" charset="0"/>
                <a:ea typeface="Calibri" pitchFamily="34" charset="-122"/>
                <a:cs typeface="Calibri" pitchFamily="34" charset="-120"/>
              </a:rPr>
              <a:t>Chaque document porte identifiant, titre, résumé, auteurs, date et catégories</a:t>
            </a:r>
            <a:endParaRPr lang="en-US" sz="1200" dirty="0"/>
          </a:p>
        </p:txBody>
      </p:sp>
      <p:sp>
        <p:nvSpPr>
          <p:cNvPr id="21" name="Shape 18"/>
          <p:cNvSpPr/>
          <p:nvPr/>
        </p:nvSpPr>
        <p:spPr>
          <a:xfrm>
            <a:off x="7424928" y="1755648"/>
            <a:ext cx="4197096" cy="2898648"/>
          </a:xfrm>
          <a:prstGeom prst="roundRect">
            <a:avLst>
              <a:gd name="adj" fmla="val 252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2" name="Text 19"/>
          <p:cNvSpPr txBox="1"/>
          <p:nvPr/>
        </p:nvSpPr>
        <p:spPr>
          <a:xfrm>
            <a:off x="7662672" y="1938528"/>
            <a:ext cx="3721608"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POURQUOI ARXIV</a:t>
            </a:r>
            <a:endParaRPr lang="en-US" sz="900" dirty="0"/>
          </a:p>
        </p:txBody>
      </p:sp>
      <p:sp>
        <p:nvSpPr>
          <p:cNvPr id="23" name="Shape 20"/>
          <p:cNvSpPr/>
          <p:nvPr/>
        </p:nvSpPr>
        <p:spPr>
          <a:xfrm>
            <a:off x="7662672" y="2244852"/>
            <a:ext cx="118872" cy="118872"/>
          </a:xfrm>
          <a:prstGeom prst="ellipse">
            <a:avLst/>
          </a:prstGeom>
          <a:solidFill>
            <a:srgbClr val="8B5CF6"/>
          </a:solidFill>
          <a:ln w="12700">
            <a:solidFill>
              <a:srgbClr val="333333"/>
            </a:solidFill>
            <a:prstDash val="solid"/>
          </a:ln>
        </p:spPr>
      </p:sp>
      <p:sp>
        <p:nvSpPr>
          <p:cNvPr id="24" name="Text 21"/>
          <p:cNvSpPr txBox="1"/>
          <p:nvPr/>
        </p:nvSpPr>
        <p:spPr>
          <a:xfrm>
            <a:off x="7863840" y="2176272"/>
            <a:ext cx="3520440" cy="292608"/>
          </a:xfrm>
          <a:prstGeom prst="rect">
            <a:avLst/>
          </a:prstGeom>
          <a:noFill/>
          <a:ln/>
        </p:spPr>
        <p:txBody>
          <a:bodyPr wrap="square" lIns="0" tIns="0" rIns="0" bIns="0" rtlCol="0" anchor="t"/>
          <a:lstStyle/>
          <a:p>
            <a:pPr indent="0" marL="0">
              <a:buNone/>
            </a:pPr>
            <a:r>
              <a:rPr lang="en-US" sz="1400" b="1" dirty="0">
                <a:solidFill>
                  <a:srgbClr val="E9ECF5"/>
                </a:solidFill>
                <a:latin typeface="Calibri" pitchFamily="34" charset="0"/>
                <a:ea typeface="Calibri" pitchFamily="34" charset="-122"/>
                <a:cs typeface="Calibri" pitchFamily="34" charset="-120"/>
              </a:rPr>
              <a:t>Trois raisons</a:t>
            </a:r>
            <a:endParaRPr lang="en-US" sz="1400" dirty="0"/>
          </a:p>
        </p:txBody>
      </p:sp>
      <p:sp>
        <p:nvSpPr>
          <p:cNvPr id="25" name="Text 22"/>
          <p:cNvSpPr txBox="1"/>
          <p:nvPr/>
        </p:nvSpPr>
        <p:spPr>
          <a:xfrm>
            <a:off x="7662672" y="2487168"/>
            <a:ext cx="3721608" cy="2020824"/>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Réel et riche. Des résumés scientifiques denses, avec du vocabulaire technique rare — le terrain le plus favorable à BM25, donc une comparaison honnête.</a:t>
            </a:r>
            <a:endParaRPr lang="en-US" sz="1200" dirty="0"/>
          </a:p>
          <a:p>
            <a:pPr indent="0" marL="0">
              <a:lnSpc>
                <a:spcPct val="122000"/>
              </a:lnSpc>
              <a:buNone/>
            </a:pPr>
            <a:endParaRPr lang="en-US" sz="1200" dirty="0"/>
          </a:p>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Entièrement anglophone. C'est ce qui rend la démonstration multilingue significative : aucun mot français ou arabe n'existe dans le corpus.</a:t>
            </a:r>
            <a:endParaRPr lang="en-US" sz="1200" dirty="0"/>
          </a:p>
          <a:p>
            <a:pPr indent="0" marL="0">
              <a:lnSpc>
                <a:spcPct val="122000"/>
              </a:lnSpc>
              <a:buNone/>
            </a:pPr>
            <a:endParaRPr lang="en-US" sz="1200" dirty="0"/>
          </a:p>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Reconstructible. Un script le retélécharge à l'identique.</a:t>
            </a:r>
            <a:endParaRPr lang="en-US" sz="1200" dirty="0"/>
          </a:p>
        </p:txBody>
      </p:sp>
      <p:sp>
        <p:nvSpPr>
          <p:cNvPr id="26" name="Text 2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Le corpus</a:t>
            </a:r>
            <a:endParaRPr lang="en-US" sz="900" dirty="0"/>
          </a:p>
        </p:txBody>
      </p:sp>
      <p:sp>
        <p:nvSpPr>
          <p:cNvPr id="27" name="Text 2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06 /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ÉTAPE 2</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Prétraitement léger — et une décision qui change tout</a:t>
            </a:r>
            <a:endParaRPr lang="en-US" sz="3400" dirty="0"/>
          </a:p>
        </p:txBody>
      </p:sp>
      <p:sp>
        <p:nvSpPr>
          <p:cNvPr id="6" name="Shape 3"/>
          <p:cNvSpPr/>
          <p:nvPr/>
        </p:nvSpPr>
        <p:spPr>
          <a:xfrm>
            <a:off x="566928" y="1755648"/>
            <a:ext cx="5349240" cy="1965960"/>
          </a:xfrm>
          <a:prstGeom prst="roundRect">
            <a:avLst>
              <a:gd name="adj" fmla="val 372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QUE FAIT LE PIPELINE</a:t>
            </a:r>
            <a:endParaRPr lang="en-US" sz="900" dirty="0"/>
          </a:p>
        </p:txBody>
      </p:sp>
      <p:sp>
        <p:nvSpPr>
          <p:cNvPr id="8" name="Text 5"/>
          <p:cNvSpPr txBox="1"/>
          <p:nvPr/>
        </p:nvSpPr>
        <p:spPr>
          <a:xfrm>
            <a:off x="804672" y="2176272"/>
            <a:ext cx="4873752" cy="1399032"/>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Simplification LaTeX — les formules deviennent un espace</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Normalisation des espaces — un texte d'un seul tenant</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Découpage en passages — 220 mots, chevauchement de 40</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Regroupement par article — une seule ligne, au meilleur score</a:t>
            </a:r>
            <a:endParaRPr lang="en-US" sz="1150" dirty="0"/>
          </a:p>
        </p:txBody>
      </p:sp>
      <p:sp>
        <p:nvSpPr>
          <p:cNvPr id="9" name="Shape 6"/>
          <p:cNvSpPr/>
          <p:nvPr/>
        </p:nvSpPr>
        <p:spPr>
          <a:xfrm>
            <a:off x="566928" y="3931920"/>
            <a:ext cx="5349240" cy="1737360"/>
          </a:xfrm>
          <a:prstGeom prst="roundRect">
            <a:avLst>
              <a:gd name="adj" fmla="val 421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7"/>
          <p:cNvSpPr txBox="1"/>
          <p:nvPr/>
        </p:nvSpPr>
        <p:spPr>
          <a:xfrm>
            <a:off x="804672" y="411480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QUE LE PIPELINE NE FAIT PAS, ET POURQUOI</a:t>
            </a:r>
            <a:endParaRPr lang="en-US" sz="900" dirty="0"/>
          </a:p>
        </p:txBody>
      </p:sp>
      <p:sp>
        <p:nvSpPr>
          <p:cNvPr id="11" name="Text 8"/>
          <p:cNvSpPr txBox="1"/>
          <p:nvPr/>
        </p:nvSpPr>
        <p:spPr>
          <a:xfrm>
            <a:off x="804672" y="4352544"/>
            <a:ext cx="4873752" cy="117043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Ni suppression des mots vides, ni lemmatisation avant l'encodage : Sentence-BERT a été entraîné sur du texte naturel. Le mutiler dégraderait sa représentation. Ces opérations restent pertinentes pour un pipeline TF-IDF — elles ne le sont pas ici.</a:t>
            </a:r>
            <a:endParaRPr lang="en-US" sz="1200" dirty="0"/>
          </a:p>
        </p:txBody>
      </p:sp>
      <p:sp>
        <p:nvSpPr>
          <p:cNvPr id="12" name="Shape 9"/>
          <p:cNvSpPr/>
          <p:nvPr/>
        </p:nvSpPr>
        <p:spPr>
          <a:xfrm>
            <a:off x="6272784" y="1755648"/>
            <a:ext cx="5349240" cy="3913632"/>
          </a:xfrm>
          <a:prstGeom prst="roundRect">
            <a:avLst>
              <a:gd name="adj" fmla="val 1869"/>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13" name="Shape 10"/>
          <p:cNvSpPr/>
          <p:nvPr/>
        </p:nvSpPr>
        <p:spPr>
          <a:xfrm>
            <a:off x="6510528" y="1965960"/>
            <a:ext cx="118872" cy="118872"/>
          </a:xfrm>
          <a:prstGeom prst="ellipse">
            <a:avLst/>
          </a:prstGeom>
          <a:solidFill>
            <a:srgbClr val="FB7185"/>
          </a:solidFill>
          <a:ln w="12700">
            <a:solidFill>
              <a:srgbClr val="333333"/>
            </a:solidFill>
            <a:prstDash val="solid"/>
          </a:ln>
        </p:spPr>
      </p:sp>
      <p:sp>
        <p:nvSpPr>
          <p:cNvPr id="14" name="Text 11"/>
          <p:cNvSpPr txBox="1"/>
          <p:nvPr/>
        </p:nvSpPr>
        <p:spPr>
          <a:xfrm>
            <a:off x="6711696" y="1911096"/>
            <a:ext cx="4672584"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LA DÉCISION MÉTHODOLOGIQUE DU PROJET</a:t>
            </a:r>
            <a:endParaRPr lang="en-US" sz="900" dirty="0"/>
          </a:p>
        </p:txBody>
      </p:sp>
      <p:sp>
        <p:nvSpPr>
          <p:cNvPr id="15" name="Text 12"/>
          <p:cNvSpPr txBox="1"/>
          <p:nvPr/>
        </p:nvSpPr>
        <p:spPr>
          <a:xfrm>
            <a:off x="6510528" y="2212848"/>
            <a:ext cx="4873752" cy="3310128"/>
          </a:xfrm>
          <a:prstGeom prst="rect">
            <a:avLst/>
          </a:prstGeom>
          <a:noFill/>
          <a:ln/>
        </p:spPr>
        <p:txBody>
          <a:bodyPr wrap="square" lIns="0" tIns="0" rIns="0" bIns="0" rtlCol="0" anchor="t"/>
          <a:lstStyle/>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Le titre n'est pas indexé.</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L'évaluation utilise le titre d'un article comme requête. Si ce titre figurait aussi dans le texte indexé, BM25 le retrouverait par correspondance exacte et la comparaison n'aurait plus aucune valeur.</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C'est une fuite de données classique. L'éviter fait partie du travail — et coûte au moteur sémantique autant qu'à BM25.</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INCLURE_TITRE_DANS_INDEX = False</a:t>
            </a:r>
            <a:endParaRPr lang="en-US" sz="1300" dirty="0"/>
          </a:p>
        </p:txBody>
      </p:sp>
      <p:sp>
        <p:nvSpPr>
          <p:cNvPr id="16" name="Text 1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Prétraitement et fuite de données</a:t>
            </a:r>
            <a:endParaRPr lang="en-US" sz="900" dirty="0"/>
          </a:p>
        </p:txBody>
      </p:sp>
      <p:sp>
        <p:nvSpPr>
          <p:cNvPr id="17" name="Text 1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07 / 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ÉTAPE 3</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Le modèle : multilingual-e5-small</a:t>
            </a:r>
            <a:endParaRPr lang="en-US" sz="3400" dirty="0"/>
          </a:p>
        </p:txBody>
      </p:sp>
      <p:sp>
        <p:nvSpPr>
          <p:cNvPr id="6" name="Shape 3"/>
          <p:cNvSpPr/>
          <p:nvPr/>
        </p:nvSpPr>
        <p:spPr>
          <a:xfrm>
            <a:off x="566928" y="1755648"/>
            <a:ext cx="3502152" cy="2697480"/>
          </a:xfrm>
          <a:prstGeom prst="roundRect">
            <a:avLst>
              <a:gd name="adj" fmla="val 2712"/>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RAISON 1</a:t>
            </a:r>
            <a:endParaRPr lang="en-US" sz="900" dirty="0"/>
          </a:p>
        </p:txBody>
      </p:sp>
      <p:sp>
        <p:nvSpPr>
          <p:cNvPr id="8" name="Shape 5"/>
          <p:cNvSpPr/>
          <p:nvPr/>
        </p:nvSpPr>
        <p:spPr>
          <a:xfrm>
            <a:off x="804672" y="2244852"/>
            <a:ext cx="118872" cy="118872"/>
          </a:xfrm>
          <a:prstGeom prst="ellipse">
            <a:avLst/>
          </a:prstGeom>
          <a:solidFill>
            <a:srgbClr val="8B5CF6"/>
          </a:solidFill>
          <a:ln w="12700">
            <a:solidFill>
              <a:srgbClr val="333333"/>
            </a:solidFill>
            <a:prstDash val="solid"/>
          </a:ln>
        </p:spPr>
      </p:sp>
      <p:sp>
        <p:nvSpPr>
          <p:cNvPr id="9" name="Text 6"/>
          <p:cNvSpPr txBox="1"/>
          <p:nvPr/>
        </p:nvSpPr>
        <p:spPr>
          <a:xfrm>
            <a:off x="1005840" y="2176272"/>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Le multilingue est structurel</a:t>
            </a:r>
            <a:endParaRPr lang="en-US" sz="1500" dirty="0"/>
          </a:p>
        </p:txBody>
      </p:sp>
      <p:sp>
        <p:nvSpPr>
          <p:cNvPr id="10" name="Text 7"/>
          <p:cNvSpPr txBox="1"/>
          <p:nvPr/>
        </p:nvSpPr>
        <p:spPr>
          <a:xfrm>
            <a:off x="804672" y="2487168"/>
            <a:ext cx="3026664" cy="181965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Entraîné sur des paires de phrases traduites : « fraud detection », « détection de fraude » et son équivalent arabe tombent au même endroit de l'espace.</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Ce n'est pas de la traduction — c'est un espace partagé.</a:t>
            </a:r>
            <a:endParaRPr lang="en-US" sz="1150" dirty="0"/>
          </a:p>
        </p:txBody>
      </p:sp>
      <p:sp>
        <p:nvSpPr>
          <p:cNvPr id="11" name="Shape 8"/>
          <p:cNvSpPr/>
          <p:nvPr/>
        </p:nvSpPr>
        <p:spPr>
          <a:xfrm>
            <a:off x="4343400" y="1755648"/>
            <a:ext cx="3502152" cy="2697480"/>
          </a:xfrm>
          <a:prstGeom prst="roundRect">
            <a:avLst>
              <a:gd name="adj" fmla="val 2712"/>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4581144"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RAISON 2</a:t>
            </a:r>
            <a:endParaRPr lang="en-US" sz="900" dirty="0"/>
          </a:p>
        </p:txBody>
      </p:sp>
      <p:sp>
        <p:nvSpPr>
          <p:cNvPr id="13" name="Shape 10"/>
          <p:cNvSpPr/>
          <p:nvPr/>
        </p:nvSpPr>
        <p:spPr>
          <a:xfrm>
            <a:off x="4581144" y="2244852"/>
            <a:ext cx="118872" cy="118872"/>
          </a:xfrm>
          <a:prstGeom prst="ellipse">
            <a:avLst/>
          </a:prstGeom>
          <a:solidFill>
            <a:srgbClr val="8B5CF6"/>
          </a:solidFill>
          <a:ln w="12700">
            <a:solidFill>
              <a:srgbClr val="333333"/>
            </a:solidFill>
            <a:prstDash val="solid"/>
          </a:ln>
        </p:spPr>
      </p:sp>
      <p:sp>
        <p:nvSpPr>
          <p:cNvPr id="14" name="Text 11"/>
          <p:cNvSpPr txBox="1"/>
          <p:nvPr/>
        </p:nvSpPr>
        <p:spPr>
          <a:xfrm>
            <a:off x="4782312" y="2176272"/>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Il tient sur un CPU</a:t>
            </a:r>
            <a:endParaRPr lang="en-US" sz="1500" dirty="0"/>
          </a:p>
        </p:txBody>
      </p:sp>
      <p:sp>
        <p:nvSpPr>
          <p:cNvPr id="15" name="Text 12"/>
          <p:cNvSpPr txBox="1"/>
          <p:nvPr/>
        </p:nvSpPr>
        <p:spPr>
          <a:xfrm>
            <a:off x="4581144" y="2487168"/>
            <a:ext cx="3026664" cy="181965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118 M de paramètres, 384 dimensions. Mesure réelle sur un portable sans carte graphique : 10 897 passages en 12 minutes, pour un index de 16 Mo.</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L'étape la plus lente du projet — faite une seule fois.</a:t>
            </a:r>
            <a:endParaRPr lang="en-US" sz="1150" dirty="0"/>
          </a:p>
        </p:txBody>
      </p:sp>
      <p:sp>
        <p:nvSpPr>
          <p:cNvPr id="16" name="Shape 13"/>
          <p:cNvSpPr/>
          <p:nvPr/>
        </p:nvSpPr>
        <p:spPr>
          <a:xfrm>
            <a:off x="8119872" y="1755648"/>
            <a:ext cx="3502152" cy="2697480"/>
          </a:xfrm>
          <a:prstGeom prst="roundRect">
            <a:avLst>
              <a:gd name="adj" fmla="val 2712"/>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8357616"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RAISON 3</a:t>
            </a:r>
            <a:endParaRPr lang="en-US" sz="900" dirty="0"/>
          </a:p>
        </p:txBody>
      </p:sp>
      <p:sp>
        <p:nvSpPr>
          <p:cNvPr id="18" name="Shape 15"/>
          <p:cNvSpPr/>
          <p:nvPr/>
        </p:nvSpPr>
        <p:spPr>
          <a:xfrm>
            <a:off x="8357616" y="2244852"/>
            <a:ext cx="118872" cy="118872"/>
          </a:xfrm>
          <a:prstGeom prst="ellipse">
            <a:avLst/>
          </a:prstGeom>
          <a:solidFill>
            <a:srgbClr val="8B5CF6"/>
          </a:solidFill>
          <a:ln w="12700">
            <a:solidFill>
              <a:srgbClr val="333333"/>
            </a:solidFill>
            <a:prstDash val="solid"/>
          </a:ln>
        </p:spPr>
      </p:sp>
      <p:sp>
        <p:nvSpPr>
          <p:cNvPr id="19" name="Text 16"/>
          <p:cNvSpPr txBox="1"/>
          <p:nvPr/>
        </p:nvSpPr>
        <p:spPr>
          <a:xfrm>
            <a:off x="8558784" y="2176272"/>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Il est entraîné pour la recherche</a:t>
            </a:r>
            <a:endParaRPr lang="en-US" sz="1500" dirty="0"/>
          </a:p>
        </p:txBody>
      </p:sp>
      <p:sp>
        <p:nvSpPr>
          <p:cNvPr id="20" name="Text 17"/>
          <p:cNvSpPr txBox="1"/>
          <p:nvPr/>
        </p:nvSpPr>
        <p:spPr>
          <a:xfrm>
            <a:off x="8357616" y="2487168"/>
            <a:ext cx="3026664" cy="181965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Beaucoup de modèles comparent deux phrases de même nature. E5 est entraîné sur des paires question / document — exactement notre usage.</a:t>
            </a:r>
            <a:endParaRPr lang="en-US" sz="1150" dirty="0"/>
          </a:p>
        </p:txBody>
      </p:sp>
      <p:sp>
        <p:nvSpPr>
          <p:cNvPr id="21" name="Shape 18"/>
          <p:cNvSpPr/>
          <p:nvPr/>
        </p:nvSpPr>
        <p:spPr>
          <a:xfrm>
            <a:off x="566928" y="4681728"/>
            <a:ext cx="11057839" cy="1280160"/>
          </a:xfrm>
          <a:prstGeom prst="roundRect">
            <a:avLst>
              <a:gd name="adj" fmla="val 5714"/>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22" name="Shape 19"/>
          <p:cNvSpPr/>
          <p:nvPr/>
        </p:nvSpPr>
        <p:spPr>
          <a:xfrm>
            <a:off x="804672" y="4892040"/>
            <a:ext cx="118872" cy="118872"/>
          </a:xfrm>
          <a:prstGeom prst="ellipse">
            <a:avLst/>
          </a:prstGeom>
          <a:solidFill>
            <a:srgbClr val="FB7185"/>
          </a:solidFill>
          <a:ln w="12700">
            <a:solidFill>
              <a:srgbClr val="333333"/>
            </a:solidFill>
            <a:prstDash val="solid"/>
          </a:ln>
        </p:spPr>
      </p:sp>
      <p:sp>
        <p:nvSpPr>
          <p:cNvPr id="23" name="Text 20"/>
          <p:cNvSpPr txBox="1"/>
          <p:nvPr/>
        </p:nvSpPr>
        <p:spPr>
          <a:xfrm>
            <a:off x="1005840" y="4837176"/>
            <a:ext cx="10381183"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CONTREPARTIE À CONNAÎTRE</a:t>
            </a:r>
            <a:endParaRPr lang="en-US" sz="900" dirty="0"/>
          </a:p>
        </p:txBody>
      </p:sp>
      <p:sp>
        <p:nvSpPr>
          <p:cNvPr id="24" name="Text 21"/>
          <p:cNvSpPr txBox="1"/>
          <p:nvPr/>
        </p:nvSpPr>
        <p:spPr>
          <a:xfrm>
            <a:off x="804672" y="5138928"/>
            <a:ext cx="10582351" cy="67665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La famille E5 exige les préfixes query: et passage:. Les oublier dégrade nettement la qualité sans provoquer la moindre erreur visible. Une requête et un document ne reçoivent volontairement pas le même préfixe.</a:t>
            </a:r>
            <a:endParaRPr lang="en-US" sz="1250" dirty="0"/>
          </a:p>
        </p:txBody>
      </p:sp>
      <p:sp>
        <p:nvSpPr>
          <p:cNvPr id="25" name="Text 22"/>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Le modèle d'embeddings</a:t>
            </a:r>
            <a:endParaRPr lang="en-US" sz="900" dirty="0"/>
          </a:p>
        </p:txBody>
      </p:sp>
      <p:sp>
        <p:nvSpPr>
          <p:cNvPr id="26" name="Text 23"/>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08 / 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ÉTAPE 4</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FAISS — trouver les plus proches voisins</a:t>
            </a:r>
            <a:endParaRPr lang="en-US" sz="3400" dirty="0"/>
          </a:p>
        </p:txBody>
      </p:sp>
      <p:sp>
        <p:nvSpPr>
          <p:cNvPr id="6" name="Shape 3"/>
          <p:cNvSpPr/>
          <p:nvPr/>
        </p:nvSpPr>
        <p:spPr>
          <a:xfrm>
            <a:off x="566928" y="1755648"/>
            <a:ext cx="5349240" cy="1600200"/>
          </a:xfrm>
          <a:prstGeom prst="roundRect">
            <a:avLst>
              <a:gd name="adj" fmla="val 457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PAR DÉFAUT · INDEXFLATIP</a:t>
            </a:r>
            <a:endParaRPr lang="en-US" sz="900" dirty="0"/>
          </a:p>
        </p:txBody>
      </p:sp>
      <p:sp>
        <p:nvSpPr>
          <p:cNvPr id="8" name="Shape 5"/>
          <p:cNvSpPr/>
          <p:nvPr/>
        </p:nvSpPr>
        <p:spPr>
          <a:xfrm>
            <a:off x="804672" y="2244852"/>
            <a:ext cx="118872" cy="118872"/>
          </a:xfrm>
          <a:prstGeom prst="ellipse">
            <a:avLst/>
          </a:prstGeom>
          <a:solidFill>
            <a:srgbClr val="8B5CF6"/>
          </a:solidFill>
          <a:ln w="12700">
            <a:solidFill>
              <a:srgbClr val="333333"/>
            </a:solidFill>
            <a:prstDash val="solid"/>
          </a:ln>
        </p:spPr>
      </p:sp>
      <p:sp>
        <p:nvSpPr>
          <p:cNvPr id="9" name="Text 6"/>
          <p:cNvSpPr txBox="1"/>
          <p:nvPr/>
        </p:nvSpPr>
        <p:spPr>
          <a:xfrm>
            <a:off x="1005840" y="2176272"/>
            <a:ext cx="4672584"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Comparaison exhaustive, résultat exact</a:t>
            </a:r>
            <a:endParaRPr lang="en-US" sz="1500" dirty="0"/>
          </a:p>
        </p:txBody>
      </p:sp>
      <p:sp>
        <p:nvSpPr>
          <p:cNvPr id="10" name="Text 7"/>
          <p:cNvSpPr txBox="1"/>
          <p:nvPr/>
        </p:nvSpPr>
        <p:spPr>
          <a:xfrm>
            <a:off x="804672" y="2487168"/>
            <a:ext cx="4873752" cy="722376"/>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Sur 10 897 vecteurs, une recherche prend environ une milliseconde. À cette échelle, l'approximation n'apporterait rien.</a:t>
            </a:r>
            <a:endParaRPr lang="en-US" sz="1200" dirty="0"/>
          </a:p>
        </p:txBody>
      </p:sp>
      <p:sp>
        <p:nvSpPr>
          <p:cNvPr id="11" name="Shape 8"/>
          <p:cNvSpPr/>
          <p:nvPr/>
        </p:nvSpPr>
        <p:spPr>
          <a:xfrm>
            <a:off x="566928" y="3566160"/>
            <a:ext cx="5349240" cy="1737360"/>
          </a:xfrm>
          <a:prstGeom prst="roundRect">
            <a:avLst>
              <a:gd name="adj" fmla="val 421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804672" y="374904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ÉGALEMENT IMPLÉMENTÉ · INDEXIVFFLAT</a:t>
            </a:r>
            <a:endParaRPr lang="en-US" sz="900" dirty="0"/>
          </a:p>
        </p:txBody>
      </p:sp>
      <p:sp>
        <p:nvSpPr>
          <p:cNvPr id="13" name="Shape 10"/>
          <p:cNvSpPr/>
          <p:nvPr/>
        </p:nvSpPr>
        <p:spPr>
          <a:xfrm>
            <a:off x="804672" y="4055364"/>
            <a:ext cx="118872" cy="118872"/>
          </a:xfrm>
          <a:prstGeom prst="ellipse">
            <a:avLst/>
          </a:prstGeom>
          <a:solidFill>
            <a:srgbClr val="F59E0B"/>
          </a:solidFill>
          <a:ln w="12700">
            <a:solidFill>
              <a:srgbClr val="333333"/>
            </a:solidFill>
            <a:prstDash val="solid"/>
          </a:ln>
        </p:spPr>
      </p:sp>
      <p:sp>
        <p:nvSpPr>
          <p:cNvPr id="14" name="Text 11"/>
          <p:cNvSpPr txBox="1"/>
          <p:nvPr/>
        </p:nvSpPr>
        <p:spPr>
          <a:xfrm>
            <a:off x="1005840" y="3986784"/>
            <a:ext cx="4672584"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Les vecteurs sont regroupés en quartiers</a:t>
            </a:r>
            <a:endParaRPr lang="en-US" sz="1500" dirty="0"/>
          </a:p>
        </p:txBody>
      </p:sp>
      <p:sp>
        <p:nvSpPr>
          <p:cNvPr id="15" name="Text 12"/>
          <p:cNvSpPr txBox="1"/>
          <p:nvPr/>
        </p:nvSpPr>
        <p:spPr>
          <a:xfrm>
            <a:off x="804672" y="4297680"/>
            <a:ext cx="4873752" cy="859536"/>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Seuls les quartiers les plus prometteurs sont fouillés. Plus rapide, mais approximatif : un bon voisin situé dans un quartier non visité est manqué.</a:t>
            </a:r>
            <a:endParaRPr lang="en-US" sz="1200" dirty="0"/>
          </a:p>
        </p:txBody>
      </p:sp>
      <p:sp>
        <p:nvSpPr>
          <p:cNvPr id="16" name="Shape 13"/>
          <p:cNvSpPr/>
          <p:nvPr/>
        </p:nvSpPr>
        <p:spPr>
          <a:xfrm>
            <a:off x="6272784" y="1755648"/>
            <a:ext cx="5349240" cy="3273552"/>
          </a:xfrm>
          <a:prstGeom prst="roundRect">
            <a:avLst>
              <a:gd name="adj" fmla="val 2235"/>
            </a:avLst>
          </a:prstGeom>
          <a:solidFill>
            <a:srgbClr val="1B2130"/>
          </a:solidFill>
          <a:ln w="15875">
            <a:solidFill>
              <a:srgbClr val="22D3EE"/>
            </a:solidFill>
            <a:prstDash val="solid"/>
          </a:ln>
          <a:effectLst>
            <a:outerShdw sx="100000" sy="100000" kx="0" ky="0" algn="bl" rotWithShape="0" blurRad="127000" dist="38100" dir="5400000">
              <a:srgbClr val="000000">
                <a:alpha val="35000"/>
              </a:srgbClr>
            </a:outerShdw>
          </a:effectLst>
        </p:spPr>
      </p:sp>
      <p:sp>
        <p:nvSpPr>
          <p:cNvPr id="17" name="Shape 14"/>
          <p:cNvSpPr/>
          <p:nvPr/>
        </p:nvSpPr>
        <p:spPr>
          <a:xfrm>
            <a:off x="6510528" y="1965960"/>
            <a:ext cx="118872" cy="118872"/>
          </a:xfrm>
          <a:prstGeom prst="ellipse">
            <a:avLst/>
          </a:prstGeom>
          <a:solidFill>
            <a:srgbClr val="22D3EE"/>
          </a:solidFill>
          <a:ln w="12700">
            <a:solidFill>
              <a:srgbClr val="333333"/>
            </a:solidFill>
            <a:prstDash val="solid"/>
          </a:ln>
        </p:spPr>
      </p:sp>
      <p:sp>
        <p:nvSpPr>
          <p:cNvPr id="18" name="Text 15"/>
          <p:cNvSpPr txBox="1"/>
          <p:nvPr/>
        </p:nvSpPr>
        <p:spPr>
          <a:xfrm>
            <a:off x="6711696" y="1911096"/>
            <a:ext cx="4672584" cy="219456"/>
          </a:xfrm>
          <a:prstGeom prst="rect">
            <a:avLst/>
          </a:prstGeom>
          <a:noFill/>
          <a:ln/>
        </p:spPr>
        <p:txBody>
          <a:bodyPr wrap="square" lIns="0" tIns="0" rIns="0" bIns="0" rtlCol="0" anchor="ctr"/>
          <a:lstStyle/>
          <a:p>
            <a:pPr indent="0" marL="0">
              <a:buNone/>
            </a:pPr>
            <a:r>
              <a:rPr lang="en-US" sz="900" b="1" spc="120" kern="0" dirty="0">
                <a:solidFill>
                  <a:srgbClr val="22D3EE"/>
                </a:solidFill>
                <a:latin typeface="Calibri" pitchFamily="34" charset="0"/>
                <a:ea typeface="Calibri" pitchFamily="34" charset="-122"/>
                <a:cs typeface="Calibri" pitchFamily="34" charset="-120"/>
              </a:rPr>
              <a:t>LE DÉTAIL QUI REND LA MESURE JUSTE</a:t>
            </a:r>
            <a:endParaRPr lang="en-US" sz="900" dirty="0"/>
          </a:p>
        </p:txBody>
      </p:sp>
      <p:sp>
        <p:nvSpPr>
          <p:cNvPr id="19" name="Text 16"/>
          <p:cNvSpPr txBox="1"/>
          <p:nvPr/>
        </p:nvSpPr>
        <p:spPr>
          <a:xfrm>
            <a:off x="6510528" y="2212848"/>
            <a:ext cx="4873752" cy="2670048"/>
          </a:xfrm>
          <a:prstGeom prst="rect">
            <a:avLst/>
          </a:prstGeom>
          <a:noFill/>
          <a:ln/>
        </p:spPr>
        <p:txBody>
          <a:bodyPr wrap="square" lIns="0" tIns="0" rIns="0" bIns="0" rtlCol="0" anchor="t"/>
          <a:lstStyle/>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Tous les vecteurs sont normalisés à une longueur de 1. Le produit scalaire vaut alors exactement la similarité cosinus.</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On mesure donc un angle — le sens — et non une longueur, qui ne refléterait que la taille du texte.</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cos(q, d) = q · d      si  ‖q‖ = ‖d‖ = 1</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Le compromis vitesse / exhaustivité est mesuré, pas cité.</a:t>
            </a:r>
            <a:endParaRPr lang="en-US" sz="1300" dirty="0"/>
          </a:p>
        </p:txBody>
      </p:sp>
      <p:sp>
        <p:nvSpPr>
          <p:cNvPr id="20" name="Text 17"/>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L'index vectoriel</a:t>
            </a:r>
            <a:endParaRPr lang="en-US" sz="900" dirty="0"/>
          </a:p>
        </p:txBody>
      </p:sp>
      <p:sp>
        <p:nvSpPr>
          <p:cNvPr id="21" name="Text 18"/>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09 / 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LES MOTEURS</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Trois moteurs, un seul index</a:t>
            </a:r>
            <a:endParaRPr lang="en-US" sz="3400" dirty="0"/>
          </a:p>
        </p:txBody>
      </p:sp>
      <p:sp>
        <p:nvSpPr>
          <p:cNvPr id="6" name="Text 3"/>
          <p:cNvSpPr txBox="1"/>
          <p:nvPr/>
        </p:nvSpPr>
        <p:spPr>
          <a:xfrm>
            <a:off x="566928" y="1609344"/>
            <a:ext cx="9601200" cy="274320"/>
          </a:xfrm>
          <a:prstGeom prst="rect">
            <a:avLst/>
          </a:prstGeom>
          <a:noFill/>
          <a:ln/>
        </p:spPr>
        <p:txBody>
          <a:bodyPr wrap="square" lIns="0" tIns="0" rIns="0" bIns="0" rtlCol="0" anchor="ctr"/>
          <a:lstStyle/>
          <a:p>
            <a:pPr indent="0" marL="0">
              <a:buNone/>
            </a:pPr>
            <a:r>
              <a:rPr lang="en-US" sz="1300" dirty="0">
                <a:solidFill>
                  <a:srgbClr val="9AA3BC"/>
                </a:solidFill>
                <a:latin typeface="Calibri" pitchFamily="34" charset="0"/>
                <a:ea typeface="Calibri" pitchFamily="34" charset="-122"/>
                <a:cs typeface="Calibri" pitchFamily="34" charset="-120"/>
              </a:rPr>
              <a:t>Ce qui les sépare est uniquement la façon de classer — jamais ce qui a été indexé. C'est la condition pour que la comparaison ait un sens.</a:t>
            </a:r>
            <a:endParaRPr lang="en-US" sz="1300" dirty="0"/>
          </a:p>
        </p:txBody>
      </p:sp>
      <p:sp>
        <p:nvSpPr>
          <p:cNvPr id="7" name="Shape 4"/>
          <p:cNvSpPr/>
          <p:nvPr/>
        </p:nvSpPr>
        <p:spPr>
          <a:xfrm>
            <a:off x="566928" y="2057400"/>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8" name="Text 5"/>
          <p:cNvSpPr txBox="1"/>
          <p:nvPr/>
        </p:nvSpPr>
        <p:spPr>
          <a:xfrm>
            <a:off x="804672"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SÉMANTIQUE</a:t>
            </a:r>
            <a:endParaRPr lang="en-US" sz="900" dirty="0"/>
          </a:p>
        </p:txBody>
      </p:sp>
      <p:sp>
        <p:nvSpPr>
          <p:cNvPr id="9" name="Shape 6"/>
          <p:cNvSpPr/>
          <p:nvPr/>
        </p:nvSpPr>
        <p:spPr>
          <a:xfrm>
            <a:off x="804672" y="2546604"/>
            <a:ext cx="118872" cy="118872"/>
          </a:xfrm>
          <a:prstGeom prst="ellipse">
            <a:avLst/>
          </a:prstGeom>
          <a:solidFill>
            <a:srgbClr val="8B5CF6"/>
          </a:solidFill>
          <a:ln w="12700">
            <a:solidFill>
              <a:srgbClr val="333333"/>
            </a:solidFill>
            <a:prstDash val="solid"/>
          </a:ln>
        </p:spPr>
      </p:sp>
      <p:sp>
        <p:nvSpPr>
          <p:cNvPr id="10" name="Text 7"/>
          <p:cNvSpPr txBox="1"/>
          <p:nvPr/>
        </p:nvSpPr>
        <p:spPr>
          <a:xfrm>
            <a:off x="1005840"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Sentence-BERT + FAISS</a:t>
            </a:r>
            <a:endParaRPr lang="en-US" sz="1500" dirty="0"/>
          </a:p>
        </p:txBody>
      </p:sp>
      <p:sp>
        <p:nvSpPr>
          <p:cNvPr id="11" name="Text 8"/>
          <p:cNvSpPr txBox="1"/>
          <p:nvPr/>
        </p:nvSpPr>
        <p:spPr>
          <a:xfrm>
            <a:off x="804672" y="2788920"/>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Encode question et documents dans un même espace de 384 dimensions, puis mesure des angles.</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Trouve sans partager un seul mot, y compris dans une autre langue.</a:t>
            </a:r>
            <a:endParaRPr lang="en-US" sz="1150" dirty="0"/>
          </a:p>
        </p:txBody>
      </p:sp>
      <p:sp>
        <p:nvSpPr>
          <p:cNvPr id="12" name="Shape 9"/>
          <p:cNvSpPr/>
          <p:nvPr/>
        </p:nvSpPr>
        <p:spPr>
          <a:xfrm>
            <a:off x="4343400" y="2057400"/>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10"/>
          <p:cNvSpPr txBox="1"/>
          <p:nvPr/>
        </p:nvSpPr>
        <p:spPr>
          <a:xfrm>
            <a:off x="4581144"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LEXICAL</a:t>
            </a:r>
            <a:endParaRPr lang="en-US" sz="900" dirty="0"/>
          </a:p>
        </p:txBody>
      </p:sp>
      <p:sp>
        <p:nvSpPr>
          <p:cNvPr id="14" name="Shape 11"/>
          <p:cNvSpPr/>
          <p:nvPr/>
        </p:nvSpPr>
        <p:spPr>
          <a:xfrm>
            <a:off x="4581144" y="2546604"/>
            <a:ext cx="118872" cy="118872"/>
          </a:xfrm>
          <a:prstGeom prst="ellipse">
            <a:avLst/>
          </a:prstGeom>
          <a:solidFill>
            <a:srgbClr val="F59E0B"/>
          </a:solidFill>
          <a:ln w="12700">
            <a:solidFill>
              <a:srgbClr val="333333"/>
            </a:solidFill>
            <a:prstDash val="solid"/>
          </a:ln>
        </p:spPr>
      </p:sp>
      <p:sp>
        <p:nvSpPr>
          <p:cNvPr id="15" name="Text 12"/>
          <p:cNvSpPr txBox="1"/>
          <p:nvPr/>
        </p:nvSpPr>
        <p:spPr>
          <a:xfrm>
            <a:off x="4782312"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BM25 Okapi</a:t>
            </a:r>
            <a:endParaRPr lang="en-US" sz="1500" dirty="0"/>
          </a:p>
        </p:txBody>
      </p:sp>
      <p:sp>
        <p:nvSpPr>
          <p:cNvPr id="16" name="Text 13"/>
          <p:cNvSpPr txBox="1"/>
          <p:nvPr/>
        </p:nvSpPr>
        <p:spPr>
          <a:xfrm>
            <a:off x="4581144" y="2788920"/>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Pondère les mots partagés : un terme rare compte plus, un document long est pénalisé.</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Rapide, gratuit, sans modèle. Liste vide si aucun mot ne correspond.</a:t>
            </a:r>
            <a:endParaRPr lang="en-US" sz="1150" dirty="0"/>
          </a:p>
        </p:txBody>
      </p:sp>
      <p:sp>
        <p:nvSpPr>
          <p:cNvPr id="17" name="Shape 14"/>
          <p:cNvSpPr/>
          <p:nvPr/>
        </p:nvSpPr>
        <p:spPr>
          <a:xfrm>
            <a:off x="8119872" y="2057400"/>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8" name="Text 15"/>
          <p:cNvSpPr txBox="1"/>
          <p:nvPr/>
        </p:nvSpPr>
        <p:spPr>
          <a:xfrm>
            <a:off x="8357616"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HYBRIDE</a:t>
            </a:r>
            <a:endParaRPr lang="en-US" sz="900" dirty="0"/>
          </a:p>
        </p:txBody>
      </p:sp>
      <p:sp>
        <p:nvSpPr>
          <p:cNvPr id="19" name="Shape 16"/>
          <p:cNvSpPr/>
          <p:nvPr/>
        </p:nvSpPr>
        <p:spPr>
          <a:xfrm>
            <a:off x="8357616" y="2546604"/>
            <a:ext cx="118872" cy="118872"/>
          </a:xfrm>
          <a:prstGeom prst="ellipse">
            <a:avLst/>
          </a:prstGeom>
          <a:solidFill>
            <a:srgbClr val="10B981"/>
          </a:solidFill>
          <a:ln w="12700">
            <a:solidFill>
              <a:srgbClr val="333333"/>
            </a:solidFill>
            <a:prstDash val="solid"/>
          </a:ln>
        </p:spPr>
      </p:sp>
      <p:sp>
        <p:nvSpPr>
          <p:cNvPr id="20" name="Text 17"/>
          <p:cNvSpPr txBox="1"/>
          <p:nvPr/>
        </p:nvSpPr>
        <p:spPr>
          <a:xfrm>
            <a:off x="8558784"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Fusion RRF</a:t>
            </a:r>
            <a:endParaRPr lang="en-US" sz="1500" dirty="0"/>
          </a:p>
        </p:txBody>
      </p:sp>
      <p:sp>
        <p:nvSpPr>
          <p:cNvPr id="21" name="Text 18"/>
          <p:cNvSpPr txBox="1"/>
          <p:nvPr/>
        </p:nvSpPr>
        <p:spPr>
          <a:xfrm>
            <a:off x="8357616" y="2788920"/>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Fusionne les deux classements en n'utilisant que les rangs.</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Un document bien classé par les deux passe devant un document premier chez un seul.</a:t>
            </a:r>
            <a:endParaRPr lang="en-US" sz="1150" dirty="0"/>
          </a:p>
        </p:txBody>
      </p:sp>
      <p:sp>
        <p:nvSpPr>
          <p:cNvPr id="22" name="Shape 19"/>
          <p:cNvSpPr/>
          <p:nvPr/>
        </p:nvSpPr>
        <p:spPr>
          <a:xfrm>
            <a:off x="566928" y="4754880"/>
            <a:ext cx="11057839" cy="1207008"/>
          </a:xfrm>
          <a:prstGeom prst="roundRect">
            <a:avLst>
              <a:gd name="adj" fmla="val 6061"/>
            </a:avLst>
          </a:prstGeom>
          <a:solidFill>
            <a:srgbClr val="1B2130"/>
          </a:solidFill>
          <a:ln w="15875">
            <a:solidFill>
              <a:srgbClr val="10B981"/>
            </a:solidFill>
            <a:prstDash val="solid"/>
          </a:ln>
          <a:effectLst>
            <a:outerShdw sx="100000" sy="100000" kx="0" ky="0" algn="bl" rotWithShape="0" blurRad="127000" dist="38100" dir="5400000">
              <a:srgbClr val="000000">
                <a:alpha val="35000"/>
              </a:srgbClr>
            </a:outerShdw>
          </a:effectLst>
        </p:spPr>
      </p:sp>
      <p:sp>
        <p:nvSpPr>
          <p:cNvPr id="23" name="Shape 20"/>
          <p:cNvSpPr/>
          <p:nvPr/>
        </p:nvSpPr>
        <p:spPr>
          <a:xfrm>
            <a:off x="804672" y="4965192"/>
            <a:ext cx="118872" cy="118872"/>
          </a:xfrm>
          <a:prstGeom prst="ellipse">
            <a:avLst/>
          </a:prstGeom>
          <a:solidFill>
            <a:srgbClr val="10B981"/>
          </a:solidFill>
          <a:ln w="12700">
            <a:solidFill>
              <a:srgbClr val="333333"/>
            </a:solidFill>
            <a:prstDash val="solid"/>
          </a:ln>
        </p:spPr>
      </p:sp>
      <p:sp>
        <p:nvSpPr>
          <p:cNvPr id="24" name="Text 21"/>
          <p:cNvSpPr txBox="1"/>
          <p:nvPr/>
        </p:nvSpPr>
        <p:spPr>
          <a:xfrm>
            <a:off x="1005840" y="4910328"/>
            <a:ext cx="10381183" cy="219456"/>
          </a:xfrm>
          <a:prstGeom prst="rect">
            <a:avLst/>
          </a:prstGeom>
          <a:noFill/>
          <a:ln/>
        </p:spPr>
        <p:txBody>
          <a:bodyPr wrap="square" lIns="0" tIns="0" rIns="0" bIns="0" rtlCol="0" anchor="ctr"/>
          <a:lstStyle/>
          <a:p>
            <a:pPr indent="0" marL="0">
              <a:buNone/>
            </a:pPr>
            <a:r>
              <a:rPr lang="en-US" sz="900" b="1" spc="120" kern="0" dirty="0">
                <a:solidFill>
                  <a:srgbClr val="10B981"/>
                </a:solidFill>
                <a:latin typeface="Calibri" pitchFamily="34" charset="0"/>
                <a:ea typeface="Calibri" pitchFamily="34" charset="-122"/>
                <a:cs typeface="Calibri" pitchFamily="34" charset="-120"/>
              </a:rPr>
              <a:t>CONSÉQUENCE DE CONCEPTION</a:t>
            </a:r>
            <a:endParaRPr lang="en-US" sz="900" dirty="0"/>
          </a:p>
        </p:txBody>
      </p:sp>
      <p:sp>
        <p:nvSpPr>
          <p:cNvPr id="25" name="Text 22"/>
          <p:cNvSpPr txBox="1"/>
          <p:nvPr/>
        </p:nvSpPr>
        <p:spPr>
          <a:xfrm>
            <a:off x="804672" y="5212080"/>
            <a:ext cx="10582351" cy="603504"/>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Les trois exposent exactement la même interface : chercher(requête, k). L'API, l'interface et le script d'évaluation les utilisent sans une seule ligne de code spécifique à l'un d'eux.</a:t>
            </a:r>
            <a:endParaRPr lang="en-US" sz="1250" dirty="0"/>
          </a:p>
        </p:txBody>
      </p:sp>
      <p:sp>
        <p:nvSpPr>
          <p:cNvPr id="26" name="Text 2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Les trois moteurs</a:t>
            </a:r>
            <a:endParaRPr lang="en-US" sz="900" dirty="0"/>
          </a:p>
        </p:txBody>
      </p:sp>
      <p:sp>
        <p:nvSpPr>
          <p:cNvPr id="27" name="Text 2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10 / 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10B981"/>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10B981"/>
                </a:solidFill>
                <a:latin typeface="Calibri" pitchFamily="34" charset="0"/>
                <a:ea typeface="Calibri" pitchFamily="34" charset="-122"/>
                <a:cs typeface="Calibri" pitchFamily="34" charset="-120"/>
              </a:rPr>
              <a:t>EXTENSION · RECHERCHE HYBRIDE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Fusionner des </a:t>
            </a:r>
            <a:pPr indent="0" marL="0">
              <a:buNone/>
            </a:pPr>
            <a:r>
              <a:rPr lang="en-US" sz="3400" b="1" dirty="0">
                <a:solidFill>
                  <a:srgbClr val="10B981"/>
                </a:solidFill>
                <a:latin typeface="Calibri" pitchFamily="34" charset="0"/>
                <a:ea typeface="Calibri" pitchFamily="34" charset="-122"/>
                <a:cs typeface="Calibri" pitchFamily="34" charset="-120"/>
              </a:rPr>
              <a:t>rangs</a:t>
            </a:r>
            <a:pPr indent="0" marL="0">
              <a:buNone/>
            </a:pPr>
            <a:r>
              <a:rPr lang="en-US" sz="3400" b="1" dirty="0">
                <a:solidFill>
                  <a:srgbClr val="E9ECF5"/>
                </a:solidFill>
                <a:latin typeface="Calibri" pitchFamily="34" charset="0"/>
                <a:ea typeface="Calibri" pitchFamily="34" charset="-122"/>
                <a:cs typeface="Calibri" pitchFamily="34" charset="-120"/>
              </a:rPr>
              <a:t>, pas des scores</a:t>
            </a:r>
            <a:endParaRPr lang="en-US" sz="3400" dirty="0"/>
          </a:p>
        </p:txBody>
      </p:sp>
      <p:sp>
        <p:nvSpPr>
          <p:cNvPr id="6" name="Shape 3"/>
          <p:cNvSpPr/>
          <p:nvPr/>
        </p:nvSpPr>
        <p:spPr>
          <a:xfrm>
            <a:off x="566928" y="1755648"/>
            <a:ext cx="5349240" cy="1965960"/>
          </a:xfrm>
          <a:prstGeom prst="roundRect">
            <a:avLst>
              <a:gd name="adj" fmla="val 372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 PROBLÈME</a:t>
            </a:r>
            <a:endParaRPr lang="en-US" sz="900" dirty="0"/>
          </a:p>
        </p:txBody>
      </p:sp>
      <p:sp>
        <p:nvSpPr>
          <p:cNvPr id="8" name="Text 5"/>
          <p:cNvSpPr txBox="1"/>
          <p:nvPr/>
        </p:nvSpPr>
        <p:spPr>
          <a:xfrm>
            <a:off x="804672" y="2176272"/>
            <a:ext cx="4873752" cy="139903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Un score BM25 vaut entre 0 et 40, sans borne supérieure, et dépend du corpus. Un cosinus vaut entre −1 et 1. Les additionner reviendrait à laisser BM25 décider seul.</a:t>
            </a:r>
            <a:endParaRPr lang="en-US" sz="1200" dirty="0"/>
          </a:p>
          <a:p>
            <a:pPr indent="0" marL="0">
              <a:lnSpc>
                <a:spcPct val="122000"/>
              </a:lnSpc>
              <a:buNone/>
            </a:pPr>
            <a:endParaRPr lang="en-US" sz="1200" dirty="0"/>
          </a:p>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Normaliser ne marche pas non plus : la normalisation dépendrait du lot renvoyé, donc de la requête.</a:t>
            </a:r>
            <a:endParaRPr lang="en-US" sz="1200" dirty="0"/>
          </a:p>
        </p:txBody>
      </p:sp>
      <p:sp>
        <p:nvSpPr>
          <p:cNvPr id="9" name="Shape 6"/>
          <p:cNvSpPr/>
          <p:nvPr/>
        </p:nvSpPr>
        <p:spPr>
          <a:xfrm>
            <a:off x="6272784" y="1755648"/>
            <a:ext cx="5349240" cy="1965960"/>
          </a:xfrm>
          <a:prstGeom prst="roundRect">
            <a:avLst>
              <a:gd name="adj" fmla="val 3721"/>
            </a:avLst>
          </a:prstGeom>
          <a:solidFill>
            <a:srgbClr val="1B2130"/>
          </a:solidFill>
          <a:ln w="15875">
            <a:solidFill>
              <a:srgbClr val="10B981"/>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510528" y="1965960"/>
            <a:ext cx="118872" cy="118872"/>
          </a:xfrm>
          <a:prstGeom prst="ellipse">
            <a:avLst/>
          </a:prstGeom>
          <a:solidFill>
            <a:srgbClr val="10B981"/>
          </a:solidFill>
          <a:ln w="12700">
            <a:solidFill>
              <a:srgbClr val="333333"/>
            </a:solidFill>
            <a:prstDash val="solid"/>
          </a:ln>
        </p:spPr>
      </p:sp>
      <p:sp>
        <p:nvSpPr>
          <p:cNvPr id="11" name="Text 8"/>
          <p:cNvSpPr txBox="1"/>
          <p:nvPr/>
        </p:nvSpPr>
        <p:spPr>
          <a:xfrm>
            <a:off x="6711696" y="1911096"/>
            <a:ext cx="4672584" cy="219456"/>
          </a:xfrm>
          <a:prstGeom prst="rect">
            <a:avLst/>
          </a:prstGeom>
          <a:noFill/>
          <a:ln/>
        </p:spPr>
        <p:txBody>
          <a:bodyPr wrap="square" lIns="0" tIns="0" rIns="0" bIns="0" rtlCol="0" anchor="ctr"/>
          <a:lstStyle/>
          <a:p>
            <a:pPr indent="0" marL="0">
              <a:buNone/>
            </a:pPr>
            <a:r>
              <a:rPr lang="en-US" sz="900" b="1" spc="120" kern="0" dirty="0">
                <a:solidFill>
                  <a:srgbClr val="10B981"/>
                </a:solidFill>
                <a:latin typeface="Calibri" pitchFamily="34" charset="0"/>
                <a:ea typeface="Calibri" pitchFamily="34" charset="-122"/>
                <a:cs typeface="Calibri" pitchFamily="34" charset="-120"/>
              </a:rPr>
              <a:t>RECIPROCAL RANK FUSION</a:t>
            </a:r>
            <a:endParaRPr lang="en-US" sz="900" dirty="0"/>
          </a:p>
        </p:txBody>
      </p:sp>
      <p:sp>
        <p:nvSpPr>
          <p:cNvPr id="12" name="Text 9"/>
          <p:cNvSpPr txBox="1"/>
          <p:nvPr/>
        </p:nvSpPr>
        <p:spPr>
          <a:xfrm>
            <a:off x="6510528" y="2212848"/>
            <a:ext cx="4873752" cy="136245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score(d)  =  Σ  1 / (60 + rang)</a:t>
            </a:r>
            <a:endParaRPr lang="en-US" sz="1250" dirty="0"/>
          </a:p>
          <a:p>
            <a:pPr indent="0" marL="0">
              <a:lnSpc>
                <a:spcPct val="125000"/>
              </a:lnSpc>
              <a:buNone/>
            </a:pPr>
            <a:endParaRPr lang="en-US" sz="1250" dirty="0"/>
          </a:p>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Seuls les rangs interviennent — ils sont dans la même unité par construction. La constante 60 amortit le sommet : sans elle, la 1re place vaudrait deux fois la 2e, donnant à un seul moteur un droit de veto.</a:t>
            </a:r>
            <a:endParaRPr lang="en-US" sz="1250" dirty="0"/>
          </a:p>
        </p:txBody>
      </p:sp>
      <p:sp>
        <p:nvSpPr>
          <p:cNvPr id="13" name="Shape 10"/>
          <p:cNvSpPr/>
          <p:nvPr/>
        </p:nvSpPr>
        <p:spPr>
          <a:xfrm>
            <a:off x="566928" y="3977640"/>
            <a:ext cx="5349240" cy="1600200"/>
          </a:xfrm>
          <a:prstGeom prst="roundRect">
            <a:avLst>
              <a:gd name="adj" fmla="val 457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4" name="Text 11"/>
          <p:cNvSpPr txBox="1"/>
          <p:nvPr/>
        </p:nvSpPr>
        <p:spPr>
          <a:xfrm>
            <a:off x="804672" y="416052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 COMPORTEMENT VOULU</a:t>
            </a:r>
            <a:endParaRPr lang="en-US" sz="900" dirty="0"/>
          </a:p>
        </p:txBody>
      </p:sp>
      <p:sp>
        <p:nvSpPr>
          <p:cNvPr id="15" name="Text 12"/>
          <p:cNvSpPr txBox="1"/>
          <p:nvPr/>
        </p:nvSpPr>
        <p:spPr>
          <a:xfrm>
            <a:off x="804672" y="4398264"/>
            <a:ext cx="4873752" cy="103327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Un document 2e chez les deux moteurs passe devant un document 1er chez un seul. L'accord entre deux méthodes indépendantes est un signal de pertinence.</a:t>
            </a:r>
            <a:endParaRPr lang="en-US" sz="1200" dirty="0"/>
          </a:p>
        </p:txBody>
      </p:sp>
      <p:sp>
        <p:nvSpPr>
          <p:cNvPr id="16" name="Shape 13"/>
          <p:cNvSpPr/>
          <p:nvPr/>
        </p:nvSpPr>
        <p:spPr>
          <a:xfrm>
            <a:off x="6272784" y="3977640"/>
            <a:ext cx="5349240" cy="1600200"/>
          </a:xfrm>
          <a:prstGeom prst="roundRect">
            <a:avLst>
              <a:gd name="adj" fmla="val 457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6510528" y="416052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 CAS LIMITE, DÉJÀ TRAITÉ</a:t>
            </a:r>
            <a:endParaRPr lang="en-US" sz="900" dirty="0"/>
          </a:p>
        </p:txBody>
      </p:sp>
      <p:sp>
        <p:nvSpPr>
          <p:cNvPr id="18" name="Text 15"/>
          <p:cNvSpPr txBox="1"/>
          <p:nvPr/>
        </p:nvSpPr>
        <p:spPr>
          <a:xfrm>
            <a:off x="6510528" y="4398264"/>
            <a:ext cx="4873752" cy="103327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Quand BM25 ne renvoie rien — toutes les requêtes arabes — la somme se réduit à un seul terme et la fusion rend le classement sémantique inchangé. Aucun traitement particulier.</a:t>
            </a:r>
            <a:endParaRPr lang="en-US" sz="1200" dirty="0"/>
          </a:p>
        </p:txBody>
      </p:sp>
      <p:sp>
        <p:nvSpPr>
          <p:cNvPr id="19" name="Text 16"/>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Pourquoi fusionner les rangs</a:t>
            </a:r>
            <a:endParaRPr lang="en-US" sz="900" dirty="0"/>
          </a:p>
        </p:txBody>
      </p:sp>
      <p:sp>
        <p:nvSpPr>
          <p:cNvPr id="20" name="Text 17"/>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11 / 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ÉTAPE 5</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Une API, une interface, aucun couplage</a:t>
            </a:r>
            <a:endParaRPr lang="en-US" sz="3400" dirty="0"/>
          </a:p>
        </p:txBody>
      </p:sp>
      <p:sp>
        <p:nvSpPr>
          <p:cNvPr id="6" name="Shape 3"/>
          <p:cNvSpPr/>
          <p:nvPr/>
        </p:nvSpPr>
        <p:spPr>
          <a:xfrm>
            <a:off x="566928" y="1755648"/>
            <a:ext cx="3478682" cy="1005840"/>
          </a:xfrm>
          <a:prstGeom prst="roundRect">
            <a:avLst>
              <a:gd name="adj" fmla="val 636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713232" y="1865376"/>
            <a:ext cx="3186074" cy="182880"/>
          </a:xfrm>
          <a:prstGeom prst="rect">
            <a:avLst/>
          </a:prstGeom>
          <a:noFill/>
          <a:ln/>
        </p:spPr>
        <p:txBody>
          <a:bodyPr wrap="square" lIns="0" tIns="0" rIns="0" bIns="0" rtlCol="0" anchor="ctr"/>
          <a:lstStyle/>
          <a:p>
            <a:pPr indent="0" marL="0">
              <a:buNone/>
            </a:pPr>
            <a:r>
              <a:rPr lang="en-US" sz="850" b="1" dirty="0">
                <a:solidFill>
                  <a:srgbClr val="8B5CF6"/>
                </a:solidFill>
                <a:latin typeface="Consolas" pitchFamily="34" charset="0"/>
                <a:ea typeface="Consolas" pitchFamily="34" charset="-122"/>
                <a:cs typeface="Consolas" pitchFamily="34" charset="-120"/>
              </a:rPr>
              <a:t>moteur</a:t>
            </a:r>
            <a:endParaRPr lang="en-US" sz="850" dirty="0"/>
          </a:p>
        </p:txBody>
      </p:sp>
      <p:sp>
        <p:nvSpPr>
          <p:cNvPr id="8" name="Text 5"/>
          <p:cNvSpPr txBox="1"/>
          <p:nvPr/>
        </p:nvSpPr>
        <p:spPr>
          <a:xfrm>
            <a:off x="713232" y="2057400"/>
            <a:ext cx="3186074"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Bibliothèque Python</a:t>
            </a:r>
            <a:endParaRPr lang="en-US" sz="1200" dirty="0"/>
          </a:p>
        </p:txBody>
      </p:sp>
      <p:sp>
        <p:nvSpPr>
          <p:cNvPr id="9" name="Text 6"/>
          <p:cNvSpPr txBox="1"/>
          <p:nvPr/>
        </p:nvSpPr>
        <p:spPr>
          <a:xfrm>
            <a:off x="713232" y="2331720"/>
            <a:ext cx="3186074" cy="32004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src/ — indexer et chercher</a:t>
            </a:r>
            <a:endParaRPr lang="en-US" sz="950" dirty="0"/>
          </a:p>
        </p:txBody>
      </p:sp>
      <p:sp>
        <p:nvSpPr>
          <p:cNvPr id="10" name="Text 7"/>
          <p:cNvSpPr txBox="1"/>
          <p:nvPr/>
        </p:nvSpPr>
        <p:spPr>
          <a:xfrm>
            <a:off x="4045610" y="2121408"/>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11" name="Shape 8"/>
          <p:cNvSpPr/>
          <p:nvPr/>
        </p:nvSpPr>
        <p:spPr>
          <a:xfrm>
            <a:off x="4356506" y="1755648"/>
            <a:ext cx="3478682" cy="1005840"/>
          </a:xfrm>
          <a:prstGeom prst="roundRect">
            <a:avLst>
              <a:gd name="adj" fmla="val 636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4502810" y="1865376"/>
            <a:ext cx="3186074" cy="182880"/>
          </a:xfrm>
          <a:prstGeom prst="rect">
            <a:avLst/>
          </a:prstGeom>
          <a:noFill/>
          <a:ln/>
        </p:spPr>
        <p:txBody>
          <a:bodyPr wrap="square" lIns="0" tIns="0" rIns="0" bIns="0" rtlCol="0" anchor="ctr"/>
          <a:lstStyle/>
          <a:p>
            <a:pPr indent="0" marL="0">
              <a:buNone/>
            </a:pPr>
            <a:r>
              <a:rPr lang="en-US" sz="850" b="1" dirty="0">
                <a:solidFill>
                  <a:srgbClr val="22D3EE"/>
                </a:solidFill>
                <a:latin typeface="Consolas" pitchFamily="34" charset="0"/>
                <a:ea typeface="Consolas" pitchFamily="34" charset="-122"/>
                <a:cs typeface="Consolas" pitchFamily="34" charset="-120"/>
              </a:rPr>
              <a:t>service</a:t>
            </a:r>
            <a:endParaRPr lang="en-US" sz="850" dirty="0"/>
          </a:p>
        </p:txBody>
      </p:sp>
      <p:sp>
        <p:nvSpPr>
          <p:cNvPr id="13" name="Text 10"/>
          <p:cNvSpPr txBox="1"/>
          <p:nvPr/>
        </p:nvSpPr>
        <p:spPr>
          <a:xfrm>
            <a:off x="4502810" y="2057400"/>
            <a:ext cx="3186074"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FastAPI</a:t>
            </a:r>
            <a:endParaRPr lang="en-US" sz="1200" dirty="0"/>
          </a:p>
        </p:txBody>
      </p:sp>
      <p:sp>
        <p:nvSpPr>
          <p:cNvPr id="14" name="Text 11"/>
          <p:cNvSpPr txBox="1"/>
          <p:nvPr/>
        </p:nvSpPr>
        <p:spPr>
          <a:xfrm>
            <a:off x="4502810" y="2331720"/>
            <a:ext cx="3186074" cy="32004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index chargé une seule fois</a:t>
            </a:r>
            <a:endParaRPr lang="en-US" sz="950" dirty="0"/>
          </a:p>
        </p:txBody>
      </p:sp>
      <p:sp>
        <p:nvSpPr>
          <p:cNvPr id="15" name="Text 12"/>
          <p:cNvSpPr txBox="1"/>
          <p:nvPr/>
        </p:nvSpPr>
        <p:spPr>
          <a:xfrm>
            <a:off x="7835189" y="2121408"/>
            <a:ext cx="310896" cy="274320"/>
          </a:xfrm>
          <a:prstGeom prst="rect">
            <a:avLst/>
          </a:prstGeom>
          <a:noFill/>
          <a:ln/>
        </p:spPr>
        <p:txBody>
          <a:bodyPr wrap="square" lIns="0" tIns="0" rIns="0" bIns="0" rtlCol="0" anchor="ctr"/>
          <a:lstStyle/>
          <a:p>
            <a:pPr algn="ctr" indent="0" marL="0">
              <a:buNone/>
            </a:pPr>
            <a:r>
              <a:rPr lang="en-US" sz="1100" dirty="0">
                <a:solidFill>
                  <a:srgbClr val="727C96"/>
                </a:solidFill>
                <a:latin typeface="Calibri" pitchFamily="34" charset="0"/>
                <a:ea typeface="Calibri" pitchFamily="34" charset="-122"/>
                <a:cs typeface="Calibri" pitchFamily="34" charset="-120"/>
              </a:rPr>
              <a:t>▶</a:t>
            </a:r>
            <a:endParaRPr lang="en-US" sz="1100" dirty="0"/>
          </a:p>
        </p:txBody>
      </p:sp>
      <p:sp>
        <p:nvSpPr>
          <p:cNvPr id="16" name="Shape 13"/>
          <p:cNvSpPr/>
          <p:nvPr/>
        </p:nvSpPr>
        <p:spPr>
          <a:xfrm>
            <a:off x="8146085" y="1755648"/>
            <a:ext cx="3478682" cy="1005840"/>
          </a:xfrm>
          <a:prstGeom prst="roundRect">
            <a:avLst>
              <a:gd name="adj" fmla="val 636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8292389" y="1865376"/>
            <a:ext cx="3186074" cy="182880"/>
          </a:xfrm>
          <a:prstGeom prst="rect">
            <a:avLst/>
          </a:prstGeom>
          <a:noFill/>
          <a:ln/>
        </p:spPr>
        <p:txBody>
          <a:bodyPr wrap="square" lIns="0" tIns="0" rIns="0" bIns="0" rtlCol="0" anchor="ctr"/>
          <a:lstStyle/>
          <a:p>
            <a:pPr indent="0" marL="0">
              <a:buNone/>
            </a:pPr>
            <a:r>
              <a:rPr lang="en-US" sz="850" b="1" dirty="0">
                <a:solidFill>
                  <a:srgbClr val="10B981"/>
                </a:solidFill>
                <a:latin typeface="Consolas" pitchFamily="34" charset="0"/>
                <a:ea typeface="Consolas" pitchFamily="34" charset="-122"/>
                <a:cs typeface="Consolas" pitchFamily="34" charset="-120"/>
              </a:rPr>
              <a:t>client</a:t>
            </a:r>
            <a:endParaRPr lang="en-US" sz="850" dirty="0"/>
          </a:p>
        </p:txBody>
      </p:sp>
      <p:sp>
        <p:nvSpPr>
          <p:cNvPr id="18" name="Text 15"/>
          <p:cNvSpPr txBox="1"/>
          <p:nvPr/>
        </p:nvSpPr>
        <p:spPr>
          <a:xfrm>
            <a:off x="8292389" y="2057400"/>
            <a:ext cx="3186074" cy="274320"/>
          </a:xfrm>
          <a:prstGeom prst="rect">
            <a:avLst/>
          </a:prstGeom>
          <a:noFill/>
          <a:ln/>
        </p:spPr>
        <p:txBody>
          <a:bodyPr wrap="square" lIns="0" tIns="0" rIns="0" bIns="0" rtlCol="0" anchor="t"/>
          <a:lstStyle/>
          <a:p>
            <a:pPr indent="0" marL="0">
              <a:buNone/>
            </a:pPr>
            <a:r>
              <a:rPr lang="en-US" sz="1200" b="1" dirty="0">
                <a:solidFill>
                  <a:srgbClr val="E9ECF5"/>
                </a:solidFill>
                <a:latin typeface="Calibri" pitchFamily="34" charset="0"/>
                <a:ea typeface="Calibri" pitchFamily="34" charset="-122"/>
                <a:cs typeface="Calibri" pitchFamily="34" charset="-120"/>
              </a:rPr>
              <a:t>Streamlit</a:t>
            </a:r>
            <a:endParaRPr lang="en-US" sz="1200" dirty="0"/>
          </a:p>
        </p:txBody>
      </p:sp>
      <p:sp>
        <p:nvSpPr>
          <p:cNvPr id="19" name="Text 16"/>
          <p:cNvSpPr txBox="1"/>
          <p:nvPr/>
        </p:nvSpPr>
        <p:spPr>
          <a:xfrm>
            <a:off x="8292389" y="2331720"/>
            <a:ext cx="3186074" cy="32004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n'appelle que des routes HTTP</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6035040" cy="914400"/>
        </p:xfrm>
        <a:graphic>
          <a:graphicData uri="http://schemas.openxmlformats.org/drawingml/2006/table">
            <a:tbl>
              <a:tblPr/>
              <a:tblGrid>
                <a:gridCol w="1828800"/>
                <a:gridCol w="4206240"/>
              </a:tblGrid>
              <a:tr h="365760">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Route</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Ce qu'elle apporte</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65760">
                <a:tc>
                  <a:txBody>
                    <a:bodyPr/>
                    <a:lstStyle/>
                    <a:p>
                      <a:pPr algn="l" indent="0" marL="0">
                        <a:buNone/>
                      </a:pPr>
                      <a:r>
                        <a:rPr lang="en-US" sz="1150" dirty="0">
                          <a:solidFill>
                            <a:srgbClr val="8B5CF6"/>
                          </a:solidFill>
                          <a:latin typeface="Consolas" pitchFamily="34" charset="0"/>
                          <a:ea typeface="Consolas" pitchFamily="34" charset="-122"/>
                          <a:cs typeface="Consolas" pitchFamily="34" charset="-120"/>
                        </a:rPr>
                        <a:t>/recherche</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un moteur, k résultats, filtres, explications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65760">
                <a:tc>
                  <a:txBody>
                    <a:bodyPr/>
                    <a:lstStyle/>
                    <a:p>
                      <a:pPr algn="l" indent="0" marL="0">
                        <a:buNone/>
                      </a:pPr>
                      <a:r>
                        <a:rPr lang="en-US" sz="1150" dirty="0">
                          <a:solidFill>
                            <a:srgbClr val="8B5CF6"/>
                          </a:solidFill>
                          <a:latin typeface="Consolas" pitchFamily="34" charset="0"/>
                          <a:ea typeface="Consolas" pitchFamily="34" charset="-122"/>
                          <a:cs typeface="Consolas" pitchFamily="34" charset="-120"/>
                        </a:rPr>
                        <a:t>/comparer</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b="1" dirty="0">
                          <a:solidFill>
                            <a:srgbClr val="E9ECF5"/>
                          </a:solidFill>
                          <a:latin typeface="Calibri" pitchFamily="34" charset="0"/>
                          <a:ea typeface="Calibri" pitchFamily="34" charset="-122"/>
                          <a:cs typeface="Calibri" pitchFamily="34" charset="-120"/>
                        </a:rPr>
                        <a:t>plusieurs moteurs + l'analyse de leurs écarts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65760">
                <a:tc>
                  <a:txBody>
                    <a:bodyPr/>
                    <a:lstStyle/>
                    <a:p>
                      <a:pPr algn="l" indent="0" marL="0">
                        <a:buNone/>
                      </a:pPr>
                      <a:r>
                        <a:rPr lang="en-US" sz="1150" dirty="0">
                          <a:solidFill>
                            <a:srgbClr val="8B5CF6"/>
                          </a:solidFill>
                          <a:latin typeface="Consolas" pitchFamily="34" charset="0"/>
                          <a:ea typeface="Consolas" pitchFamily="34" charset="-122"/>
                          <a:cs typeface="Consolas" pitchFamily="34" charset="-120"/>
                        </a:rPr>
                        <a:t>/facettes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catégories et années réellement présentes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65760">
                <a:tc>
                  <a:txBody>
                    <a:bodyPr/>
                    <a:lstStyle/>
                    <a:p>
                      <a:pPr algn="l" indent="0" marL="0">
                        <a:buNone/>
                      </a:pPr>
                      <a:r>
                        <a:rPr lang="en-US" sz="1150" dirty="0">
                          <a:solidFill>
                            <a:srgbClr val="8B5CF6"/>
                          </a:solidFill>
                          <a:latin typeface="Consolas" pitchFamily="34" charset="0"/>
                          <a:ea typeface="Consolas" pitchFamily="34" charset="-122"/>
                          <a:cs typeface="Consolas" pitchFamily="34" charset="-120"/>
                        </a:rPr>
                        <a:t>/metriques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les résultats de l'évaluation, servis tels quels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21" name="Shape 17"/>
          <p:cNvSpPr/>
          <p:nvPr/>
        </p:nvSpPr>
        <p:spPr>
          <a:xfrm>
            <a:off x="6967728" y="3017520"/>
            <a:ext cx="4654296" cy="2651760"/>
          </a:xfrm>
          <a:prstGeom prst="roundRect">
            <a:avLst>
              <a:gd name="adj" fmla="val 2759"/>
            </a:avLst>
          </a:prstGeom>
          <a:solidFill>
            <a:srgbClr val="1B2130"/>
          </a:solidFill>
          <a:ln w="15875">
            <a:solidFill>
              <a:srgbClr val="22D3EE"/>
            </a:solidFill>
            <a:prstDash val="solid"/>
          </a:ln>
          <a:effectLst>
            <a:outerShdw sx="100000" sy="100000" kx="0" ky="0" algn="bl" rotWithShape="0" blurRad="127000" dist="38100" dir="5400000">
              <a:srgbClr val="000000">
                <a:alpha val="35000"/>
              </a:srgbClr>
            </a:outerShdw>
          </a:effectLst>
        </p:spPr>
      </p:sp>
      <p:sp>
        <p:nvSpPr>
          <p:cNvPr id="22" name="Shape 18"/>
          <p:cNvSpPr/>
          <p:nvPr/>
        </p:nvSpPr>
        <p:spPr>
          <a:xfrm>
            <a:off x="7205472" y="3227832"/>
            <a:ext cx="118872" cy="118872"/>
          </a:xfrm>
          <a:prstGeom prst="ellipse">
            <a:avLst/>
          </a:prstGeom>
          <a:solidFill>
            <a:srgbClr val="22D3EE"/>
          </a:solidFill>
          <a:ln w="12700">
            <a:solidFill>
              <a:srgbClr val="333333"/>
            </a:solidFill>
            <a:prstDash val="solid"/>
          </a:ln>
        </p:spPr>
      </p:sp>
      <p:sp>
        <p:nvSpPr>
          <p:cNvPr id="23" name="Text 19"/>
          <p:cNvSpPr txBox="1"/>
          <p:nvPr/>
        </p:nvSpPr>
        <p:spPr>
          <a:xfrm>
            <a:off x="7406640" y="3172968"/>
            <a:ext cx="3977640" cy="219456"/>
          </a:xfrm>
          <a:prstGeom prst="rect">
            <a:avLst/>
          </a:prstGeom>
          <a:noFill/>
          <a:ln/>
        </p:spPr>
        <p:txBody>
          <a:bodyPr wrap="square" lIns="0" tIns="0" rIns="0" bIns="0" rtlCol="0" anchor="ctr"/>
          <a:lstStyle/>
          <a:p>
            <a:pPr indent="0" marL="0">
              <a:buNone/>
            </a:pPr>
            <a:r>
              <a:rPr lang="en-US" sz="900" b="1" spc="120" kern="0" dirty="0">
                <a:solidFill>
                  <a:srgbClr val="22D3EE"/>
                </a:solidFill>
                <a:latin typeface="Calibri" pitchFamily="34" charset="0"/>
                <a:ea typeface="Calibri" pitchFamily="34" charset="-122"/>
                <a:cs typeface="Calibri" pitchFamily="34" charset="-120"/>
              </a:rPr>
              <a:t>TROIS BÉNÉFICES CONCRETS</a:t>
            </a:r>
            <a:endParaRPr lang="en-US" sz="900" dirty="0"/>
          </a:p>
        </p:txBody>
      </p:sp>
      <p:sp>
        <p:nvSpPr>
          <p:cNvPr id="24" name="Text 20"/>
          <p:cNvSpPr txBox="1"/>
          <p:nvPr/>
        </p:nvSpPr>
        <p:spPr>
          <a:xfrm>
            <a:off x="7205472" y="3474720"/>
            <a:ext cx="4178808" cy="2048256"/>
          </a:xfrm>
          <a:prstGeom prst="rect">
            <a:avLst/>
          </a:prstGeom>
          <a:noFill/>
          <a:ln/>
        </p:spPr>
        <p:txBody>
          <a:bodyPr wrap="square" lIns="0" tIns="0" rIns="0" bIns="0" rtlCol="0" anchor="t"/>
          <a:lstStyle/>
          <a:p>
            <a:pPr indent="0" marL="0">
              <a:lnSpc>
                <a:spcPct val="125000"/>
              </a:lnSpc>
              <a:buNone/>
            </a:pPr>
            <a:r>
              <a:rPr lang="en-US" sz="1150" dirty="0">
                <a:solidFill>
                  <a:srgbClr val="E9ECF5"/>
                </a:solidFill>
                <a:latin typeface="Calibri" pitchFamily="34" charset="0"/>
                <a:ea typeface="Calibri" pitchFamily="34" charset="-122"/>
                <a:cs typeface="Calibri" pitchFamily="34" charset="-120"/>
              </a:rPr>
              <a:t>1. L'index et le modèle sont chargés une fois au démarrage. Un préchauffage explicite évite que le premier utilisateur paie les 15 secondes de chargement.</a:t>
            </a:r>
            <a:endParaRPr lang="en-US" sz="1150" dirty="0"/>
          </a:p>
          <a:p>
            <a:pPr indent="0" marL="0">
              <a:lnSpc>
                <a:spcPct val="125000"/>
              </a:lnSpc>
              <a:buNone/>
            </a:pPr>
            <a:endParaRPr lang="en-US" sz="1150" dirty="0"/>
          </a:p>
          <a:p>
            <a:pPr indent="0" marL="0">
              <a:lnSpc>
                <a:spcPct val="125000"/>
              </a:lnSpc>
              <a:buNone/>
            </a:pPr>
            <a:r>
              <a:rPr lang="en-US" sz="1150" dirty="0">
                <a:solidFill>
                  <a:srgbClr val="E9ECF5"/>
                </a:solidFill>
                <a:latin typeface="Calibri" pitchFamily="34" charset="0"/>
                <a:ea typeface="Calibri" pitchFamily="34" charset="-122"/>
                <a:cs typeface="Calibri" pitchFamily="34" charset="-120"/>
              </a:rPr>
              <a:t>2. L'interface ignore tout du fonctionnement interne : changer de modèle ne touche pas une ligne d'affichage.</a:t>
            </a:r>
            <a:endParaRPr lang="en-US" sz="1150" dirty="0"/>
          </a:p>
          <a:p>
            <a:pPr indent="0" marL="0">
              <a:lnSpc>
                <a:spcPct val="125000"/>
              </a:lnSpc>
              <a:buNone/>
            </a:pPr>
            <a:endParaRPr lang="en-US" sz="1150" dirty="0"/>
          </a:p>
          <a:p>
            <a:pPr indent="0" marL="0">
              <a:lnSpc>
                <a:spcPct val="125000"/>
              </a:lnSpc>
              <a:buNone/>
            </a:pPr>
            <a:r>
              <a:rPr lang="en-US" sz="1150" dirty="0">
                <a:solidFill>
                  <a:srgbClr val="E9ECF5"/>
                </a:solidFill>
                <a:latin typeface="Calibri" pitchFamily="34" charset="0"/>
                <a:ea typeface="Calibri" pitchFamily="34" charset="-122"/>
                <a:cs typeface="Calibri" pitchFamily="34" charset="-120"/>
              </a:rPr>
              <a:t>3. FastAPI génère une documentation interactive — pratique pour montrer le moteur sans l'interface.</a:t>
            </a:r>
            <a:endParaRPr lang="en-US" sz="1150" dirty="0"/>
          </a:p>
        </p:txBody>
      </p:sp>
      <p:sp>
        <p:nvSpPr>
          <p:cNvPr id="25" name="Text 21"/>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L'application</a:t>
            </a:r>
            <a:endParaRPr lang="en-US" sz="900" dirty="0"/>
          </a:p>
        </p:txBody>
      </p:sp>
      <p:sp>
        <p:nvSpPr>
          <p:cNvPr id="26" name="Text 22"/>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12 / 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L'APPLICATION</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Cinq vues, dans l'ordre d'une soutenance</a:t>
            </a:r>
            <a:endParaRPr lang="en-US" sz="3400" dirty="0"/>
          </a:p>
        </p:txBody>
      </p:sp>
      <p:sp>
        <p:nvSpPr>
          <p:cNvPr id="6" name="Shape 3"/>
          <p:cNvSpPr/>
          <p:nvPr/>
        </p:nvSpPr>
        <p:spPr>
          <a:xfrm>
            <a:off x="566928" y="1755648"/>
            <a:ext cx="2021373" cy="2103120"/>
          </a:xfrm>
          <a:prstGeom prst="roundRect">
            <a:avLst>
              <a:gd name="adj" fmla="val 36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1545885"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01</a:t>
            </a:r>
            <a:endParaRPr lang="en-US" sz="900" dirty="0"/>
          </a:p>
        </p:txBody>
      </p:sp>
      <p:sp>
        <p:nvSpPr>
          <p:cNvPr id="8" name="Shape 5"/>
          <p:cNvSpPr/>
          <p:nvPr/>
        </p:nvSpPr>
        <p:spPr>
          <a:xfrm>
            <a:off x="804672" y="2244852"/>
            <a:ext cx="118872" cy="118872"/>
          </a:xfrm>
          <a:prstGeom prst="ellipse">
            <a:avLst/>
          </a:prstGeom>
          <a:solidFill>
            <a:srgbClr val="8B5CF6"/>
          </a:solidFill>
          <a:ln w="12700">
            <a:solidFill>
              <a:srgbClr val="333333"/>
            </a:solidFill>
            <a:prstDash val="solid"/>
          </a:ln>
        </p:spPr>
      </p:sp>
      <p:sp>
        <p:nvSpPr>
          <p:cNvPr id="9" name="Text 6"/>
          <p:cNvSpPr txBox="1"/>
          <p:nvPr/>
        </p:nvSpPr>
        <p:spPr>
          <a:xfrm>
            <a:off x="1005840" y="2176272"/>
            <a:ext cx="1344717" cy="292608"/>
          </a:xfrm>
          <a:prstGeom prst="rect">
            <a:avLst/>
          </a:prstGeom>
          <a:noFill/>
          <a:ln/>
        </p:spPr>
        <p:txBody>
          <a:bodyPr wrap="square" lIns="0" tIns="0" rIns="0" bIns="0" rtlCol="0" anchor="t"/>
          <a:lstStyle/>
          <a:p>
            <a:pPr indent="0" marL="0">
              <a:buNone/>
            </a:pPr>
            <a:r>
              <a:rPr lang="en-US" sz="1350" b="1" dirty="0">
                <a:solidFill>
                  <a:srgbClr val="E9ECF5"/>
                </a:solidFill>
                <a:latin typeface="Calibri" pitchFamily="34" charset="0"/>
                <a:ea typeface="Calibri" pitchFamily="34" charset="-122"/>
                <a:cs typeface="Calibri" pitchFamily="34" charset="-120"/>
              </a:rPr>
              <a:t>Recherche</a:t>
            </a:r>
            <a:endParaRPr lang="en-US" sz="1350" dirty="0"/>
          </a:p>
        </p:txBody>
      </p:sp>
      <p:sp>
        <p:nvSpPr>
          <p:cNvPr id="10" name="Text 7"/>
          <p:cNvSpPr txBox="1"/>
          <p:nvPr/>
        </p:nvSpPr>
        <p:spPr>
          <a:xfrm>
            <a:off x="804672" y="2487168"/>
            <a:ext cx="1545885" cy="122529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poser une question, choisir le moteur, filtrer, lire les résultats justifiés</a:t>
            </a:r>
            <a:endParaRPr lang="en-US" sz="1050" dirty="0"/>
          </a:p>
        </p:txBody>
      </p:sp>
      <p:sp>
        <p:nvSpPr>
          <p:cNvPr id="11" name="Shape 8"/>
          <p:cNvSpPr/>
          <p:nvPr/>
        </p:nvSpPr>
        <p:spPr>
          <a:xfrm>
            <a:off x="2826045" y="1755648"/>
            <a:ext cx="2021373" cy="2103120"/>
          </a:xfrm>
          <a:prstGeom prst="roundRect">
            <a:avLst>
              <a:gd name="adj" fmla="val 36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3063789" y="1938528"/>
            <a:ext cx="1545885"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02</a:t>
            </a:r>
            <a:endParaRPr lang="en-US" sz="900" dirty="0"/>
          </a:p>
        </p:txBody>
      </p:sp>
      <p:sp>
        <p:nvSpPr>
          <p:cNvPr id="13" name="Shape 10"/>
          <p:cNvSpPr/>
          <p:nvPr/>
        </p:nvSpPr>
        <p:spPr>
          <a:xfrm>
            <a:off x="3063789" y="2244852"/>
            <a:ext cx="118872" cy="118872"/>
          </a:xfrm>
          <a:prstGeom prst="ellipse">
            <a:avLst/>
          </a:prstGeom>
          <a:solidFill>
            <a:srgbClr val="F59E0B"/>
          </a:solidFill>
          <a:ln w="12700">
            <a:solidFill>
              <a:srgbClr val="333333"/>
            </a:solidFill>
            <a:prstDash val="solid"/>
          </a:ln>
        </p:spPr>
      </p:sp>
      <p:sp>
        <p:nvSpPr>
          <p:cNvPr id="14" name="Text 11"/>
          <p:cNvSpPr txBox="1"/>
          <p:nvPr/>
        </p:nvSpPr>
        <p:spPr>
          <a:xfrm>
            <a:off x="3264957" y="2176272"/>
            <a:ext cx="1344717" cy="292608"/>
          </a:xfrm>
          <a:prstGeom prst="rect">
            <a:avLst/>
          </a:prstGeom>
          <a:noFill/>
          <a:ln/>
        </p:spPr>
        <p:txBody>
          <a:bodyPr wrap="square" lIns="0" tIns="0" rIns="0" bIns="0" rtlCol="0" anchor="t"/>
          <a:lstStyle/>
          <a:p>
            <a:pPr indent="0" marL="0">
              <a:buNone/>
            </a:pPr>
            <a:r>
              <a:rPr lang="en-US" sz="1350" b="1" dirty="0">
                <a:solidFill>
                  <a:srgbClr val="E9ECF5"/>
                </a:solidFill>
                <a:latin typeface="Calibri" pitchFamily="34" charset="0"/>
                <a:ea typeface="Calibri" pitchFamily="34" charset="-122"/>
                <a:cs typeface="Calibri" pitchFamily="34" charset="-120"/>
              </a:rPr>
              <a:t>Duel</a:t>
            </a:r>
            <a:endParaRPr lang="en-US" sz="1350" dirty="0"/>
          </a:p>
        </p:txBody>
      </p:sp>
      <p:sp>
        <p:nvSpPr>
          <p:cNvPr id="15" name="Text 12"/>
          <p:cNvSpPr txBox="1"/>
          <p:nvPr/>
        </p:nvSpPr>
        <p:spPr>
          <a:xfrm>
            <a:off x="3063789" y="2487168"/>
            <a:ext cx="1545885" cy="122529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la même question aux deux moteurs, et ce que chacun est seul à trouver</a:t>
            </a:r>
            <a:endParaRPr lang="en-US" sz="1050" dirty="0"/>
          </a:p>
        </p:txBody>
      </p:sp>
      <p:sp>
        <p:nvSpPr>
          <p:cNvPr id="16" name="Shape 13"/>
          <p:cNvSpPr/>
          <p:nvPr/>
        </p:nvSpPr>
        <p:spPr>
          <a:xfrm>
            <a:off x="5085161" y="1755648"/>
            <a:ext cx="2021373" cy="2103120"/>
          </a:xfrm>
          <a:prstGeom prst="roundRect">
            <a:avLst>
              <a:gd name="adj" fmla="val 36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5322905" y="1938528"/>
            <a:ext cx="1545885"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03</a:t>
            </a:r>
            <a:endParaRPr lang="en-US" sz="900" dirty="0"/>
          </a:p>
        </p:txBody>
      </p:sp>
      <p:sp>
        <p:nvSpPr>
          <p:cNvPr id="18" name="Shape 15"/>
          <p:cNvSpPr/>
          <p:nvPr/>
        </p:nvSpPr>
        <p:spPr>
          <a:xfrm>
            <a:off x="5322905" y="2244852"/>
            <a:ext cx="118872" cy="118872"/>
          </a:xfrm>
          <a:prstGeom prst="ellipse">
            <a:avLst/>
          </a:prstGeom>
          <a:solidFill>
            <a:srgbClr val="10B981"/>
          </a:solidFill>
          <a:ln w="12700">
            <a:solidFill>
              <a:srgbClr val="333333"/>
            </a:solidFill>
            <a:prstDash val="solid"/>
          </a:ln>
        </p:spPr>
      </p:sp>
      <p:sp>
        <p:nvSpPr>
          <p:cNvPr id="19" name="Text 16"/>
          <p:cNvSpPr txBox="1"/>
          <p:nvPr/>
        </p:nvSpPr>
        <p:spPr>
          <a:xfrm>
            <a:off x="5524073" y="2176272"/>
            <a:ext cx="1344717" cy="292608"/>
          </a:xfrm>
          <a:prstGeom prst="rect">
            <a:avLst/>
          </a:prstGeom>
          <a:noFill/>
          <a:ln/>
        </p:spPr>
        <p:txBody>
          <a:bodyPr wrap="square" lIns="0" tIns="0" rIns="0" bIns="0" rtlCol="0" anchor="t"/>
          <a:lstStyle/>
          <a:p>
            <a:pPr indent="0" marL="0">
              <a:buNone/>
            </a:pPr>
            <a:r>
              <a:rPr lang="en-US" sz="1350" b="1" dirty="0">
                <a:solidFill>
                  <a:srgbClr val="E9ECF5"/>
                </a:solidFill>
                <a:latin typeface="Calibri" pitchFamily="34" charset="0"/>
                <a:ea typeface="Calibri" pitchFamily="34" charset="-122"/>
                <a:cs typeface="Calibri" pitchFamily="34" charset="-120"/>
              </a:rPr>
              <a:t>Démonstration</a:t>
            </a:r>
            <a:endParaRPr lang="en-US" sz="1350" dirty="0"/>
          </a:p>
        </p:txBody>
      </p:sp>
      <p:sp>
        <p:nvSpPr>
          <p:cNvPr id="20" name="Text 17"/>
          <p:cNvSpPr txBox="1"/>
          <p:nvPr/>
        </p:nvSpPr>
        <p:spPr>
          <a:xfrm>
            <a:off x="5322905" y="2487168"/>
            <a:ext cx="1545885" cy="122529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le scénario multilingue en français, arabe et anglais</a:t>
            </a:r>
            <a:endParaRPr lang="en-US" sz="1050" dirty="0"/>
          </a:p>
        </p:txBody>
      </p:sp>
      <p:sp>
        <p:nvSpPr>
          <p:cNvPr id="21" name="Shape 18"/>
          <p:cNvSpPr/>
          <p:nvPr/>
        </p:nvSpPr>
        <p:spPr>
          <a:xfrm>
            <a:off x="7344278" y="1755648"/>
            <a:ext cx="2021373" cy="2103120"/>
          </a:xfrm>
          <a:prstGeom prst="roundRect">
            <a:avLst>
              <a:gd name="adj" fmla="val 36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2" name="Text 19"/>
          <p:cNvSpPr txBox="1"/>
          <p:nvPr/>
        </p:nvSpPr>
        <p:spPr>
          <a:xfrm>
            <a:off x="7582022" y="1938528"/>
            <a:ext cx="1545885"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04</a:t>
            </a:r>
            <a:endParaRPr lang="en-US" sz="900" dirty="0"/>
          </a:p>
        </p:txBody>
      </p:sp>
      <p:sp>
        <p:nvSpPr>
          <p:cNvPr id="23" name="Shape 20"/>
          <p:cNvSpPr/>
          <p:nvPr/>
        </p:nvSpPr>
        <p:spPr>
          <a:xfrm>
            <a:off x="7582022" y="2244852"/>
            <a:ext cx="118872" cy="118872"/>
          </a:xfrm>
          <a:prstGeom prst="ellipse">
            <a:avLst/>
          </a:prstGeom>
          <a:solidFill>
            <a:srgbClr val="22D3EE"/>
          </a:solidFill>
          <a:ln w="12700">
            <a:solidFill>
              <a:srgbClr val="333333"/>
            </a:solidFill>
            <a:prstDash val="solid"/>
          </a:ln>
        </p:spPr>
      </p:sp>
      <p:sp>
        <p:nvSpPr>
          <p:cNvPr id="24" name="Text 21"/>
          <p:cNvSpPr txBox="1"/>
          <p:nvPr/>
        </p:nvSpPr>
        <p:spPr>
          <a:xfrm>
            <a:off x="7783190" y="2176272"/>
            <a:ext cx="1344717" cy="292608"/>
          </a:xfrm>
          <a:prstGeom prst="rect">
            <a:avLst/>
          </a:prstGeom>
          <a:noFill/>
          <a:ln/>
        </p:spPr>
        <p:txBody>
          <a:bodyPr wrap="square" lIns="0" tIns="0" rIns="0" bIns="0" rtlCol="0" anchor="t"/>
          <a:lstStyle/>
          <a:p>
            <a:pPr indent="0" marL="0">
              <a:buNone/>
            </a:pPr>
            <a:r>
              <a:rPr lang="en-US" sz="1350" b="1" dirty="0">
                <a:solidFill>
                  <a:srgbClr val="E9ECF5"/>
                </a:solidFill>
                <a:latin typeface="Calibri" pitchFamily="34" charset="0"/>
                <a:ea typeface="Calibri" pitchFamily="34" charset="-122"/>
                <a:cs typeface="Calibri" pitchFamily="34" charset="-120"/>
              </a:rPr>
              <a:t>Évaluation</a:t>
            </a:r>
            <a:endParaRPr lang="en-US" sz="1350" dirty="0"/>
          </a:p>
        </p:txBody>
      </p:sp>
      <p:sp>
        <p:nvSpPr>
          <p:cNvPr id="25" name="Text 22"/>
          <p:cNvSpPr txBox="1"/>
          <p:nvPr/>
        </p:nvSpPr>
        <p:spPr>
          <a:xfrm>
            <a:off x="7582022" y="2487168"/>
            <a:ext cx="1545885" cy="122529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les mesures du protocole expérimental, en graphiques</a:t>
            </a:r>
            <a:endParaRPr lang="en-US" sz="1050" dirty="0"/>
          </a:p>
        </p:txBody>
      </p:sp>
      <p:sp>
        <p:nvSpPr>
          <p:cNvPr id="26" name="Shape 23"/>
          <p:cNvSpPr/>
          <p:nvPr/>
        </p:nvSpPr>
        <p:spPr>
          <a:xfrm>
            <a:off x="9603395" y="1755648"/>
            <a:ext cx="2021373" cy="2103120"/>
          </a:xfrm>
          <a:prstGeom prst="roundRect">
            <a:avLst>
              <a:gd name="adj" fmla="val 361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7" name="Text 24"/>
          <p:cNvSpPr txBox="1"/>
          <p:nvPr/>
        </p:nvSpPr>
        <p:spPr>
          <a:xfrm>
            <a:off x="9841139" y="1938528"/>
            <a:ext cx="1545885"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05</a:t>
            </a:r>
            <a:endParaRPr lang="en-US" sz="900" dirty="0"/>
          </a:p>
        </p:txBody>
      </p:sp>
      <p:sp>
        <p:nvSpPr>
          <p:cNvPr id="28" name="Shape 25"/>
          <p:cNvSpPr/>
          <p:nvPr/>
        </p:nvSpPr>
        <p:spPr>
          <a:xfrm>
            <a:off x="9841139" y="2244852"/>
            <a:ext cx="118872" cy="118872"/>
          </a:xfrm>
          <a:prstGeom prst="ellipse">
            <a:avLst/>
          </a:prstGeom>
          <a:solidFill>
            <a:srgbClr val="8B5CF6"/>
          </a:solidFill>
          <a:ln w="12700">
            <a:solidFill>
              <a:srgbClr val="333333"/>
            </a:solidFill>
            <a:prstDash val="solid"/>
          </a:ln>
        </p:spPr>
      </p:sp>
      <p:sp>
        <p:nvSpPr>
          <p:cNvPr id="29" name="Text 26"/>
          <p:cNvSpPr txBox="1"/>
          <p:nvPr/>
        </p:nvSpPr>
        <p:spPr>
          <a:xfrm>
            <a:off x="10042307" y="2176272"/>
            <a:ext cx="1344717" cy="292608"/>
          </a:xfrm>
          <a:prstGeom prst="rect">
            <a:avLst/>
          </a:prstGeom>
          <a:noFill/>
          <a:ln/>
        </p:spPr>
        <p:txBody>
          <a:bodyPr wrap="square" lIns="0" tIns="0" rIns="0" bIns="0" rtlCol="0" anchor="t"/>
          <a:lstStyle/>
          <a:p>
            <a:pPr indent="0" marL="0">
              <a:buNone/>
            </a:pPr>
            <a:r>
              <a:rPr lang="en-US" sz="1350" b="1" dirty="0">
                <a:solidFill>
                  <a:srgbClr val="E9ECF5"/>
                </a:solidFill>
                <a:latin typeface="Calibri" pitchFamily="34" charset="0"/>
                <a:ea typeface="Calibri" pitchFamily="34" charset="-122"/>
                <a:cs typeface="Calibri" pitchFamily="34" charset="-120"/>
              </a:rPr>
              <a:t>Architecture</a:t>
            </a:r>
            <a:endParaRPr lang="en-US" sz="1350" dirty="0"/>
          </a:p>
        </p:txBody>
      </p:sp>
      <p:sp>
        <p:nvSpPr>
          <p:cNvPr id="30" name="Text 27"/>
          <p:cNvSpPr txBox="1"/>
          <p:nvPr/>
        </p:nvSpPr>
        <p:spPr>
          <a:xfrm>
            <a:off x="9841139" y="2487168"/>
            <a:ext cx="1545885" cy="122529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les deux chaînes et ce qui tourne derrière</a:t>
            </a:r>
            <a:endParaRPr lang="en-US" sz="1050" dirty="0"/>
          </a:p>
        </p:txBody>
      </p:sp>
      <p:sp>
        <p:nvSpPr>
          <p:cNvPr id="31" name="Shape 28"/>
          <p:cNvSpPr/>
          <p:nvPr/>
        </p:nvSpPr>
        <p:spPr>
          <a:xfrm>
            <a:off x="566928" y="4114800"/>
            <a:ext cx="5349240" cy="1463040"/>
          </a:xfrm>
          <a:prstGeom prst="roundRect">
            <a:avLst>
              <a:gd name="adj" fmla="val 5000"/>
            </a:avLst>
          </a:prstGeom>
          <a:solidFill>
            <a:srgbClr val="1B2130"/>
          </a:solidFill>
          <a:ln w="15875">
            <a:solidFill>
              <a:srgbClr val="22D3EE"/>
            </a:solidFill>
            <a:prstDash val="solid"/>
          </a:ln>
          <a:effectLst>
            <a:outerShdw sx="100000" sy="100000" kx="0" ky="0" algn="bl" rotWithShape="0" blurRad="127000" dist="38100" dir="5400000">
              <a:srgbClr val="000000">
                <a:alpha val="35000"/>
              </a:srgbClr>
            </a:outerShdw>
          </a:effectLst>
        </p:spPr>
      </p:sp>
      <p:sp>
        <p:nvSpPr>
          <p:cNvPr id="32" name="Shape 29"/>
          <p:cNvSpPr/>
          <p:nvPr/>
        </p:nvSpPr>
        <p:spPr>
          <a:xfrm>
            <a:off x="804672" y="4325112"/>
            <a:ext cx="118872" cy="118872"/>
          </a:xfrm>
          <a:prstGeom prst="ellipse">
            <a:avLst/>
          </a:prstGeom>
          <a:solidFill>
            <a:srgbClr val="22D3EE"/>
          </a:solidFill>
          <a:ln w="12700">
            <a:solidFill>
              <a:srgbClr val="333333"/>
            </a:solidFill>
            <a:prstDash val="solid"/>
          </a:ln>
        </p:spPr>
      </p:sp>
      <p:sp>
        <p:nvSpPr>
          <p:cNvPr id="33" name="Text 30"/>
          <p:cNvSpPr txBox="1"/>
          <p:nvPr/>
        </p:nvSpPr>
        <p:spPr>
          <a:xfrm>
            <a:off x="1005840" y="4270248"/>
            <a:ext cx="4672584" cy="219456"/>
          </a:xfrm>
          <a:prstGeom prst="rect">
            <a:avLst/>
          </a:prstGeom>
          <a:noFill/>
          <a:ln/>
        </p:spPr>
        <p:txBody>
          <a:bodyPr wrap="square" lIns="0" tIns="0" rIns="0" bIns="0" rtlCol="0" anchor="ctr"/>
          <a:lstStyle/>
          <a:p>
            <a:pPr indent="0" marL="0">
              <a:buNone/>
            </a:pPr>
            <a:r>
              <a:rPr lang="en-US" sz="900" b="1" spc="120" kern="0" dirty="0">
                <a:solidFill>
                  <a:srgbClr val="22D3EE"/>
                </a:solidFill>
                <a:latin typeface="Calibri" pitchFamily="34" charset="0"/>
                <a:ea typeface="Calibri" pitchFamily="34" charset="-122"/>
                <a:cs typeface="Calibri" pitchFamily="34" charset="-120"/>
              </a:rPr>
              <a:t>UNE QUESTION TAPÉE UNE SEULE FOIS</a:t>
            </a:r>
            <a:endParaRPr lang="en-US" sz="900" dirty="0"/>
          </a:p>
        </p:txBody>
      </p:sp>
      <p:sp>
        <p:nvSpPr>
          <p:cNvPr id="34" name="Text 31"/>
          <p:cNvSpPr txBox="1"/>
          <p:nvPr/>
        </p:nvSpPr>
        <p:spPr>
          <a:xfrm>
            <a:off x="804672" y="4572000"/>
            <a:ext cx="4873752" cy="85953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La barre de recherche est au-dessus des onglets, pas dans chacun. On pose la question, puis on change de point de vue sans la retaper.</a:t>
            </a:r>
            <a:endParaRPr lang="en-US" sz="1200" dirty="0"/>
          </a:p>
        </p:txBody>
      </p:sp>
      <p:sp>
        <p:nvSpPr>
          <p:cNvPr id="35" name="Shape 32"/>
          <p:cNvSpPr/>
          <p:nvPr/>
        </p:nvSpPr>
        <p:spPr>
          <a:xfrm>
            <a:off x="6272784" y="4114800"/>
            <a:ext cx="5349240" cy="1463040"/>
          </a:xfrm>
          <a:prstGeom prst="roundRect">
            <a:avLst>
              <a:gd name="adj" fmla="val 5000"/>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36" name="Shape 33"/>
          <p:cNvSpPr/>
          <p:nvPr/>
        </p:nvSpPr>
        <p:spPr>
          <a:xfrm>
            <a:off x="6510528" y="4325112"/>
            <a:ext cx="118872" cy="118872"/>
          </a:xfrm>
          <a:prstGeom prst="ellipse">
            <a:avLst/>
          </a:prstGeom>
          <a:solidFill>
            <a:srgbClr val="8B5CF6"/>
          </a:solidFill>
          <a:ln w="12700">
            <a:solidFill>
              <a:srgbClr val="333333"/>
            </a:solidFill>
            <a:prstDash val="solid"/>
          </a:ln>
        </p:spPr>
      </p:sp>
      <p:sp>
        <p:nvSpPr>
          <p:cNvPr id="37" name="Text 34"/>
          <p:cNvSpPr txBox="1"/>
          <p:nvPr/>
        </p:nvSpPr>
        <p:spPr>
          <a:xfrm>
            <a:off x="6711696" y="4270248"/>
            <a:ext cx="4672584"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UN CODE COULEUR QUI PORTE DU SENS</a:t>
            </a:r>
            <a:endParaRPr lang="en-US" sz="900" dirty="0"/>
          </a:p>
        </p:txBody>
      </p:sp>
      <p:sp>
        <p:nvSpPr>
          <p:cNvPr id="38" name="Text 35"/>
          <p:cNvSpPr txBox="1"/>
          <p:nvPr/>
        </p:nvSpPr>
        <p:spPr>
          <a:xfrm>
            <a:off x="6510528" y="4572000"/>
            <a:ext cx="4873752" cy="85953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Chaque moteur garde la même couleur partout : violet le sémantique, ambre le lexical, émeraude l'hybride — des cartes de résultats jusqu'aux histogrammes.</a:t>
            </a:r>
            <a:endParaRPr lang="en-US" sz="1200" dirty="0"/>
          </a:p>
        </p:txBody>
      </p:sp>
      <p:sp>
        <p:nvSpPr>
          <p:cNvPr id="39" name="Text 36"/>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L'interface — cinq vues</a:t>
            </a:r>
            <a:endParaRPr lang="en-US" sz="900" dirty="0"/>
          </a:p>
        </p:txBody>
      </p:sp>
      <p:sp>
        <p:nvSpPr>
          <p:cNvPr id="40" name="Text 37"/>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13 / 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EXPLICABILITÉ</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Pourquoi ce résultat, et pas un autre ?</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5349240" cy="914400"/>
        </p:xfrm>
        <a:graphic>
          <a:graphicData uri="http://schemas.openxmlformats.org/drawingml/2006/table">
            <a:tbl>
              <a:tblPr/>
              <a:tblGrid>
                <a:gridCol w="1554480"/>
                <a:gridCol w="2514600"/>
                <a:gridCol w="1280160"/>
              </a:tblGrid>
              <a:tr h="384048">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Justification</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Comment</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Coût</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84048">
                <a:tc>
                  <a:txBody>
                    <a:bodyPr/>
                    <a:lstStyle/>
                    <a:p>
                      <a:pPr algn="l" indent="0" marL="0">
                        <a:buNone/>
                      </a:pPr>
                      <a:r>
                        <a:rPr lang="en-US" sz="1150" b="1" dirty="0">
                          <a:solidFill>
                            <a:srgbClr val="F59E0B"/>
                          </a:solidFill>
                          <a:latin typeface="Calibri" pitchFamily="34" charset="0"/>
                          <a:ea typeface="Calibri" pitchFamily="34" charset="-122"/>
                          <a:cs typeface="Calibri" pitchFamily="34" charset="-120"/>
                        </a:rPr>
                        <a:t>Mots partagés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intersection des mots significatifs</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10B981"/>
                          </a:solidFill>
                          <a:latin typeface="Calibri" pitchFamily="34" charset="0"/>
                          <a:ea typeface="Calibri" pitchFamily="34" charset="-122"/>
                          <a:cs typeface="Calibri" pitchFamily="34" charset="-120"/>
                        </a:rPr>
                        <a:t>nul</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b="1" dirty="0">
                          <a:solidFill>
                            <a:srgbClr val="8B5CF6"/>
                          </a:solidFill>
                          <a:latin typeface="Calibri" pitchFamily="34" charset="0"/>
                          <a:ea typeface="Calibri" pitchFamily="34" charset="-122"/>
                          <a:cs typeface="Calibri" pitchFamily="34" charset="-120"/>
                        </a:rPr>
                        <a:t>Phrase clé</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chaque phrase encodée, on garde la plus proche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F59E0B"/>
                          </a:solidFill>
                          <a:latin typeface="Calibri" pitchFamily="34" charset="0"/>
                          <a:ea typeface="Calibri" pitchFamily="34" charset="-122"/>
                          <a:cs typeface="Calibri" pitchFamily="34" charset="-120"/>
                        </a:rPr>
                        <a:t>1 appel</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7" name="Shape 3"/>
          <p:cNvSpPr/>
          <p:nvPr/>
        </p:nvSpPr>
        <p:spPr>
          <a:xfrm>
            <a:off x="566928" y="3200400"/>
            <a:ext cx="5349240" cy="2331720"/>
          </a:xfrm>
          <a:prstGeom prst="roundRect">
            <a:avLst>
              <a:gd name="adj" fmla="val 3137"/>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8" name="Shape 4"/>
          <p:cNvSpPr/>
          <p:nvPr/>
        </p:nvSpPr>
        <p:spPr>
          <a:xfrm>
            <a:off x="804672" y="3410712"/>
            <a:ext cx="118872" cy="118872"/>
          </a:xfrm>
          <a:prstGeom prst="ellipse">
            <a:avLst/>
          </a:prstGeom>
          <a:solidFill>
            <a:srgbClr val="8B5CF6"/>
          </a:solidFill>
          <a:ln w="12700">
            <a:solidFill>
              <a:srgbClr val="333333"/>
            </a:solidFill>
            <a:prstDash val="solid"/>
          </a:ln>
        </p:spPr>
      </p:sp>
      <p:sp>
        <p:nvSpPr>
          <p:cNvPr id="9" name="Text 5"/>
          <p:cNvSpPr txBox="1"/>
          <p:nvPr/>
        </p:nvSpPr>
        <p:spPr>
          <a:xfrm>
            <a:off x="1005840" y="3355848"/>
            <a:ext cx="4672584"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LE CAS QUI VAUT LA DÉMONSTRATION</a:t>
            </a:r>
            <a:endParaRPr lang="en-US" sz="900" dirty="0"/>
          </a:p>
        </p:txBody>
      </p:sp>
      <p:sp>
        <p:nvSpPr>
          <p:cNvPr id="10" name="Text 6"/>
          <p:cNvSpPr txBox="1"/>
          <p:nvPr/>
        </p:nvSpPr>
        <p:spPr>
          <a:xfrm>
            <a:off x="804672" y="3657600"/>
            <a:ext cx="4873752" cy="172821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Quand la question et le document ne partagent aucun mot, l'interface l'affiche d'elle-même : « aucun mot en commun — le rapprochement est purement sémantique ».</a:t>
            </a:r>
            <a:endParaRPr lang="en-US" sz="1200" dirty="0"/>
          </a:p>
          <a:p>
            <a:pPr indent="0" marL="0">
              <a:lnSpc>
                <a:spcPct val="125000"/>
              </a:lnSpc>
              <a:buNone/>
            </a:pPr>
            <a:endParaRPr lang="en-US" sz="1200" dirty="0"/>
          </a:p>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C'est la condition de validation n° 7, détectée automatiquement au lieu d'être cherchée à la main pendant la soutenance.</a:t>
            </a:r>
            <a:endParaRPr lang="en-US" sz="1200" dirty="0"/>
          </a:p>
        </p:txBody>
      </p:sp>
      <p:sp>
        <p:nvSpPr>
          <p:cNvPr id="11" name="Shape 7"/>
          <p:cNvSpPr/>
          <p:nvPr/>
        </p:nvSpPr>
        <p:spPr>
          <a:xfrm>
            <a:off x="6272784" y="1755648"/>
            <a:ext cx="5349240" cy="402336"/>
          </a:xfrm>
          <a:prstGeom prst="roundRect">
            <a:avLst>
              <a:gd name="adj" fmla="val 18182"/>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8"/>
          <p:cNvSpPr txBox="1"/>
          <p:nvPr/>
        </p:nvSpPr>
        <p:spPr>
          <a:xfrm>
            <a:off x="6510528"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LE COÛT, MESURÉ ET ASSUMÉ</a:t>
            </a:r>
            <a:endParaRPr lang="en-US" sz="900" dirty="0"/>
          </a:p>
        </p:txBody>
      </p:sp>
      <p:sp>
        <p:nvSpPr>
          <p:cNvPr id="13" name="Shape 9"/>
          <p:cNvSpPr/>
          <p:nvPr/>
        </p:nvSpPr>
        <p:spPr>
          <a:xfrm>
            <a:off x="6272784" y="2286000"/>
            <a:ext cx="2560320"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4" name="Text 10"/>
          <p:cNvSpPr txBox="1"/>
          <p:nvPr/>
        </p:nvSpPr>
        <p:spPr>
          <a:xfrm>
            <a:off x="6455664" y="2414016"/>
            <a:ext cx="2194560" cy="457200"/>
          </a:xfrm>
          <a:prstGeom prst="rect">
            <a:avLst/>
          </a:prstGeom>
          <a:noFill/>
          <a:ln/>
        </p:spPr>
        <p:txBody>
          <a:bodyPr wrap="square" lIns="0" tIns="0" rIns="0" bIns="0" rtlCol="0" anchor="ctr"/>
          <a:lstStyle/>
          <a:p>
            <a:pPr indent="0" marL="0">
              <a:buNone/>
            </a:pPr>
            <a:r>
              <a:rPr lang="en-US" sz="2400" b="1" dirty="0">
                <a:solidFill>
                  <a:srgbClr val="10B981"/>
                </a:solidFill>
                <a:latin typeface="Consolas" pitchFamily="34" charset="0"/>
                <a:ea typeface="Consolas" pitchFamily="34" charset="-122"/>
                <a:cs typeface="Consolas" pitchFamily="34" charset="-120"/>
              </a:rPr>
              <a:t>98 ms</a:t>
            </a:r>
            <a:endParaRPr lang="en-US" sz="2400" dirty="0"/>
          </a:p>
        </p:txBody>
      </p:sp>
      <p:sp>
        <p:nvSpPr>
          <p:cNvPr id="15" name="Text 11"/>
          <p:cNvSpPr txBox="1"/>
          <p:nvPr/>
        </p:nvSpPr>
        <p:spPr>
          <a:xfrm>
            <a:off x="6455664" y="2871216"/>
            <a:ext cx="2194560"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la recherche</a:t>
            </a:r>
            <a:endParaRPr lang="en-US" sz="1000" dirty="0"/>
          </a:p>
        </p:txBody>
      </p:sp>
      <p:sp>
        <p:nvSpPr>
          <p:cNvPr id="16" name="Shape 12"/>
          <p:cNvSpPr/>
          <p:nvPr/>
        </p:nvSpPr>
        <p:spPr>
          <a:xfrm>
            <a:off x="9061704" y="2286000"/>
            <a:ext cx="2560320" cy="1051560"/>
          </a:xfrm>
          <a:prstGeom prst="roundRect">
            <a:avLst>
              <a:gd name="adj" fmla="val 69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3"/>
          <p:cNvSpPr txBox="1"/>
          <p:nvPr/>
        </p:nvSpPr>
        <p:spPr>
          <a:xfrm>
            <a:off x="9244584" y="2414016"/>
            <a:ext cx="2194560" cy="457200"/>
          </a:xfrm>
          <a:prstGeom prst="rect">
            <a:avLst/>
          </a:prstGeom>
          <a:noFill/>
          <a:ln/>
        </p:spPr>
        <p:txBody>
          <a:bodyPr wrap="square" lIns="0" tIns="0" rIns="0" bIns="0" rtlCol="0" anchor="ctr"/>
          <a:lstStyle/>
          <a:p>
            <a:pPr indent="0" marL="0">
              <a:buNone/>
            </a:pPr>
            <a:r>
              <a:rPr lang="en-US" sz="2400" b="1" dirty="0">
                <a:solidFill>
                  <a:srgbClr val="F59E0B"/>
                </a:solidFill>
                <a:latin typeface="Consolas" pitchFamily="34" charset="0"/>
                <a:ea typeface="Consolas" pitchFamily="34" charset="-122"/>
                <a:cs typeface="Consolas" pitchFamily="34" charset="-120"/>
              </a:rPr>
              <a:t>869 ms</a:t>
            </a:r>
            <a:endParaRPr lang="en-US" sz="2400" dirty="0"/>
          </a:p>
        </p:txBody>
      </p:sp>
      <p:sp>
        <p:nvSpPr>
          <p:cNvPr id="18" name="Text 14"/>
          <p:cNvSpPr txBox="1"/>
          <p:nvPr/>
        </p:nvSpPr>
        <p:spPr>
          <a:xfrm>
            <a:off x="9244584" y="2871216"/>
            <a:ext cx="2194560" cy="33832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l'explication (5 premiers)</a:t>
            </a:r>
            <a:endParaRPr lang="en-US" sz="1000" dirty="0"/>
          </a:p>
        </p:txBody>
      </p:sp>
      <p:sp>
        <p:nvSpPr>
          <p:cNvPr id="19" name="Shape 15"/>
          <p:cNvSpPr/>
          <p:nvPr/>
        </p:nvSpPr>
        <p:spPr>
          <a:xfrm>
            <a:off x="6272784" y="3566160"/>
            <a:ext cx="5349240" cy="1965960"/>
          </a:xfrm>
          <a:prstGeom prst="roundRect">
            <a:avLst>
              <a:gd name="adj" fmla="val 372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0" name="Text 16"/>
          <p:cNvSpPr txBox="1"/>
          <p:nvPr/>
        </p:nvSpPr>
        <p:spPr>
          <a:xfrm>
            <a:off x="6510528" y="3749040"/>
            <a:ext cx="4873752" cy="1636776"/>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L'explicabilité coûte neuf fois la recherche sur un processeur sans carte graphique. D'où le plafond : la phrase clé n'est calculée que pour les résultats réellement lus.</a:t>
            </a:r>
            <a:endParaRPr lang="en-US" sz="1200" dirty="0"/>
          </a:p>
          <a:p>
            <a:pPr indent="0" marL="0">
              <a:lnSpc>
                <a:spcPct val="122000"/>
              </a:lnSpc>
              <a:buNone/>
            </a:pPr>
            <a:endParaRPr lang="en-US" sz="1200" dirty="0"/>
          </a:p>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Les mots partagés, gratuits, restent calculés pour tous — ce sont eux qui portent le signal « aucun mot en commun ».</a:t>
            </a:r>
            <a:endParaRPr lang="en-US" sz="1200" dirty="0"/>
          </a:p>
        </p:txBody>
      </p:sp>
      <p:sp>
        <p:nvSpPr>
          <p:cNvPr id="21" name="Text 17"/>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Expliquer un résultat</a:t>
            </a:r>
            <a:endParaRPr lang="en-US" sz="900" dirty="0"/>
          </a:p>
        </p:txBody>
      </p:sp>
      <p:sp>
        <p:nvSpPr>
          <p:cNvPr id="22" name="Text 18"/>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14 / 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ÉVALUATION</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Trois protocoles, aucune annotation manuelle</a:t>
            </a:r>
            <a:endParaRPr lang="en-US" sz="3400" dirty="0"/>
          </a:p>
        </p:txBody>
      </p:sp>
      <p:sp>
        <p:nvSpPr>
          <p:cNvPr id="6" name="Text 3"/>
          <p:cNvSpPr txBox="1"/>
          <p:nvPr/>
        </p:nvSpPr>
        <p:spPr>
          <a:xfrm>
            <a:off x="566928" y="1609344"/>
            <a:ext cx="10058400" cy="274320"/>
          </a:xfrm>
          <a:prstGeom prst="rect">
            <a:avLst/>
          </a:prstGeom>
          <a:noFill/>
          <a:ln/>
        </p:spPr>
        <p:txBody>
          <a:bodyPr wrap="square" lIns="0" tIns="0" rIns="0" bIns="0" rtlCol="0" anchor="ctr"/>
          <a:lstStyle/>
          <a:p>
            <a:pPr indent="0" marL="0">
              <a:buNone/>
            </a:pPr>
            <a:r>
              <a:rPr lang="en-US" sz="1300" dirty="0">
                <a:solidFill>
                  <a:srgbClr val="9AA3BC"/>
                </a:solidFill>
                <a:latin typeface="Calibri" pitchFamily="34" charset="0"/>
                <a:ea typeface="Calibri" pitchFamily="34" charset="-122"/>
                <a:cs typeface="Calibri" pitchFamily="34" charset="-120"/>
              </a:rPr>
              <a:t>Une démonstration réussie peut toujours être une coïncidence. Ces protocoles mesurent ce que les moteurs retrouvent réellement, sur des centaines de requêtes.</a:t>
            </a:r>
            <a:endParaRPr lang="en-US" sz="1300" dirty="0"/>
          </a:p>
        </p:txBody>
      </p:sp>
      <p:sp>
        <p:nvSpPr>
          <p:cNvPr id="7" name="Shape 4"/>
          <p:cNvSpPr/>
          <p:nvPr/>
        </p:nvSpPr>
        <p:spPr>
          <a:xfrm>
            <a:off x="566928" y="2057400"/>
            <a:ext cx="3502152" cy="2560320"/>
          </a:xfrm>
          <a:prstGeom prst="roundRect">
            <a:avLst>
              <a:gd name="adj" fmla="val 28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8" name="Text 5"/>
          <p:cNvSpPr txBox="1"/>
          <p:nvPr/>
        </p:nvSpPr>
        <p:spPr>
          <a:xfrm>
            <a:off x="804672"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PROTOCOLE 1 · 500 REQUÊTES</a:t>
            </a:r>
            <a:endParaRPr lang="en-US" sz="900" dirty="0"/>
          </a:p>
        </p:txBody>
      </p:sp>
      <p:sp>
        <p:nvSpPr>
          <p:cNvPr id="9" name="Shape 6"/>
          <p:cNvSpPr/>
          <p:nvPr/>
        </p:nvSpPr>
        <p:spPr>
          <a:xfrm>
            <a:off x="804672" y="2546604"/>
            <a:ext cx="118872" cy="118872"/>
          </a:xfrm>
          <a:prstGeom prst="ellipse">
            <a:avLst/>
          </a:prstGeom>
          <a:solidFill>
            <a:srgbClr val="8B5CF6"/>
          </a:solidFill>
          <a:ln w="12700">
            <a:solidFill>
              <a:srgbClr val="333333"/>
            </a:solidFill>
            <a:prstDash val="solid"/>
          </a:ln>
        </p:spPr>
      </p:sp>
      <p:sp>
        <p:nvSpPr>
          <p:cNvPr id="10" name="Text 7"/>
          <p:cNvSpPr txBox="1"/>
          <p:nvPr/>
        </p:nvSpPr>
        <p:spPr>
          <a:xfrm>
            <a:off x="1005840"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Titre vers résumé</a:t>
            </a:r>
            <a:endParaRPr lang="en-US" sz="1500" dirty="0"/>
          </a:p>
        </p:txBody>
      </p:sp>
      <p:sp>
        <p:nvSpPr>
          <p:cNvPr id="11" name="Text 8"/>
          <p:cNvSpPr txBox="1"/>
          <p:nvPr/>
        </p:nvSpPr>
        <p:spPr>
          <a:xfrm>
            <a:off x="804672" y="2788920"/>
            <a:ext cx="3026664" cy="168249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Le titre d'un article tiré au sort sert de requête ; le bon résultat est connu d'avance — c'est l'article lui-même.</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500 requêtes annotées sans le moindre travail manuel.</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Recall@1, @5, @10 · MRR@10 · nDCG@10</a:t>
            </a:r>
            <a:endParaRPr lang="en-US" sz="1150" dirty="0"/>
          </a:p>
        </p:txBody>
      </p:sp>
      <p:sp>
        <p:nvSpPr>
          <p:cNvPr id="12" name="Shape 9"/>
          <p:cNvSpPr/>
          <p:nvPr/>
        </p:nvSpPr>
        <p:spPr>
          <a:xfrm>
            <a:off x="4343400" y="2057400"/>
            <a:ext cx="3502152" cy="2560320"/>
          </a:xfrm>
          <a:prstGeom prst="roundRect">
            <a:avLst>
              <a:gd name="adj" fmla="val 28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10"/>
          <p:cNvSpPr txBox="1"/>
          <p:nvPr/>
        </p:nvSpPr>
        <p:spPr>
          <a:xfrm>
            <a:off x="4581144"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PROTOCOLE 2 · 20 TRIPLETS</a:t>
            </a:r>
            <a:endParaRPr lang="en-US" sz="900" dirty="0"/>
          </a:p>
        </p:txBody>
      </p:sp>
      <p:sp>
        <p:nvSpPr>
          <p:cNvPr id="14" name="Shape 11"/>
          <p:cNvSpPr/>
          <p:nvPr/>
        </p:nvSpPr>
        <p:spPr>
          <a:xfrm>
            <a:off x="4581144" y="2546604"/>
            <a:ext cx="118872" cy="118872"/>
          </a:xfrm>
          <a:prstGeom prst="ellipse">
            <a:avLst/>
          </a:prstGeom>
          <a:solidFill>
            <a:srgbClr val="8B5CF6"/>
          </a:solidFill>
          <a:ln w="12700">
            <a:solidFill>
              <a:srgbClr val="333333"/>
            </a:solidFill>
            <a:prstDash val="solid"/>
          </a:ln>
        </p:spPr>
      </p:sp>
      <p:sp>
        <p:nvSpPr>
          <p:cNvPr id="15" name="Text 12"/>
          <p:cNvSpPr txBox="1"/>
          <p:nvPr/>
        </p:nvSpPr>
        <p:spPr>
          <a:xfrm>
            <a:off x="4782312"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Cohérence multilingue</a:t>
            </a:r>
            <a:endParaRPr lang="en-US" sz="1500" dirty="0"/>
          </a:p>
        </p:txBody>
      </p:sp>
      <p:sp>
        <p:nvSpPr>
          <p:cNvPr id="16" name="Text 13"/>
          <p:cNvSpPr txBox="1"/>
          <p:nvPr/>
        </p:nvSpPr>
        <p:spPr>
          <a:xfrm>
            <a:off x="4581144" y="2788920"/>
            <a:ext cx="3026664" cy="168249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La même question en français, en arabe et en anglais. Si l'espace vectoriel est indépendant de la langue, les trois doivent renvoyer les mêmes articles.</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Attaque directement l'argument central du projet.</a:t>
            </a:r>
            <a:endParaRPr lang="en-US" sz="1150" dirty="0"/>
          </a:p>
        </p:txBody>
      </p:sp>
      <p:sp>
        <p:nvSpPr>
          <p:cNvPr id="17" name="Shape 14"/>
          <p:cNvSpPr/>
          <p:nvPr/>
        </p:nvSpPr>
        <p:spPr>
          <a:xfrm>
            <a:off x="8119872" y="2057400"/>
            <a:ext cx="3502152" cy="2560320"/>
          </a:xfrm>
          <a:prstGeom prst="roundRect">
            <a:avLst>
              <a:gd name="adj" fmla="val 285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8" name="Text 15"/>
          <p:cNvSpPr txBox="1"/>
          <p:nvPr/>
        </p:nvSpPr>
        <p:spPr>
          <a:xfrm>
            <a:off x="8357616" y="22402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PROTOCOLE 3</a:t>
            </a:r>
            <a:endParaRPr lang="en-US" sz="900" dirty="0"/>
          </a:p>
        </p:txBody>
      </p:sp>
      <p:sp>
        <p:nvSpPr>
          <p:cNvPr id="19" name="Shape 16"/>
          <p:cNvSpPr/>
          <p:nvPr/>
        </p:nvSpPr>
        <p:spPr>
          <a:xfrm>
            <a:off x="8357616" y="2546604"/>
            <a:ext cx="118872" cy="118872"/>
          </a:xfrm>
          <a:prstGeom prst="ellipse">
            <a:avLst/>
          </a:prstGeom>
          <a:solidFill>
            <a:srgbClr val="8B5CF6"/>
          </a:solidFill>
          <a:ln w="12700">
            <a:solidFill>
              <a:srgbClr val="333333"/>
            </a:solidFill>
            <a:prstDash val="solid"/>
          </a:ln>
        </p:spPr>
      </p:sp>
      <p:sp>
        <p:nvSpPr>
          <p:cNvPr id="20" name="Text 17"/>
          <p:cNvSpPr txBox="1"/>
          <p:nvPr/>
        </p:nvSpPr>
        <p:spPr>
          <a:xfrm>
            <a:off x="8558784" y="2478024"/>
            <a:ext cx="2825496" cy="292608"/>
          </a:xfrm>
          <a:prstGeom prst="rect">
            <a:avLst/>
          </a:prstGeom>
          <a:noFill/>
          <a:ln/>
        </p:spPr>
        <p:txBody>
          <a:bodyPr wrap="square" lIns="0" tIns="0" rIns="0" bIns="0" rtlCol="0" anchor="t"/>
          <a:lstStyle/>
          <a:p>
            <a:pPr indent="0" marL="0">
              <a:buNone/>
            </a:pPr>
            <a:r>
              <a:rPr lang="en-US" sz="1500" b="1" dirty="0">
                <a:solidFill>
                  <a:srgbClr val="E9ECF5"/>
                </a:solidFill>
                <a:latin typeface="Calibri" pitchFamily="34" charset="0"/>
                <a:ea typeface="Calibri" pitchFamily="34" charset="-122"/>
                <a:cs typeface="Calibri" pitchFamily="34" charset="-120"/>
              </a:rPr>
              <a:t>Coût</a:t>
            </a:r>
            <a:endParaRPr lang="en-US" sz="1500" dirty="0"/>
          </a:p>
        </p:txBody>
      </p:sp>
      <p:sp>
        <p:nvSpPr>
          <p:cNvPr id="21" name="Text 18"/>
          <p:cNvSpPr txBox="1"/>
          <p:nvPr/>
        </p:nvSpPr>
        <p:spPr>
          <a:xfrm>
            <a:off x="8357616" y="2788920"/>
            <a:ext cx="3026664" cy="168249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Latence médiane et 95e centile, durée de construction, taille de l'index, index exact contre index approximatif.</a:t>
            </a:r>
            <a:endParaRPr lang="en-US" sz="1150" dirty="0"/>
          </a:p>
          <a:p>
            <a:pPr indent="0" marL="0">
              <a:lnSpc>
                <a:spcPct val="122000"/>
              </a:lnSpc>
              <a:buNone/>
            </a:pPr>
            <a:endParaRPr lang="en-US" sz="1150" dirty="0"/>
          </a:p>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Un moteur inutilisable en production n'est pas un bon moteur.</a:t>
            </a:r>
            <a:endParaRPr lang="en-US" sz="1150" dirty="0"/>
          </a:p>
        </p:txBody>
      </p:sp>
      <p:sp>
        <p:nvSpPr>
          <p:cNvPr id="22" name="Shape 19"/>
          <p:cNvSpPr/>
          <p:nvPr/>
        </p:nvSpPr>
        <p:spPr>
          <a:xfrm>
            <a:off x="566928" y="4800600"/>
            <a:ext cx="11057839" cy="1188720"/>
          </a:xfrm>
          <a:prstGeom prst="roundRect">
            <a:avLst>
              <a:gd name="adj" fmla="val 6154"/>
            </a:avLst>
          </a:prstGeom>
          <a:solidFill>
            <a:srgbClr val="1B2130"/>
          </a:solidFill>
          <a:ln w="15875">
            <a:solidFill>
              <a:srgbClr val="10B981"/>
            </a:solidFill>
            <a:prstDash val="solid"/>
          </a:ln>
          <a:effectLst>
            <a:outerShdw sx="100000" sy="100000" kx="0" ky="0" algn="bl" rotWithShape="0" blurRad="127000" dist="38100" dir="5400000">
              <a:srgbClr val="000000">
                <a:alpha val="35000"/>
              </a:srgbClr>
            </a:outerShdw>
          </a:effectLst>
        </p:spPr>
      </p:sp>
      <p:sp>
        <p:nvSpPr>
          <p:cNvPr id="23" name="Shape 20"/>
          <p:cNvSpPr/>
          <p:nvPr/>
        </p:nvSpPr>
        <p:spPr>
          <a:xfrm>
            <a:off x="804672" y="5010912"/>
            <a:ext cx="118872" cy="118872"/>
          </a:xfrm>
          <a:prstGeom prst="ellipse">
            <a:avLst/>
          </a:prstGeom>
          <a:solidFill>
            <a:srgbClr val="10B981"/>
          </a:solidFill>
          <a:ln w="12700">
            <a:solidFill>
              <a:srgbClr val="333333"/>
            </a:solidFill>
            <a:prstDash val="solid"/>
          </a:ln>
        </p:spPr>
      </p:sp>
      <p:sp>
        <p:nvSpPr>
          <p:cNvPr id="24" name="Text 21"/>
          <p:cNvSpPr txBox="1"/>
          <p:nvPr/>
        </p:nvSpPr>
        <p:spPr>
          <a:xfrm>
            <a:off x="1005840" y="4956048"/>
            <a:ext cx="10381183" cy="219456"/>
          </a:xfrm>
          <a:prstGeom prst="rect">
            <a:avLst/>
          </a:prstGeom>
          <a:noFill/>
          <a:ln/>
        </p:spPr>
        <p:txBody>
          <a:bodyPr wrap="square" lIns="0" tIns="0" rIns="0" bIns="0" rtlCol="0" anchor="ctr"/>
          <a:lstStyle/>
          <a:p>
            <a:pPr indent="0" marL="0">
              <a:buNone/>
            </a:pPr>
            <a:r>
              <a:rPr lang="en-US" sz="900" b="1" spc="120" kern="0" dirty="0">
                <a:solidFill>
                  <a:srgbClr val="10B981"/>
                </a:solidFill>
                <a:latin typeface="Calibri" pitchFamily="34" charset="0"/>
                <a:ea typeface="Calibri" pitchFamily="34" charset="-122"/>
                <a:cs typeface="Calibri" pitchFamily="34" charset="-120"/>
              </a:rPr>
              <a:t>REPRODUCTIBILITÉ</a:t>
            </a:r>
            <a:endParaRPr lang="en-US" sz="900" dirty="0"/>
          </a:p>
        </p:txBody>
      </p:sp>
      <p:sp>
        <p:nvSpPr>
          <p:cNvPr id="25" name="Text 22"/>
          <p:cNvSpPr txBox="1"/>
          <p:nvPr/>
        </p:nvSpPr>
        <p:spPr>
          <a:xfrm>
            <a:off x="804672" y="5257800"/>
            <a:ext cx="10582351" cy="58521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Tous les chiffres qui suivent sont régénérables par une commande. Les graines aléatoires sont fixées ; l'interface lit le fichier produit et ne recalcule jamais rien.</a:t>
            </a:r>
            <a:endParaRPr lang="en-US" sz="1250" dirty="0"/>
          </a:p>
        </p:txBody>
      </p:sp>
      <p:sp>
        <p:nvSpPr>
          <p:cNvPr id="26" name="Text 2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Protocole d'évaluation</a:t>
            </a:r>
            <a:endParaRPr lang="en-US" sz="900" dirty="0"/>
          </a:p>
        </p:txBody>
      </p:sp>
      <p:sp>
        <p:nvSpPr>
          <p:cNvPr id="27" name="Text 2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15 / 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F59E0B"/>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F59E0B"/>
                </a:solidFill>
                <a:latin typeface="Calibri" pitchFamily="34" charset="0"/>
                <a:ea typeface="Calibri" pitchFamily="34" charset="-122"/>
                <a:cs typeface="Calibri" pitchFamily="34" charset="-120"/>
              </a:rPr>
              <a:t>RÉSULTAT 1 · PROTOCOLE TITRE → RÉSUMÉ</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Sur son terrain, </a:t>
            </a:r>
            <a:pPr indent="0" marL="0">
              <a:buNone/>
            </a:pPr>
            <a:r>
              <a:rPr lang="en-US" sz="3400" b="1" dirty="0">
                <a:solidFill>
                  <a:srgbClr val="F59E0B"/>
                </a:solidFill>
                <a:latin typeface="Calibri" pitchFamily="34" charset="0"/>
                <a:ea typeface="Calibri" pitchFamily="34" charset="-122"/>
                <a:cs typeface="Calibri" pitchFamily="34" charset="-120"/>
              </a:rPr>
              <a:t>BM25 gagne</a:t>
            </a:r>
            <a:endParaRPr lang="en-US" sz="3400" dirty="0"/>
          </a:p>
        </p:txBody>
      </p:sp>
      <p:sp>
        <p:nvSpPr>
          <p:cNvPr id="6" name="Shape 3"/>
          <p:cNvSpPr/>
          <p:nvPr/>
        </p:nvSpPr>
        <p:spPr>
          <a:xfrm>
            <a:off x="566928" y="1755648"/>
            <a:ext cx="6675120" cy="3931920"/>
          </a:xfrm>
          <a:prstGeom prst="roundRect">
            <a:avLst>
              <a:gd name="adj" fmla="val 186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graphicFrame>
        <p:nvGraphicFramePr>
          <p:cNvPr id="7" name="Chart 0" descr=""/>
          <p:cNvGraphicFramePr/>
          <p:nvPr/>
        </p:nvGraphicFramePr>
        <p:xfrm>
          <a:off x="694944" y="1865376"/>
          <a:ext cx="6419088" cy="3712464"/>
        </p:xfrm>
        <a:graphic xmlns:a="http://schemas.openxmlformats.org/drawingml/2006/main">
          <a:graphicData uri="http://schemas.openxmlformats.org/drawingml/2006/chart">
            <c:chart xmlns:c="http://schemas.openxmlformats.org/drawingml/2006/chart" r:id="rId2"/>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607808" y="1755648"/>
          <a:ext cx="4014216" cy="914400"/>
        </p:xfrm>
        <a:graphic>
          <a:graphicData uri="http://schemas.openxmlformats.org/drawingml/2006/table">
            <a:tbl>
              <a:tblPr/>
              <a:tblGrid>
                <a:gridCol w="1691640"/>
                <a:gridCol w="777240"/>
                <a:gridCol w="777240"/>
                <a:gridCol w="768096"/>
              </a:tblGrid>
              <a:tr h="384048">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Moteur</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R@1</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R@10</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MRR</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84048">
                <a:tc>
                  <a:txBody>
                    <a:bodyPr/>
                    <a:lstStyle/>
                    <a:p>
                      <a:pPr algn="l" indent="0" marL="0">
                        <a:buNone/>
                      </a:pPr>
                      <a:r>
                        <a:rPr lang="en-US" sz="1150" dirty="0">
                          <a:solidFill>
                            <a:srgbClr val="8B5CF6"/>
                          </a:solidFill>
                          <a:latin typeface="Calibri" pitchFamily="34" charset="0"/>
                          <a:ea typeface="Calibri" pitchFamily="34" charset="-122"/>
                          <a:cs typeface="Calibri" pitchFamily="34" charset="-120"/>
                        </a:rPr>
                        <a:t>Sémantique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0,896</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0,964</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0,922</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b="1" dirty="0">
                          <a:solidFill>
                            <a:srgbClr val="F59E0B"/>
                          </a:solidFill>
                          <a:latin typeface="Calibri" pitchFamily="34" charset="0"/>
                          <a:ea typeface="Calibri" pitchFamily="34" charset="-122"/>
                          <a:cs typeface="Calibri" pitchFamily="34" charset="-120"/>
                        </a:rPr>
                        <a:t>BM25</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E9ECF5"/>
                          </a:solidFill>
                          <a:latin typeface="Consolas" pitchFamily="34" charset="0"/>
                          <a:ea typeface="Consolas" pitchFamily="34" charset="-122"/>
                          <a:cs typeface="Consolas" pitchFamily="34" charset="-120"/>
                        </a:rPr>
                        <a:t>0,930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E9ECF5"/>
                          </a:solidFill>
                          <a:latin typeface="Consolas" pitchFamily="34" charset="0"/>
                          <a:ea typeface="Consolas" pitchFamily="34" charset="-122"/>
                          <a:cs typeface="Consolas" pitchFamily="34" charset="-120"/>
                        </a:rPr>
                        <a:t>0,990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E9ECF5"/>
                          </a:solidFill>
                          <a:latin typeface="Consolas" pitchFamily="34" charset="0"/>
                          <a:ea typeface="Consolas" pitchFamily="34" charset="-122"/>
                          <a:cs typeface="Consolas" pitchFamily="34" charset="-120"/>
                        </a:rPr>
                        <a:t>0,953</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9" name="Shape 4"/>
          <p:cNvSpPr/>
          <p:nvPr/>
        </p:nvSpPr>
        <p:spPr>
          <a:xfrm>
            <a:off x="7607808" y="3246120"/>
            <a:ext cx="4014216" cy="2468880"/>
          </a:xfrm>
          <a:prstGeom prst="roundRect">
            <a:avLst>
              <a:gd name="adj" fmla="val 2963"/>
            </a:avLst>
          </a:prstGeom>
          <a:solidFill>
            <a:srgbClr val="1B2130"/>
          </a:solidFill>
          <a:ln w="15875">
            <a:solidFill>
              <a:srgbClr val="F59E0B"/>
            </a:solidFill>
            <a:prstDash val="solid"/>
          </a:ln>
          <a:effectLst>
            <a:outerShdw sx="100000" sy="100000" kx="0" ky="0" algn="bl" rotWithShape="0" blurRad="127000" dist="38100" dir="5400000">
              <a:srgbClr val="000000">
                <a:alpha val="35000"/>
              </a:srgbClr>
            </a:outerShdw>
          </a:effectLst>
        </p:spPr>
      </p:sp>
      <p:sp>
        <p:nvSpPr>
          <p:cNvPr id="10" name="Shape 5"/>
          <p:cNvSpPr/>
          <p:nvPr/>
        </p:nvSpPr>
        <p:spPr>
          <a:xfrm>
            <a:off x="7845552" y="3456432"/>
            <a:ext cx="118872" cy="118872"/>
          </a:xfrm>
          <a:prstGeom prst="ellipse">
            <a:avLst/>
          </a:prstGeom>
          <a:solidFill>
            <a:srgbClr val="F59E0B"/>
          </a:solidFill>
          <a:ln w="12700">
            <a:solidFill>
              <a:srgbClr val="333333"/>
            </a:solidFill>
            <a:prstDash val="solid"/>
          </a:ln>
        </p:spPr>
      </p:sp>
      <p:sp>
        <p:nvSpPr>
          <p:cNvPr id="11" name="Text 6"/>
          <p:cNvSpPr txBox="1"/>
          <p:nvPr/>
        </p:nvSpPr>
        <p:spPr>
          <a:xfrm>
            <a:off x="8046720" y="3401568"/>
            <a:ext cx="3337560" cy="219456"/>
          </a:xfrm>
          <a:prstGeom prst="rect">
            <a:avLst/>
          </a:prstGeom>
          <a:noFill/>
          <a:ln/>
        </p:spPr>
        <p:txBody>
          <a:bodyPr wrap="square" lIns="0" tIns="0" rIns="0" bIns="0" rtlCol="0" anchor="ctr"/>
          <a:lstStyle/>
          <a:p>
            <a:pPr indent="0" marL="0">
              <a:buNone/>
            </a:pPr>
            <a:r>
              <a:rPr lang="en-US" sz="900" b="1" spc="120" kern="0" dirty="0">
                <a:solidFill>
                  <a:srgbClr val="F59E0B"/>
                </a:solidFill>
                <a:latin typeface="Calibri" pitchFamily="34" charset="0"/>
                <a:ea typeface="Calibri" pitchFamily="34" charset="-122"/>
                <a:cs typeface="Calibri" pitchFamily="34" charset="-120"/>
              </a:rPr>
              <a:t>POURQUOI C'EST NORMAL</a:t>
            </a:r>
            <a:endParaRPr lang="en-US" sz="900" dirty="0"/>
          </a:p>
        </p:txBody>
      </p:sp>
      <p:sp>
        <p:nvSpPr>
          <p:cNvPr id="12" name="Text 7"/>
          <p:cNvSpPr txBox="1"/>
          <p:nvPr/>
        </p:nvSpPr>
        <p:spPr>
          <a:xfrm>
            <a:off x="7845552" y="3703320"/>
            <a:ext cx="3538728" cy="186537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Un titre partage avec son résumé des termes techniques rares — un nom de méthode, un acronyme. Faire correspondre des termes rares est précisément ce que BM25 fait le mieux.</a:t>
            </a:r>
            <a:endParaRPr lang="en-US" sz="1200" dirty="0"/>
          </a:p>
          <a:p>
            <a:pPr indent="0" marL="0">
              <a:lnSpc>
                <a:spcPct val="125000"/>
              </a:lnSpc>
              <a:buNone/>
            </a:pPr>
            <a:endParaRPr lang="en-US" sz="1200" dirty="0"/>
          </a:p>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Ce n'est pas un défaut d'implémentation : c'est son terrain de jeu naturel.</a:t>
            </a:r>
            <a:endParaRPr lang="en-US" sz="1200" dirty="0"/>
          </a:p>
        </p:txBody>
      </p:sp>
      <p:sp>
        <p:nvSpPr>
          <p:cNvPr id="13" name="Text 8"/>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Résultat 1 — BM25 gagne</a:t>
            </a:r>
            <a:endParaRPr lang="en-US" sz="900" dirty="0"/>
          </a:p>
        </p:txBody>
      </p:sp>
      <p:sp>
        <p:nvSpPr>
          <p:cNvPr id="14" name="Text 9"/>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16 / 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FB7185"/>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FB7185"/>
                </a:solidFill>
                <a:latin typeface="Calibri" pitchFamily="34" charset="0"/>
                <a:ea typeface="Calibri" pitchFamily="34" charset="-122"/>
                <a:cs typeface="Calibri" pitchFamily="34" charset="-120"/>
              </a:rPr>
              <a:t>RÉSULTAT 2 · CRITIQUE DU PROTOCOLE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Ce protocole ne mesure pas le sens</a:t>
            </a:r>
            <a:endParaRPr lang="en-US" sz="3400" dirty="0"/>
          </a:p>
        </p:txBody>
      </p:sp>
      <p:sp>
        <p:nvSpPr>
          <p:cNvPr id="6" name="Shape 3"/>
          <p:cNvSpPr/>
          <p:nvPr/>
        </p:nvSpPr>
        <p:spPr>
          <a:xfrm>
            <a:off x="566928" y="1755648"/>
            <a:ext cx="6675120" cy="3931920"/>
          </a:xfrm>
          <a:prstGeom prst="roundRect">
            <a:avLst>
              <a:gd name="adj" fmla="val 186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graphicFrame>
        <p:nvGraphicFramePr>
          <p:cNvPr id="7" name="Chart 0" descr=""/>
          <p:cNvGraphicFramePr/>
          <p:nvPr/>
        </p:nvGraphicFramePr>
        <p:xfrm>
          <a:off x="694944" y="1865376"/>
          <a:ext cx="6419088" cy="3712464"/>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7607808" y="1755648"/>
            <a:ext cx="4014216" cy="2286000"/>
          </a:xfrm>
          <a:prstGeom prst="roundRect">
            <a:avLst>
              <a:gd name="adj" fmla="val 3200"/>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9" name="Shape 5"/>
          <p:cNvSpPr/>
          <p:nvPr/>
        </p:nvSpPr>
        <p:spPr>
          <a:xfrm>
            <a:off x="7845552" y="1965960"/>
            <a:ext cx="118872" cy="118872"/>
          </a:xfrm>
          <a:prstGeom prst="ellipse">
            <a:avLst/>
          </a:prstGeom>
          <a:solidFill>
            <a:srgbClr val="FB7185"/>
          </a:solidFill>
          <a:ln w="12700">
            <a:solidFill>
              <a:srgbClr val="333333"/>
            </a:solidFill>
            <a:prstDash val="solid"/>
          </a:ln>
        </p:spPr>
      </p:sp>
      <p:sp>
        <p:nvSpPr>
          <p:cNvPr id="10" name="Text 6"/>
          <p:cNvSpPr txBox="1"/>
          <p:nvPr/>
        </p:nvSpPr>
        <p:spPr>
          <a:xfrm>
            <a:off x="8046720" y="1911096"/>
            <a:ext cx="3337560"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L'OBSERVATION QUI COMPTE</a:t>
            </a:r>
            <a:endParaRPr lang="en-US" sz="900" dirty="0"/>
          </a:p>
        </p:txBody>
      </p:sp>
      <p:sp>
        <p:nvSpPr>
          <p:cNvPr id="11" name="Text 7"/>
          <p:cNvSpPr txBox="1"/>
          <p:nvPr/>
        </p:nvSpPr>
        <p:spPr>
          <a:xfrm>
            <a:off x="7845552" y="2212848"/>
            <a:ext cx="3538728" cy="1682496"/>
          </a:xfrm>
          <a:prstGeom prst="rect">
            <a:avLst/>
          </a:prstGeom>
          <a:noFill/>
          <a:ln/>
        </p:spPr>
        <p:txBody>
          <a:bodyPr wrap="square" lIns="0" tIns="0" rIns="0" bIns="0" rtlCol="0" anchor="t"/>
          <a:lstStyle/>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Même le tiers le plus difficile partage encore 63 % de son vocabulaire avec le bon document.</a:t>
            </a:r>
            <a:endParaRPr lang="en-US" sz="1300" dirty="0"/>
          </a:p>
          <a:p>
            <a:pPr indent="0" marL="0">
              <a:lnSpc>
                <a:spcPct val="125000"/>
              </a:lnSpc>
              <a:buNone/>
            </a:pPr>
            <a:endParaRPr lang="en-US" sz="1300" dirty="0"/>
          </a:p>
          <a:p>
            <a:pPr indent="0" marL="0">
              <a:lnSpc>
                <a:spcPct val="125000"/>
              </a:lnSpc>
              <a:buNone/>
            </a:pPr>
            <a:r>
              <a:rPr lang="en-US" sz="1300" dirty="0">
                <a:solidFill>
                  <a:srgbClr val="E9ECF5"/>
                </a:solidFill>
                <a:latin typeface="Calibri" pitchFamily="34" charset="0"/>
                <a:ea typeface="Calibri" pitchFamily="34" charset="-122"/>
                <a:cs typeface="Calibri" pitchFamily="34" charset="-120"/>
              </a:rPr>
              <a:t>Ce protocole ne descend jamais dans le régime où la correspondance de mots cesse de fonctionner.</a:t>
            </a:r>
            <a:endParaRPr lang="en-US" sz="1300" dirty="0"/>
          </a:p>
        </p:txBody>
      </p:sp>
      <p:sp>
        <p:nvSpPr>
          <p:cNvPr id="12" name="Shape 8"/>
          <p:cNvSpPr/>
          <p:nvPr/>
        </p:nvSpPr>
        <p:spPr>
          <a:xfrm>
            <a:off x="7607808" y="4206240"/>
            <a:ext cx="4014216" cy="1508760"/>
          </a:xfrm>
          <a:prstGeom prst="roundRect">
            <a:avLst>
              <a:gd name="adj" fmla="val 4848"/>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9"/>
          <p:cNvSpPr txBox="1"/>
          <p:nvPr/>
        </p:nvSpPr>
        <p:spPr>
          <a:xfrm>
            <a:off x="7845552" y="4389120"/>
            <a:ext cx="3538728" cy="1179576"/>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Le reconnaître vaut mieux que de présenter les chiffres précédents comme une validation du moteur sémantique — et cela justifie les deux protocoles suivants.</a:t>
            </a:r>
            <a:endParaRPr lang="en-US" sz="1200" dirty="0"/>
          </a:p>
        </p:txBody>
      </p:sp>
      <p:sp>
        <p:nvSpPr>
          <p:cNvPr id="14" name="Text 10"/>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Résultat 2 — ce que le protocole ne mesure pas</a:t>
            </a:r>
            <a:endParaRPr lang="en-US" sz="900" dirty="0"/>
          </a:p>
        </p:txBody>
      </p:sp>
      <p:sp>
        <p:nvSpPr>
          <p:cNvPr id="15" name="Text 11"/>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17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F59E0B"/>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F59E0B"/>
                </a:solidFill>
                <a:latin typeface="Calibri" pitchFamily="34" charset="0"/>
                <a:ea typeface="Calibri" pitchFamily="34" charset="-122"/>
                <a:cs typeface="Calibri" pitchFamily="34" charset="-120"/>
              </a:rPr>
              <a:t>RÉSULTAT 3 · REQUÊTES APPAUVRIES</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Un résultat </a:t>
            </a:r>
            <a:pPr indent="0" marL="0">
              <a:buNone/>
            </a:pPr>
            <a:r>
              <a:rPr lang="en-US" sz="3400" b="1" dirty="0">
                <a:solidFill>
                  <a:srgbClr val="F59E0B"/>
                </a:solidFill>
                <a:latin typeface="Calibri" pitchFamily="34" charset="0"/>
                <a:ea typeface="Calibri" pitchFamily="34" charset="-122"/>
                <a:cs typeface="Calibri" pitchFamily="34" charset="-120"/>
              </a:rPr>
              <a:t>contraire à l'hypothèse</a:t>
            </a:r>
            <a:endParaRPr lang="en-US" sz="3400" dirty="0"/>
          </a:p>
        </p:txBody>
      </p:sp>
      <p:sp>
        <p:nvSpPr>
          <p:cNvPr id="6" name="Shape 3"/>
          <p:cNvSpPr/>
          <p:nvPr/>
        </p:nvSpPr>
        <p:spPr>
          <a:xfrm>
            <a:off x="566928" y="1755648"/>
            <a:ext cx="5943600" cy="3931920"/>
          </a:xfrm>
          <a:prstGeom prst="roundRect">
            <a:avLst>
              <a:gd name="adj" fmla="val 186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graphicFrame>
        <p:nvGraphicFramePr>
          <p:cNvPr id="7" name="Chart 0" descr=""/>
          <p:cNvGraphicFramePr/>
          <p:nvPr/>
        </p:nvGraphicFramePr>
        <p:xfrm>
          <a:off x="694944" y="1865376"/>
          <a:ext cx="5687568" cy="3712464"/>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76288" y="1755648"/>
          <a:ext cx="4745736" cy="914400"/>
        </p:xfrm>
        <a:graphic>
          <a:graphicData uri="http://schemas.openxmlformats.org/drawingml/2006/table">
            <a:tbl>
              <a:tblPr/>
              <a:tblGrid>
                <a:gridCol w="1600200"/>
                <a:gridCol w="960120"/>
                <a:gridCol w="1051560"/>
                <a:gridCol w="1133856"/>
              </a:tblGrid>
              <a:tr h="384048">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Moteur</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normal</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appauvri</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variation</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84048">
                <a:tc>
                  <a:txBody>
                    <a:bodyPr/>
                    <a:lstStyle/>
                    <a:p>
                      <a:pPr algn="l" indent="0" marL="0">
                        <a:buNone/>
                      </a:pPr>
                      <a:r>
                        <a:rPr lang="en-US" sz="1150" dirty="0">
                          <a:solidFill>
                            <a:srgbClr val="8B5CF6"/>
                          </a:solidFill>
                          <a:latin typeface="Calibri" pitchFamily="34" charset="0"/>
                          <a:ea typeface="Calibri" pitchFamily="34" charset="-122"/>
                          <a:cs typeface="Calibri" pitchFamily="34" charset="-120"/>
                        </a:rPr>
                        <a:t>Sémantique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0,922</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0,564</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FB7185"/>
                          </a:solidFill>
                          <a:latin typeface="Consolas" pitchFamily="34" charset="0"/>
                          <a:ea typeface="Consolas" pitchFamily="34" charset="-122"/>
                          <a:cs typeface="Consolas" pitchFamily="34" charset="-120"/>
                        </a:rPr>
                        <a:t>−0,357</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F59E0B"/>
                          </a:solidFill>
                          <a:latin typeface="Calibri" pitchFamily="34" charset="0"/>
                          <a:ea typeface="Calibri" pitchFamily="34" charset="-122"/>
                          <a:cs typeface="Calibri" pitchFamily="34" charset="-120"/>
                        </a:rPr>
                        <a:t>BM25</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0,953</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0,645</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−0,308</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9" name="Shape 4"/>
          <p:cNvSpPr/>
          <p:nvPr/>
        </p:nvSpPr>
        <p:spPr>
          <a:xfrm>
            <a:off x="6876288" y="3154680"/>
            <a:ext cx="4745736" cy="1143000"/>
          </a:xfrm>
          <a:prstGeom prst="roundRect">
            <a:avLst>
              <a:gd name="adj" fmla="val 640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5"/>
          <p:cNvSpPr txBox="1"/>
          <p:nvPr/>
        </p:nvSpPr>
        <p:spPr>
          <a:xfrm>
            <a:off x="7114032" y="3337560"/>
            <a:ext cx="4270248"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LA TRANSFORMATION APPLIQUÉE</a:t>
            </a:r>
            <a:endParaRPr lang="en-US" sz="900" dirty="0"/>
          </a:p>
        </p:txBody>
      </p:sp>
      <p:sp>
        <p:nvSpPr>
          <p:cNvPr id="11" name="Text 6"/>
          <p:cNvSpPr txBox="1"/>
          <p:nvPr/>
        </p:nvSpPr>
        <p:spPr>
          <a:xfrm>
            <a:off x="7114032" y="3575304"/>
            <a:ext cx="4270248" cy="576072"/>
          </a:xfrm>
          <a:prstGeom prst="rect">
            <a:avLst/>
          </a:prstGeom>
          <a:noFill/>
          <a:ln/>
        </p:spPr>
        <p:txBody>
          <a:bodyPr wrap="square" lIns="0" tIns="0" rIns="0" bIns="0" rtlCol="0" anchor="t"/>
          <a:lstStyle/>
          <a:p>
            <a:pPr indent="0" marL="0">
              <a:lnSpc>
                <a:spcPct val="122000"/>
              </a:lnSpc>
              <a:buNone/>
            </a:pPr>
            <a:r>
              <a:rPr lang="en-US" sz="1100" dirty="0">
                <a:solidFill>
                  <a:srgbClr val="9AA3BC"/>
                </a:solidFill>
                <a:latin typeface="Calibri" pitchFamily="34" charset="0"/>
                <a:ea typeface="Calibri" pitchFamily="34" charset="-122"/>
                <a:cs typeface="Calibri" pitchFamily="34" charset="-120"/>
              </a:rPr>
              <a:t>« Discovering Conceptual Metaphors Across Topics and Media Types »</a:t>
            </a:r>
            <a:endParaRPr lang="en-US" sz="1100" dirty="0"/>
          </a:p>
          <a:p>
            <a:pPr indent="0" marL="0">
              <a:lnSpc>
                <a:spcPct val="122000"/>
              </a:lnSpc>
              <a:buNone/>
            </a:pPr>
            <a:r>
              <a:rPr lang="en-US" sz="1100" dirty="0">
                <a:solidFill>
                  <a:srgbClr val="9AA3BC"/>
                </a:solidFill>
                <a:latin typeface="Calibri" pitchFamily="34" charset="0"/>
                <a:ea typeface="Calibri" pitchFamily="34" charset="-122"/>
                <a:cs typeface="Calibri" pitchFamily="34" charset="-120"/>
              </a:rPr>
              <a:t>→ « conceptual across and media types »</a:t>
            </a:r>
            <a:endParaRPr lang="en-US" sz="1100" dirty="0"/>
          </a:p>
        </p:txBody>
      </p:sp>
      <p:sp>
        <p:nvSpPr>
          <p:cNvPr id="12" name="Shape 7"/>
          <p:cNvSpPr/>
          <p:nvPr/>
        </p:nvSpPr>
        <p:spPr>
          <a:xfrm>
            <a:off x="6876288" y="4434840"/>
            <a:ext cx="4745736" cy="1280160"/>
          </a:xfrm>
          <a:prstGeom prst="roundRect">
            <a:avLst>
              <a:gd name="adj" fmla="val 5714"/>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13" name="Shape 8"/>
          <p:cNvSpPr/>
          <p:nvPr/>
        </p:nvSpPr>
        <p:spPr>
          <a:xfrm>
            <a:off x="7114032" y="4645152"/>
            <a:ext cx="118872" cy="118872"/>
          </a:xfrm>
          <a:prstGeom prst="ellipse">
            <a:avLst/>
          </a:prstGeom>
          <a:solidFill>
            <a:srgbClr val="8B5CF6"/>
          </a:solidFill>
          <a:ln w="12700">
            <a:solidFill>
              <a:srgbClr val="333333"/>
            </a:solidFill>
            <a:prstDash val="solid"/>
          </a:ln>
        </p:spPr>
      </p:sp>
      <p:sp>
        <p:nvSpPr>
          <p:cNvPr id="14" name="Text 9"/>
          <p:cNvSpPr txBox="1"/>
          <p:nvPr/>
        </p:nvSpPr>
        <p:spPr>
          <a:xfrm>
            <a:off x="7315200" y="4590288"/>
            <a:ext cx="4069080"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L'EXPLICATION</a:t>
            </a:r>
            <a:endParaRPr lang="en-US" sz="900" dirty="0"/>
          </a:p>
        </p:txBody>
      </p:sp>
      <p:sp>
        <p:nvSpPr>
          <p:cNvPr id="15" name="Text 10"/>
          <p:cNvSpPr txBox="1"/>
          <p:nvPr/>
        </p:nvSpPr>
        <p:spPr>
          <a:xfrm>
            <a:off x="7114032" y="4892040"/>
            <a:ext cx="4270248" cy="676656"/>
          </a:xfrm>
          <a:prstGeom prst="rect">
            <a:avLst/>
          </a:prstGeom>
          <a:noFill/>
          <a:ln/>
        </p:spPr>
        <p:txBody>
          <a:bodyPr wrap="square" lIns="0" tIns="0" rIns="0" bIns="0" rtlCol="0" anchor="t"/>
          <a:lstStyle/>
          <a:p>
            <a:pPr indent="0" marL="0">
              <a:lnSpc>
                <a:spcPct val="125000"/>
              </a:lnSpc>
              <a:buNone/>
            </a:pPr>
            <a:r>
              <a:rPr lang="en-US" sz="1150" dirty="0">
                <a:solidFill>
                  <a:srgbClr val="E9ECF5"/>
                </a:solidFill>
                <a:latin typeface="Calibri" pitchFamily="34" charset="0"/>
                <a:ea typeface="Calibri" pitchFamily="34" charset="-122"/>
                <a:cs typeface="Calibri" pitchFamily="34" charset="-120"/>
              </a:rPr>
              <a:t>Les mots rares ne portaient pas seulement la signature lexicale : ils portaient le sujet. Un modèle dense compresse la requête entière dans un vecteur unique — il y est donc plus sensible.</a:t>
            </a:r>
            <a:endParaRPr lang="en-US" sz="1150" dirty="0"/>
          </a:p>
        </p:txBody>
      </p:sp>
      <p:sp>
        <p:nvSpPr>
          <p:cNvPr id="16" name="Text 11"/>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Résultat 3 — contraire à l'hypothèse</a:t>
            </a:r>
            <a:endParaRPr lang="en-US" sz="900" dirty="0"/>
          </a:p>
        </p:txBody>
      </p:sp>
      <p:sp>
        <p:nvSpPr>
          <p:cNvPr id="17" name="Text 12"/>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18 / 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RÉSULTAT 4 · COHÉRENCE MULTILINGUE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Le résultat qui justifie le projet</a:t>
            </a:r>
            <a:endParaRPr lang="en-US" sz="3400" dirty="0"/>
          </a:p>
        </p:txBody>
      </p:sp>
      <p:sp>
        <p:nvSpPr>
          <p:cNvPr id="6" name="Shape 3"/>
          <p:cNvSpPr/>
          <p:nvPr/>
        </p:nvSpPr>
        <p:spPr>
          <a:xfrm>
            <a:off x="566928" y="1755648"/>
            <a:ext cx="5943600" cy="3931920"/>
          </a:xfrm>
          <a:prstGeom prst="roundRect">
            <a:avLst>
              <a:gd name="adj" fmla="val 186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graphicFrame>
        <p:nvGraphicFramePr>
          <p:cNvPr id="7" name="Chart 0" descr=""/>
          <p:cNvGraphicFramePr/>
          <p:nvPr/>
        </p:nvGraphicFramePr>
        <p:xfrm>
          <a:off x="694944" y="1865376"/>
          <a:ext cx="5687568" cy="3712464"/>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6876288" y="1755648"/>
            <a:ext cx="2286000"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9" name="Text 5"/>
          <p:cNvSpPr txBox="1"/>
          <p:nvPr/>
        </p:nvSpPr>
        <p:spPr>
          <a:xfrm>
            <a:off x="7059168" y="1883664"/>
            <a:ext cx="1920240" cy="457200"/>
          </a:xfrm>
          <a:prstGeom prst="rect">
            <a:avLst/>
          </a:prstGeom>
          <a:noFill/>
          <a:ln/>
        </p:spPr>
        <p:txBody>
          <a:bodyPr wrap="square" lIns="0" tIns="0" rIns="0" bIns="0" rtlCol="0" anchor="ctr"/>
          <a:lstStyle/>
          <a:p>
            <a:pPr indent="0" marL="0">
              <a:buNone/>
            </a:pPr>
            <a:r>
              <a:rPr lang="en-US" sz="2400" b="1" dirty="0">
                <a:solidFill>
                  <a:srgbClr val="FB7185"/>
                </a:solidFill>
                <a:latin typeface="Consolas" pitchFamily="34" charset="0"/>
                <a:ea typeface="Consolas" pitchFamily="34" charset="-122"/>
                <a:cs typeface="Consolas" pitchFamily="34" charset="-120"/>
              </a:rPr>
              <a:t>20 / 20</a:t>
            </a:r>
            <a:endParaRPr lang="en-US" sz="2400" dirty="0"/>
          </a:p>
        </p:txBody>
      </p:sp>
      <p:sp>
        <p:nvSpPr>
          <p:cNvPr id="10" name="Text 6"/>
          <p:cNvSpPr txBox="1"/>
          <p:nvPr/>
        </p:nvSpPr>
        <p:spPr>
          <a:xfrm>
            <a:off x="7059168" y="2340864"/>
            <a:ext cx="1920240"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requêtes arabes sans résultat BM25</a:t>
            </a:r>
            <a:endParaRPr lang="en-US" sz="1000" dirty="0"/>
          </a:p>
        </p:txBody>
      </p:sp>
      <p:sp>
        <p:nvSpPr>
          <p:cNvPr id="11" name="Shape 7"/>
          <p:cNvSpPr/>
          <p:nvPr/>
        </p:nvSpPr>
        <p:spPr>
          <a:xfrm>
            <a:off x="9390888" y="1755648"/>
            <a:ext cx="2231136"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8"/>
          <p:cNvSpPr txBox="1"/>
          <p:nvPr/>
        </p:nvSpPr>
        <p:spPr>
          <a:xfrm>
            <a:off x="9573768" y="1883664"/>
            <a:ext cx="1865376" cy="457200"/>
          </a:xfrm>
          <a:prstGeom prst="rect">
            <a:avLst/>
          </a:prstGeom>
          <a:noFill/>
          <a:ln/>
        </p:spPr>
        <p:txBody>
          <a:bodyPr wrap="square" lIns="0" tIns="0" rIns="0" bIns="0" rtlCol="0" anchor="ctr"/>
          <a:lstStyle/>
          <a:p>
            <a:pPr indent="0" marL="0">
              <a:buNone/>
            </a:pPr>
            <a:r>
              <a:rPr lang="en-US" sz="2400" b="1" dirty="0">
                <a:solidFill>
                  <a:srgbClr val="8B5CF6"/>
                </a:solidFill>
                <a:latin typeface="Consolas" pitchFamily="34" charset="0"/>
                <a:ea typeface="Consolas" pitchFamily="34" charset="-122"/>
                <a:cs typeface="Consolas" pitchFamily="34" charset="-120"/>
              </a:rPr>
              <a:t>0 / 20</a:t>
            </a:r>
            <a:endParaRPr lang="en-US" sz="2400" dirty="0"/>
          </a:p>
        </p:txBody>
      </p:sp>
      <p:sp>
        <p:nvSpPr>
          <p:cNvPr id="13" name="Text 9"/>
          <p:cNvSpPr txBox="1"/>
          <p:nvPr/>
        </p:nvSpPr>
        <p:spPr>
          <a:xfrm>
            <a:off x="9573768" y="2340864"/>
            <a:ext cx="1865376"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pour le moteur sémantique</a:t>
            </a:r>
            <a:endParaRPr lang="en-US" sz="1000" dirty="0"/>
          </a:p>
        </p:txBody>
      </p:sp>
      <p:sp>
        <p:nvSpPr>
          <p:cNvPr id="14" name="Shape 10"/>
          <p:cNvSpPr/>
          <p:nvPr/>
        </p:nvSpPr>
        <p:spPr>
          <a:xfrm>
            <a:off x="6876288" y="3127248"/>
            <a:ext cx="4745736" cy="1371600"/>
          </a:xfrm>
          <a:prstGeom prst="roundRect">
            <a:avLst>
              <a:gd name="adj" fmla="val 5333"/>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7114032" y="3337560"/>
            <a:ext cx="118872" cy="118872"/>
          </a:xfrm>
          <a:prstGeom prst="ellipse">
            <a:avLst/>
          </a:prstGeom>
          <a:solidFill>
            <a:srgbClr val="8B5CF6"/>
          </a:solidFill>
          <a:ln w="12700">
            <a:solidFill>
              <a:srgbClr val="333333"/>
            </a:solidFill>
            <a:prstDash val="solid"/>
          </a:ln>
        </p:spPr>
      </p:sp>
      <p:sp>
        <p:nvSpPr>
          <p:cNvPr id="16" name="Text 12"/>
          <p:cNvSpPr txBox="1"/>
          <p:nvPr/>
        </p:nvSpPr>
        <p:spPr>
          <a:xfrm>
            <a:off x="7315200" y="3282696"/>
            <a:ext cx="4069080"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CE QUE CELA VEUT DIRE</a:t>
            </a:r>
            <a:endParaRPr lang="en-US" sz="900" dirty="0"/>
          </a:p>
        </p:txBody>
      </p:sp>
      <p:sp>
        <p:nvSpPr>
          <p:cNvPr id="17" name="Text 13"/>
          <p:cNvSpPr txBox="1"/>
          <p:nvPr/>
        </p:nvSpPr>
        <p:spPr>
          <a:xfrm>
            <a:off x="7114032" y="3584448"/>
            <a:ext cx="4270248" cy="76809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Aucun mot arabe n'existe dans un corpus anglophone, donc aucun score n'est calculable. Sur ce terrain, les deux approches ne se comparent pas. Une seule fonctionne.</a:t>
            </a:r>
            <a:endParaRPr lang="en-US" sz="1250" dirty="0"/>
          </a:p>
        </p:txBody>
      </p:sp>
      <p:sp>
        <p:nvSpPr>
          <p:cNvPr id="18" name="Shape 14"/>
          <p:cNvSpPr/>
          <p:nvPr/>
        </p:nvSpPr>
        <p:spPr>
          <a:xfrm>
            <a:off x="6876288" y="4626864"/>
            <a:ext cx="4745736" cy="1060704"/>
          </a:xfrm>
          <a:prstGeom prst="roundRect">
            <a:avLst>
              <a:gd name="adj" fmla="val 6897"/>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9" name="Text 15"/>
          <p:cNvSpPr txBox="1"/>
          <p:nvPr/>
        </p:nvSpPr>
        <p:spPr>
          <a:xfrm>
            <a:off x="7114032" y="4809744"/>
            <a:ext cx="4270248"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DEUX NUANCES HONNÊTES</a:t>
            </a:r>
            <a:endParaRPr lang="en-US" sz="900" dirty="0"/>
          </a:p>
        </p:txBody>
      </p:sp>
      <p:sp>
        <p:nvSpPr>
          <p:cNvPr id="20" name="Text 16"/>
          <p:cNvSpPr txBox="1"/>
          <p:nvPr/>
        </p:nvSpPr>
        <p:spPr>
          <a:xfrm>
            <a:off x="7114032" y="5047488"/>
            <a:ext cx="4270248" cy="493776"/>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0,445 en français se lit avec prudence : deux formulations peuvent renvoyer des articles différents et tous deux pertinents. Et 0,130 en arabe : la qualité n'est pas uniforme entre langues.</a:t>
            </a:r>
            <a:endParaRPr lang="en-US" sz="1050" dirty="0"/>
          </a:p>
        </p:txBody>
      </p:sp>
      <p:sp>
        <p:nvSpPr>
          <p:cNvPr id="21" name="Text 17"/>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Résultat 4 — le résultat central</a:t>
            </a:r>
            <a:endParaRPr lang="en-US" sz="900" dirty="0"/>
          </a:p>
        </p:txBody>
      </p:sp>
      <p:sp>
        <p:nvSpPr>
          <p:cNvPr id="22" name="Text 18"/>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19 / 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10B981"/>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10B981"/>
                </a:solidFill>
                <a:latin typeface="Calibri" pitchFamily="34" charset="0"/>
                <a:ea typeface="Calibri" pitchFamily="34" charset="-122"/>
                <a:cs typeface="Calibri" pitchFamily="34" charset="-120"/>
              </a:rPr>
              <a:t>RÉSULTAT 5 · FUSION HYBRIDE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La fusion </a:t>
            </a:r>
            <a:pPr indent="0" marL="0">
              <a:buNone/>
            </a:pPr>
            <a:r>
              <a:rPr lang="en-US" sz="3400" b="1" dirty="0">
                <a:solidFill>
                  <a:srgbClr val="10B981"/>
                </a:solidFill>
                <a:latin typeface="Calibri" pitchFamily="34" charset="0"/>
                <a:ea typeface="Calibri" pitchFamily="34" charset="-122"/>
                <a:cs typeface="Calibri" pitchFamily="34" charset="-120"/>
              </a:rPr>
              <a:t>domine les deux</a:t>
            </a:r>
            <a:endParaRPr lang="en-US" sz="3400" dirty="0"/>
          </a:p>
        </p:txBody>
      </p:sp>
      <p:sp>
        <p:nvSpPr>
          <p:cNvPr id="6" name="Shape 3"/>
          <p:cNvSpPr/>
          <p:nvPr/>
        </p:nvSpPr>
        <p:spPr>
          <a:xfrm>
            <a:off x="566928" y="1755648"/>
            <a:ext cx="6675120" cy="3657600"/>
          </a:xfrm>
          <a:prstGeom prst="roundRect">
            <a:avLst>
              <a:gd name="adj" fmla="val 200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graphicFrame>
        <p:nvGraphicFramePr>
          <p:cNvPr id="7" name="Chart 0" descr=""/>
          <p:cNvGraphicFramePr/>
          <p:nvPr/>
        </p:nvGraphicFramePr>
        <p:xfrm>
          <a:off x="694944" y="1865376"/>
          <a:ext cx="6419088" cy="3438144"/>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566928" y="5532120"/>
            <a:ext cx="6675120" cy="457200"/>
          </a:xfrm>
          <a:prstGeom prst="rect">
            <a:avLst/>
          </a:prstGeom>
          <a:noFill/>
          <a:ln/>
        </p:spPr>
        <p:txBody>
          <a:bodyPr wrap="square" lIns="0" tIns="0" rIns="0" bIns="0" rtlCol="0" anchor="t"/>
          <a:lstStyle/>
          <a:p>
            <a:pPr indent="0" marL="0">
              <a:lnSpc>
                <a:spcPct val="110000"/>
              </a:lnSpc>
              <a:buNone/>
            </a:pPr>
            <a:r>
              <a:rPr lang="en-US" sz="950" dirty="0">
                <a:solidFill>
                  <a:srgbClr val="727C96"/>
                </a:solidFill>
                <a:latin typeface="Calibri" pitchFamily="34" charset="0"/>
                <a:ea typeface="Calibri" pitchFamily="34" charset="-122"/>
                <a:cs typeface="Calibri" pitchFamily="34" charset="-120"/>
              </a:rPr>
              <a:t>MRR@10 — exécution de contrôle sur corpus réduit. L'ordre entre moteurs est reproductible ; les valeurs absolues sont à régénérer sur le corpus complet.</a:t>
            </a:r>
            <a:endParaRPr lang="en-US" sz="950" dirty="0"/>
          </a:p>
        </p:txBody>
      </p:sp>
      <p:sp>
        <p:nvSpPr>
          <p:cNvPr id="9" name="Shape 5"/>
          <p:cNvSpPr/>
          <p:nvPr/>
        </p:nvSpPr>
        <p:spPr>
          <a:xfrm>
            <a:off x="7607808" y="1755648"/>
            <a:ext cx="4014216" cy="2194560"/>
          </a:xfrm>
          <a:prstGeom prst="roundRect">
            <a:avLst>
              <a:gd name="adj" fmla="val 3333"/>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6"/>
          <p:cNvSpPr txBox="1"/>
          <p:nvPr/>
        </p:nvSpPr>
        <p:spPr>
          <a:xfrm>
            <a:off x="7845552" y="1938528"/>
            <a:ext cx="3538728"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QUE LA FUSION APPORTE</a:t>
            </a:r>
            <a:endParaRPr lang="en-US" sz="900" dirty="0"/>
          </a:p>
        </p:txBody>
      </p:sp>
      <p:sp>
        <p:nvSpPr>
          <p:cNvPr id="11" name="Text 7"/>
          <p:cNvSpPr txBox="1"/>
          <p:nvPr/>
        </p:nvSpPr>
        <p:spPr>
          <a:xfrm>
            <a:off x="7845552" y="2176272"/>
            <a:ext cx="3538728" cy="1627632"/>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Meilleure que chacun sur les trois protocoles de qualité</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Écart le plus net là où les deux se contredisent</a:t>
            </a:r>
            <a:endParaRPr lang="en-US" sz="1150" dirty="0"/>
          </a:p>
          <a:p>
            <a:pPr marL="342900" indent="-342900">
              <a:lnSpc>
                <a:spcPct val="115000"/>
              </a:lnSpc>
              <a:spcAft>
                <a:spcPts val="600"/>
              </a:spcAft>
              <a:buSzPct val="100000"/>
              <a:buChar char="•"/>
            </a:pPr>
            <a:r>
              <a:rPr lang="en-US" sz="1150" b="1" dirty="0">
                <a:solidFill>
                  <a:srgbClr val="10B981"/>
                </a:solidFill>
                <a:latin typeface="Calibri" pitchFamily="34" charset="0"/>
                <a:ea typeface="Calibri" pitchFamily="34" charset="-122"/>
                <a:cs typeface="Calibri" pitchFamily="34" charset="-120"/>
              </a:rPr>
              <a:t>Conserve la couverture multilingue : 0 requête arabe sans résultat</a:t>
            </a:r>
            <a:endParaRPr lang="en-US" sz="1150" dirty="0"/>
          </a:p>
        </p:txBody>
      </p:sp>
      <p:sp>
        <p:nvSpPr>
          <p:cNvPr id="12" name="Shape 8"/>
          <p:cNvSpPr/>
          <p:nvPr/>
        </p:nvSpPr>
        <p:spPr>
          <a:xfrm>
            <a:off x="7607808" y="4114800"/>
            <a:ext cx="4014216" cy="1600200"/>
          </a:xfrm>
          <a:prstGeom prst="roundRect">
            <a:avLst>
              <a:gd name="adj" fmla="val 4571"/>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13" name="Shape 9"/>
          <p:cNvSpPr/>
          <p:nvPr/>
        </p:nvSpPr>
        <p:spPr>
          <a:xfrm>
            <a:off x="7845552" y="4325112"/>
            <a:ext cx="118872" cy="118872"/>
          </a:xfrm>
          <a:prstGeom prst="ellipse">
            <a:avLst/>
          </a:prstGeom>
          <a:solidFill>
            <a:srgbClr val="FB7185"/>
          </a:solidFill>
          <a:ln w="12700">
            <a:solidFill>
              <a:srgbClr val="333333"/>
            </a:solidFill>
            <a:prstDash val="solid"/>
          </a:ln>
        </p:spPr>
      </p:sp>
      <p:sp>
        <p:nvSpPr>
          <p:cNvPr id="14" name="Text 10"/>
          <p:cNvSpPr txBox="1"/>
          <p:nvPr/>
        </p:nvSpPr>
        <p:spPr>
          <a:xfrm>
            <a:off x="8046720" y="4270248"/>
            <a:ext cx="3337560"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LE PRIX À PAYER</a:t>
            </a:r>
            <a:endParaRPr lang="en-US" sz="900" dirty="0"/>
          </a:p>
        </p:txBody>
      </p:sp>
      <p:sp>
        <p:nvSpPr>
          <p:cNvPr id="15" name="Text 11"/>
          <p:cNvSpPr txBox="1"/>
          <p:nvPr/>
        </p:nvSpPr>
        <p:spPr>
          <a:xfrm>
            <a:off x="7845552" y="4572000"/>
            <a:ext cx="3538728" cy="99669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La fusion interroge les deux moteurs : sa latence est par construction la somme des leurs. C'est le seul coût réel de l'opération.</a:t>
            </a:r>
            <a:endParaRPr lang="en-US" sz="1200" dirty="0"/>
          </a:p>
        </p:txBody>
      </p:sp>
      <p:sp>
        <p:nvSpPr>
          <p:cNvPr id="16" name="Text 12"/>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Résultat 5 — la fusion hybride</a:t>
            </a:r>
            <a:endParaRPr lang="en-US" sz="900" dirty="0"/>
          </a:p>
        </p:txBody>
      </p:sp>
      <p:sp>
        <p:nvSpPr>
          <p:cNvPr id="17" name="Text 13"/>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20 / 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RÉSULTAT 6 · COÛT</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Ce que ça coûte, et ce que l'approximation ne vaut pas</a:t>
            </a:r>
            <a:endParaRPr lang="en-US" sz="3400" dirty="0"/>
          </a:p>
        </p:txBody>
      </p:sp>
      <p:sp>
        <p:nvSpPr>
          <p:cNvPr id="6" name="Text 3"/>
          <p:cNvSpPr txBox="1"/>
          <p:nvPr/>
        </p:nvSpPr>
        <p:spPr>
          <a:xfrm>
            <a:off x="566928" y="1691640"/>
            <a:ext cx="5349240" cy="256032"/>
          </a:xfrm>
          <a:prstGeom prst="rect">
            <a:avLst/>
          </a:prstGeom>
          <a:noFill/>
          <a:ln/>
        </p:spPr>
        <p:txBody>
          <a:bodyPr wrap="square" lIns="0" tIns="0" rIns="0" bIns="0" rtlCol="0" anchor="ctr"/>
          <a:lstStyle/>
          <a:p>
            <a:pPr indent="0" marL="0">
              <a:buNone/>
            </a:pPr>
            <a:r>
              <a:rPr lang="en-US" sz="1300" b="1" dirty="0">
                <a:solidFill>
                  <a:srgbClr val="E9ECF5"/>
                </a:solidFill>
                <a:latin typeface="Calibri" pitchFamily="34" charset="0"/>
                <a:ea typeface="Calibri" pitchFamily="34" charset="-122"/>
                <a:cs typeface="Calibri" pitchFamily="34" charset="-120"/>
              </a:rPr>
              <a:t>Latence par requête</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5349240" cy="914400"/>
        </p:xfrm>
        <a:graphic>
          <a:graphicData uri="http://schemas.openxmlformats.org/drawingml/2006/table">
            <a:tbl>
              <a:tblPr/>
              <a:tblGrid>
                <a:gridCol w="2240280"/>
                <a:gridCol w="1554480"/>
                <a:gridCol w="1554480"/>
              </a:tblGrid>
              <a:tr h="384048">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Moteur</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médiane</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p95</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84048">
                <a:tc>
                  <a:txBody>
                    <a:bodyPr/>
                    <a:lstStyle/>
                    <a:p>
                      <a:pPr algn="l" indent="0" marL="0">
                        <a:buNone/>
                      </a:pPr>
                      <a:r>
                        <a:rPr lang="en-US" sz="1150" dirty="0">
                          <a:solidFill>
                            <a:srgbClr val="8B5CF6"/>
                          </a:solidFill>
                          <a:latin typeface="Calibri" pitchFamily="34" charset="0"/>
                          <a:ea typeface="Calibri" pitchFamily="34" charset="-122"/>
                          <a:cs typeface="Calibri" pitchFamily="34" charset="-120"/>
                        </a:rPr>
                        <a:t>Sémantique</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83,4 ms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107,2 ms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84048">
                <a:tc>
                  <a:txBody>
                    <a:bodyPr/>
                    <a:lstStyle/>
                    <a:p>
                      <a:pPr algn="l" indent="0" marL="0">
                        <a:buNone/>
                      </a:pPr>
                      <a:r>
                        <a:rPr lang="en-US" sz="1150" dirty="0">
                          <a:solidFill>
                            <a:srgbClr val="F59E0B"/>
                          </a:solidFill>
                          <a:latin typeface="Calibri" pitchFamily="34" charset="0"/>
                          <a:ea typeface="Calibri" pitchFamily="34" charset="-122"/>
                          <a:cs typeface="Calibri" pitchFamily="34" charset="-120"/>
                        </a:rPr>
                        <a:t>BM25</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116,7 ms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236,0 ms</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8" name="Shape 4"/>
          <p:cNvSpPr/>
          <p:nvPr/>
        </p:nvSpPr>
        <p:spPr>
          <a:xfrm>
            <a:off x="566928" y="3291840"/>
            <a:ext cx="5349240" cy="1417320"/>
          </a:xfrm>
          <a:prstGeom prst="roundRect">
            <a:avLst>
              <a:gd name="adj" fmla="val 5161"/>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9" name="Text 5"/>
          <p:cNvSpPr txBox="1"/>
          <p:nvPr/>
        </p:nvSpPr>
        <p:spPr>
          <a:xfrm>
            <a:off x="804672" y="347472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OÙ PASSE LE TEMPS</a:t>
            </a:r>
            <a:endParaRPr lang="en-US" sz="900" dirty="0"/>
          </a:p>
        </p:txBody>
      </p:sp>
      <p:sp>
        <p:nvSpPr>
          <p:cNvPr id="10" name="Text 6"/>
          <p:cNvSpPr txBox="1"/>
          <p:nvPr/>
        </p:nvSpPr>
        <p:spPr>
          <a:xfrm>
            <a:off x="804672" y="3712464"/>
            <a:ext cx="4873752" cy="85039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Le temps du moteur sémantique est presque entièrement consacré à l'encodage de la requête. La recherche FAISS elle-même ne coûte qu'une milliseconde sur 10 897 vecteurs.</a:t>
            </a:r>
            <a:endParaRPr lang="en-US" sz="1200" dirty="0"/>
          </a:p>
        </p:txBody>
      </p:sp>
      <p:sp>
        <p:nvSpPr>
          <p:cNvPr id="11" name="Text 7"/>
          <p:cNvSpPr txBox="1"/>
          <p:nvPr/>
        </p:nvSpPr>
        <p:spPr>
          <a:xfrm>
            <a:off x="6272784" y="1691640"/>
            <a:ext cx="5349240" cy="256032"/>
          </a:xfrm>
          <a:prstGeom prst="rect">
            <a:avLst/>
          </a:prstGeom>
          <a:noFill/>
          <a:ln/>
        </p:spPr>
        <p:txBody>
          <a:bodyPr wrap="square" lIns="0" tIns="0" rIns="0" bIns="0" rtlCol="0" anchor="ctr"/>
          <a:lstStyle/>
          <a:p>
            <a:pPr indent="0" marL="0">
              <a:buNone/>
            </a:pPr>
            <a:r>
              <a:rPr lang="en-US" sz="1300" b="1" dirty="0">
                <a:solidFill>
                  <a:srgbClr val="E9ECF5"/>
                </a:solidFill>
                <a:latin typeface="Calibri" pitchFamily="34" charset="0"/>
                <a:ea typeface="Calibri" pitchFamily="34" charset="-122"/>
                <a:cs typeface="Calibri" pitchFamily="34" charset="-120"/>
              </a:rPr>
              <a:t>Index exact contre index approximatif</a:t>
            </a:r>
            <a:endParaRPr lang="en-US" sz="13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72784" y="2011680"/>
          <a:ext cx="5349240" cy="914400"/>
        </p:xfrm>
        <a:graphic>
          <a:graphicData uri="http://schemas.openxmlformats.org/drawingml/2006/table">
            <a:tbl>
              <a:tblPr/>
              <a:tblGrid>
                <a:gridCol w="1691640"/>
                <a:gridCol w="1005840"/>
                <a:gridCol w="1325880"/>
                <a:gridCol w="1325880"/>
              </a:tblGrid>
              <a:tr h="347472">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Index</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nprobe</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ms/req.</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c>
                  <a:txBody>
                    <a:bodyPr/>
                    <a:lstStyle/>
                    <a:p>
                      <a:pPr algn="l" indent="0" marL="0">
                        <a:buNone/>
                      </a:pPr>
                      <a:r>
                        <a:rPr lang="en-US" sz="950" b="1" spc="100" kern="0" dirty="0">
                          <a:solidFill>
                            <a:srgbClr val="727C96"/>
                          </a:solidFill>
                          <a:latin typeface="Calibri" pitchFamily="34" charset="0"/>
                          <a:ea typeface="Calibri" pitchFamily="34" charset="-122"/>
                          <a:cs typeface="Calibri" pitchFamily="34" charset="-120"/>
                        </a:rPr>
                        <a:t>rappel</a:t>
                      </a:r>
                      <a:endParaRPr lang="en-US" sz="9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080A0F"/>
                    </a:solidFill>
                  </a:tcPr>
                </a:tc>
              </a:tr>
              <a:tr h="347472">
                <a:tc>
                  <a:txBody>
                    <a:bodyPr/>
                    <a:lstStyle/>
                    <a:p>
                      <a:pPr algn="l" indent="0" marL="0">
                        <a:buNone/>
                      </a:pPr>
                      <a:r>
                        <a:rPr lang="en-US" sz="1150" b="1" dirty="0">
                          <a:solidFill>
                            <a:srgbClr val="E9ECF5"/>
                          </a:solidFill>
                          <a:latin typeface="Calibri" pitchFamily="34" charset="0"/>
                          <a:ea typeface="Calibri" pitchFamily="34" charset="-122"/>
                          <a:cs typeface="Calibri" pitchFamily="34" charset="-120"/>
                        </a:rPr>
                        <a:t>flat (exact)</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1,311</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b="1" dirty="0">
                          <a:solidFill>
                            <a:srgbClr val="10B981"/>
                          </a:solidFill>
                          <a:latin typeface="Consolas" pitchFamily="34" charset="0"/>
                          <a:ea typeface="Consolas" pitchFamily="34" charset="-122"/>
                          <a:cs typeface="Consolas" pitchFamily="34" charset="-120"/>
                        </a:rPr>
                        <a:t>1,000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47472">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ivf</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1</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0,126</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FB7185"/>
                          </a:solidFill>
                          <a:latin typeface="Consolas" pitchFamily="34" charset="0"/>
                          <a:ea typeface="Consolas" pitchFamily="34" charset="-122"/>
                          <a:cs typeface="Consolas" pitchFamily="34" charset="-120"/>
                        </a:rPr>
                        <a:t>0,325</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47472">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ivf</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10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0,124</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0,761</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r h="347472">
                <a:tc>
                  <a:txBody>
                    <a:bodyPr/>
                    <a:lstStyle/>
                    <a:p>
                      <a:pPr algn="l" indent="0" marL="0">
                        <a:buNone/>
                      </a:pPr>
                      <a:r>
                        <a:rPr lang="en-US" sz="1150" dirty="0">
                          <a:solidFill>
                            <a:srgbClr val="9AA3BC"/>
                          </a:solidFill>
                          <a:latin typeface="Calibri" pitchFamily="34" charset="0"/>
                          <a:ea typeface="Calibri" pitchFamily="34" charset="-122"/>
                          <a:cs typeface="Calibri" pitchFamily="34" charset="-120"/>
                        </a:rPr>
                        <a:t>ivf</a:t>
                      </a:r>
                      <a:endParaRPr lang="en-US" sz="1150" dirty="0">
                        <a:latin typeface="Calibri" charset="0"/>
                        <a:ea typeface="Calibri" charset="0"/>
                        <a:cs typeface="Calibri"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20</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0,449</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c>
                  <a:txBody>
                    <a:bodyPr/>
                    <a:lstStyle/>
                    <a:p>
                      <a:pPr algn="r" indent="0" marL="0">
                        <a:buNone/>
                      </a:pPr>
                      <a:r>
                        <a:rPr lang="en-US" sz="1150" dirty="0">
                          <a:solidFill>
                            <a:srgbClr val="9AA3BC"/>
                          </a:solidFill>
                          <a:latin typeface="Consolas" pitchFamily="34" charset="0"/>
                          <a:ea typeface="Consolas" pitchFamily="34" charset="-122"/>
                          <a:cs typeface="Consolas" pitchFamily="34" charset="-120"/>
                        </a:rPr>
                        <a:t>0,862</a:t>
                      </a:r>
                      <a:endParaRPr lang="en-US" sz="1150" dirty="0">
                        <a:latin typeface="Consolas" charset="0"/>
                        <a:ea typeface="Consolas" charset="0"/>
                        <a:cs typeface="Consolas" charset="0"/>
                      </a:endParaRPr>
                    </a:p>
                  </a:txBody>
                  <a:tcPr marL="101600" marR="101600" marT="50800" marB="50800" anchor="ctr">
                    <a:lnL w="0" cap="flat" cmpd="sng" algn="ctr">
                      <a:noFill/>
                    </a:lnL>
                    <a:lnR w="0" cap="flat" cmpd="sng" algn="ctr">
                      <a:noFill/>
                    </a:lnR>
                    <a:lnT w="0" cap="flat" cmpd="sng" algn="ctr">
                      <a:noFill/>
                    </a:lnT>
                    <a:lnB w="12700" cap="flat" cmpd="sng" algn="ctr">
                      <a:solidFill>
                        <a:srgbClr val="2A3145"/>
                      </a:solidFill>
                      <a:prstDash val="solid"/>
                      <a:round/>
                      <a:headEnd type="none" w="med" len="med"/>
                      <a:tailEnd type="none" w="med" len="med"/>
                    </a:lnB>
                    <a:solidFill>
                      <a:srgbClr val="141822"/>
                    </a:solidFill>
                  </a:tcPr>
                </a:tc>
              </a:tr>
            </a:tbl>
          </a:graphicData>
        </a:graphic>
      </p:graphicFrame>
      <p:sp>
        <p:nvSpPr>
          <p:cNvPr id="13" name="Shape 8"/>
          <p:cNvSpPr/>
          <p:nvPr/>
        </p:nvSpPr>
        <p:spPr>
          <a:xfrm>
            <a:off x="6272784" y="3977640"/>
            <a:ext cx="5349240" cy="1645920"/>
          </a:xfrm>
          <a:prstGeom prst="roundRect">
            <a:avLst>
              <a:gd name="adj" fmla="val 4444"/>
            </a:avLst>
          </a:prstGeom>
          <a:solidFill>
            <a:srgbClr val="1B2130"/>
          </a:solidFill>
          <a:ln w="15875">
            <a:solidFill>
              <a:srgbClr val="FB7185"/>
            </a:solidFill>
            <a:prstDash val="solid"/>
          </a:ln>
          <a:effectLst>
            <a:outerShdw sx="100000" sy="100000" kx="0" ky="0" algn="bl" rotWithShape="0" blurRad="127000" dist="38100" dir="5400000">
              <a:srgbClr val="000000">
                <a:alpha val="35000"/>
              </a:srgbClr>
            </a:outerShdw>
          </a:effectLst>
        </p:spPr>
      </p:sp>
      <p:sp>
        <p:nvSpPr>
          <p:cNvPr id="14" name="Shape 9"/>
          <p:cNvSpPr/>
          <p:nvPr/>
        </p:nvSpPr>
        <p:spPr>
          <a:xfrm>
            <a:off x="6510528" y="4187952"/>
            <a:ext cx="118872" cy="118872"/>
          </a:xfrm>
          <a:prstGeom prst="ellipse">
            <a:avLst/>
          </a:prstGeom>
          <a:solidFill>
            <a:srgbClr val="FB7185"/>
          </a:solidFill>
          <a:ln w="12700">
            <a:solidFill>
              <a:srgbClr val="333333"/>
            </a:solidFill>
            <a:prstDash val="solid"/>
          </a:ln>
        </p:spPr>
      </p:sp>
      <p:sp>
        <p:nvSpPr>
          <p:cNvPr id="15" name="Text 10"/>
          <p:cNvSpPr txBox="1"/>
          <p:nvPr/>
        </p:nvSpPr>
        <p:spPr>
          <a:xfrm>
            <a:off x="6711696" y="4133088"/>
            <a:ext cx="4672584" cy="219456"/>
          </a:xfrm>
          <a:prstGeom prst="rect">
            <a:avLst/>
          </a:prstGeom>
          <a:noFill/>
          <a:ln/>
        </p:spPr>
        <p:txBody>
          <a:bodyPr wrap="square" lIns="0" tIns="0" rIns="0" bIns="0" rtlCol="0" anchor="ctr"/>
          <a:lstStyle/>
          <a:p>
            <a:pPr indent="0" marL="0">
              <a:buNone/>
            </a:pPr>
            <a:r>
              <a:rPr lang="en-US" sz="900" b="1" spc="120" kern="0" dirty="0">
                <a:solidFill>
                  <a:srgbClr val="FB7185"/>
                </a:solidFill>
                <a:latin typeface="Calibri" pitchFamily="34" charset="0"/>
                <a:ea typeface="Calibri" pitchFamily="34" charset="-122"/>
                <a:cs typeface="Calibri" pitchFamily="34" charset="-120"/>
              </a:rPr>
              <a:t>CONCLUSION CONTRE-INTUITIVE</a:t>
            </a:r>
            <a:endParaRPr lang="en-US" sz="900" dirty="0"/>
          </a:p>
        </p:txBody>
      </p:sp>
      <p:sp>
        <p:nvSpPr>
          <p:cNvPr id="16" name="Text 11"/>
          <p:cNvSpPr txBox="1"/>
          <p:nvPr/>
        </p:nvSpPr>
        <p:spPr>
          <a:xfrm>
            <a:off x="6510528" y="4434840"/>
            <a:ext cx="4873752" cy="1042416"/>
          </a:xfrm>
          <a:prstGeom prst="rect">
            <a:avLst/>
          </a:prstGeom>
          <a:noFill/>
          <a:ln/>
        </p:spPr>
        <p:txBody>
          <a:bodyPr wrap="square" lIns="0" tIns="0" rIns="0" bIns="0" rtlCol="0" anchor="t"/>
          <a:lstStyle/>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L'approximation fait perdre 14 % de rappel pour économiser moins d'une milliseconde sur une requête qui en prend 83.</a:t>
            </a:r>
            <a:endParaRPr lang="en-US" sz="1200" dirty="0"/>
          </a:p>
          <a:p>
            <a:pPr indent="0" marL="0">
              <a:lnSpc>
                <a:spcPct val="125000"/>
              </a:lnSpc>
              <a:buNone/>
            </a:pPr>
            <a:endParaRPr lang="en-US" sz="1200" dirty="0"/>
          </a:p>
          <a:p>
            <a:pPr indent="0" marL="0">
              <a:lnSpc>
                <a:spcPct val="125000"/>
              </a:lnSpc>
              <a:buNone/>
            </a:pPr>
            <a:r>
              <a:rPr lang="en-US" sz="1200" dirty="0">
                <a:solidFill>
                  <a:srgbClr val="E9ECF5"/>
                </a:solidFill>
                <a:latin typeface="Calibri" pitchFamily="34" charset="0"/>
                <a:ea typeface="Calibri" pitchFamily="34" charset="-122"/>
                <a:cs typeface="Calibri" pitchFamily="34" charset="-120"/>
              </a:rPr>
              <a:t>Elle ne se justifie pas à cette échelle. Elle reste implémentée pour le jour où le corpus atteindra le million de documents.</a:t>
            </a:r>
            <a:endParaRPr lang="en-US" sz="1200" dirty="0"/>
          </a:p>
        </p:txBody>
      </p:sp>
      <p:sp>
        <p:nvSpPr>
          <p:cNvPr id="17" name="Text 12"/>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Coût — latence et index</a:t>
            </a:r>
            <a:endParaRPr lang="en-US" sz="900" dirty="0"/>
          </a:p>
        </p:txBody>
      </p:sp>
      <p:sp>
        <p:nvSpPr>
          <p:cNvPr id="18" name="Text 13"/>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21 / 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CONCLUSION</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Ce que les mesures autorisent à dire</a:t>
            </a:r>
            <a:endParaRPr lang="en-US" sz="3400" dirty="0"/>
          </a:p>
        </p:txBody>
      </p:sp>
      <p:sp>
        <p:nvSpPr>
          <p:cNvPr id="6" name="Shape 3"/>
          <p:cNvSpPr/>
          <p:nvPr/>
        </p:nvSpPr>
        <p:spPr>
          <a:xfrm>
            <a:off x="566928" y="1755648"/>
            <a:ext cx="11057839" cy="1737360"/>
          </a:xfrm>
          <a:prstGeom prst="roundRect">
            <a:avLst>
              <a:gd name="adj" fmla="val 4211"/>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7" name="Shape 4"/>
          <p:cNvSpPr/>
          <p:nvPr/>
        </p:nvSpPr>
        <p:spPr>
          <a:xfrm>
            <a:off x="804672" y="1965960"/>
            <a:ext cx="118872" cy="118872"/>
          </a:xfrm>
          <a:prstGeom prst="ellipse">
            <a:avLst/>
          </a:prstGeom>
          <a:solidFill>
            <a:srgbClr val="8B5CF6"/>
          </a:solidFill>
          <a:ln w="12700">
            <a:solidFill>
              <a:srgbClr val="333333"/>
            </a:solidFill>
            <a:prstDash val="solid"/>
          </a:ln>
        </p:spPr>
      </p:sp>
      <p:sp>
        <p:nvSpPr>
          <p:cNvPr id="8" name="Text 5"/>
          <p:cNvSpPr txBox="1"/>
          <p:nvPr/>
        </p:nvSpPr>
        <p:spPr>
          <a:xfrm>
            <a:off x="1005840" y="1911096"/>
            <a:ext cx="10381183"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LA THÈSE DÉFENDABLE</a:t>
            </a:r>
            <a:endParaRPr lang="en-US" sz="900" dirty="0"/>
          </a:p>
        </p:txBody>
      </p:sp>
      <p:sp>
        <p:nvSpPr>
          <p:cNvPr id="9" name="Text 6"/>
          <p:cNvSpPr txBox="1"/>
          <p:nvPr/>
        </p:nvSpPr>
        <p:spPr>
          <a:xfrm>
            <a:off x="804672" y="2212848"/>
            <a:ext cx="10582351" cy="1133856"/>
          </a:xfrm>
          <a:prstGeom prst="rect">
            <a:avLst/>
          </a:prstGeom>
          <a:noFill/>
          <a:ln/>
        </p:spPr>
        <p:txBody>
          <a:bodyPr wrap="square" lIns="0" tIns="0" rIns="0" bIns="0" rtlCol="0" anchor="t"/>
          <a:lstStyle/>
          <a:p>
            <a:pPr indent="0" marL="0">
              <a:lnSpc>
                <a:spcPct val="125000"/>
              </a:lnSpc>
              <a:buNone/>
            </a:pPr>
            <a:r>
              <a:rPr lang="en-US" sz="1600" dirty="0">
                <a:solidFill>
                  <a:srgbClr val="E9ECF5"/>
                </a:solidFill>
                <a:latin typeface="Calibri" pitchFamily="34" charset="0"/>
                <a:ea typeface="Calibri" pitchFamily="34" charset="-122"/>
                <a:cs typeface="Calibri" pitchFamily="34" charset="-120"/>
              </a:rPr>
              <a:t>Là où les mots se recouvrent, BM25 reste légèrement meilleur, gratuit et instantané.</a:t>
            </a:r>
            <a:endParaRPr lang="en-US" sz="1600" dirty="0"/>
          </a:p>
          <a:p>
            <a:pPr indent="0" marL="0">
              <a:lnSpc>
                <a:spcPct val="125000"/>
              </a:lnSpc>
              <a:buNone/>
            </a:pPr>
            <a:endParaRPr lang="en-US" sz="1600" dirty="0"/>
          </a:p>
          <a:p>
            <a:pPr indent="0" marL="0">
              <a:lnSpc>
                <a:spcPct val="125000"/>
              </a:lnSpc>
              <a:buNone/>
            </a:pPr>
            <a:r>
              <a:rPr lang="en-US" sz="1600" dirty="0">
                <a:solidFill>
                  <a:srgbClr val="E9ECF5"/>
                </a:solidFill>
                <a:latin typeface="Calibri" pitchFamily="34" charset="0"/>
                <a:ea typeface="Calibri" pitchFamily="34" charset="-122"/>
                <a:cs typeface="Calibri" pitchFamily="34" charset="-120"/>
              </a:rPr>
              <a:t>Là où ils ne se recouvrent pas — autre langue, autre vocabulaire — le moteur sémantique est le seul à fonctionner, tandis que BM25 ne renvoie rien.</a:t>
            </a:r>
            <a:endParaRPr lang="en-US" sz="1600" dirty="0"/>
          </a:p>
        </p:txBody>
      </p:sp>
      <p:sp>
        <p:nvSpPr>
          <p:cNvPr id="10" name="Shape 7"/>
          <p:cNvSpPr/>
          <p:nvPr/>
        </p:nvSpPr>
        <p:spPr>
          <a:xfrm>
            <a:off x="566928" y="3886200"/>
            <a:ext cx="3502152" cy="1783080"/>
          </a:xfrm>
          <a:prstGeom prst="roundRect">
            <a:avLst>
              <a:gd name="adj" fmla="val 4103"/>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1" name="Text 8"/>
          <p:cNvSpPr txBox="1"/>
          <p:nvPr/>
        </p:nvSpPr>
        <p:spPr>
          <a:xfrm>
            <a:off x="804672" y="40690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QUE JE NE DIRAI PAS</a:t>
            </a:r>
            <a:endParaRPr lang="en-US" sz="900" dirty="0"/>
          </a:p>
        </p:txBody>
      </p:sp>
      <p:sp>
        <p:nvSpPr>
          <p:cNvPr id="12" name="Text 9"/>
          <p:cNvSpPr txBox="1"/>
          <p:nvPr/>
        </p:nvSpPr>
        <p:spPr>
          <a:xfrm>
            <a:off x="804672" y="4306824"/>
            <a:ext cx="3026664" cy="121615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 Le sémantique bat le lexical. » Mes propres mesures le contredisent sur deux protocoles sur trois.</a:t>
            </a:r>
            <a:endParaRPr lang="en-US" sz="1200" dirty="0"/>
          </a:p>
        </p:txBody>
      </p:sp>
      <p:sp>
        <p:nvSpPr>
          <p:cNvPr id="13" name="Shape 10"/>
          <p:cNvSpPr/>
          <p:nvPr/>
        </p:nvSpPr>
        <p:spPr>
          <a:xfrm>
            <a:off x="4343400" y="3886200"/>
            <a:ext cx="3502152" cy="1783080"/>
          </a:xfrm>
          <a:prstGeom prst="roundRect">
            <a:avLst>
              <a:gd name="adj" fmla="val 4103"/>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4" name="Text 11"/>
          <p:cNvSpPr txBox="1"/>
          <p:nvPr/>
        </p:nvSpPr>
        <p:spPr>
          <a:xfrm>
            <a:off x="4581144" y="40690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QUE JE DIRAI</a:t>
            </a:r>
            <a:endParaRPr lang="en-US" sz="900" dirty="0"/>
          </a:p>
        </p:txBody>
      </p:sp>
      <p:sp>
        <p:nvSpPr>
          <p:cNvPr id="15" name="Text 12"/>
          <p:cNvSpPr txBox="1"/>
          <p:nvPr/>
        </p:nvSpPr>
        <p:spPr>
          <a:xfrm>
            <a:off x="4581144" y="4306824"/>
            <a:ext cx="3026664" cy="121615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Les deux approches échouent à des endroits différents. C'est cela, le résultat — et il est plus utile qu'un classement.</a:t>
            </a:r>
            <a:endParaRPr lang="en-US" sz="1200" dirty="0"/>
          </a:p>
        </p:txBody>
      </p:sp>
      <p:sp>
        <p:nvSpPr>
          <p:cNvPr id="16" name="Shape 13"/>
          <p:cNvSpPr/>
          <p:nvPr/>
        </p:nvSpPr>
        <p:spPr>
          <a:xfrm>
            <a:off x="8119872" y="3886200"/>
            <a:ext cx="3502152" cy="1783080"/>
          </a:xfrm>
          <a:prstGeom prst="roundRect">
            <a:avLst>
              <a:gd name="adj" fmla="val 4103"/>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8357616" y="4069080"/>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CE QUI EN DÉCOULE</a:t>
            </a:r>
            <a:endParaRPr lang="en-US" sz="900" dirty="0"/>
          </a:p>
        </p:txBody>
      </p:sp>
      <p:sp>
        <p:nvSpPr>
          <p:cNvPr id="18" name="Text 15"/>
          <p:cNvSpPr txBox="1"/>
          <p:nvPr/>
        </p:nvSpPr>
        <p:spPr>
          <a:xfrm>
            <a:off x="8357616" y="4306824"/>
            <a:ext cx="3026664" cy="1216152"/>
          </a:xfrm>
          <a:prstGeom prst="rect">
            <a:avLst/>
          </a:prstGeom>
          <a:noFill/>
          <a:ln/>
        </p:spPr>
        <p:txBody>
          <a:bodyPr wrap="square" lIns="0" tIns="0" rIns="0" bIns="0" rtlCol="0" anchor="t"/>
          <a:lstStyle/>
          <a:p>
            <a:pPr indent="0" marL="0">
              <a:lnSpc>
                <a:spcPct val="122000"/>
              </a:lnSpc>
              <a:buNone/>
            </a:pPr>
            <a:r>
              <a:rPr lang="en-US" sz="1200" dirty="0">
                <a:solidFill>
                  <a:srgbClr val="9AA3BC"/>
                </a:solidFill>
                <a:latin typeface="Calibri" pitchFamily="34" charset="0"/>
                <a:ea typeface="Calibri" pitchFamily="34" charset="-122"/>
                <a:cs typeface="Calibri" pitchFamily="34" charset="-120"/>
              </a:rPr>
              <a:t>La recherche hybride n'est pas un bonus du projet : elle en est la conclusion logique. D'où son implémentation, et sa mesure.</a:t>
            </a:r>
            <a:endParaRPr lang="en-US" sz="1200" dirty="0"/>
          </a:p>
        </p:txBody>
      </p:sp>
      <p:sp>
        <p:nvSpPr>
          <p:cNvPr id="19" name="Text 16"/>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Conclusion — la thèse défendable</a:t>
            </a:r>
            <a:endParaRPr lang="en-US" sz="900" dirty="0"/>
          </a:p>
        </p:txBody>
      </p:sp>
      <p:sp>
        <p:nvSpPr>
          <p:cNvPr id="20" name="Text 17"/>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22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LIMITES &amp; PERSPECTIVES</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Ce qui ne marche pas encore, et ce qui suit</a:t>
            </a:r>
            <a:endParaRPr lang="en-US" sz="3400" dirty="0"/>
          </a:p>
        </p:txBody>
      </p:sp>
      <p:sp>
        <p:nvSpPr>
          <p:cNvPr id="6" name="Shape 3"/>
          <p:cNvSpPr/>
          <p:nvPr/>
        </p:nvSpPr>
        <p:spPr>
          <a:xfrm>
            <a:off x="566928" y="1755648"/>
            <a:ext cx="5349240" cy="2880360"/>
          </a:xfrm>
          <a:prstGeom prst="roundRect">
            <a:avLst>
              <a:gd name="adj" fmla="val 254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LIMITES ASSUMÉES</a:t>
            </a:r>
            <a:endParaRPr lang="en-US" sz="900" dirty="0"/>
          </a:p>
        </p:txBody>
      </p:sp>
      <p:sp>
        <p:nvSpPr>
          <p:cNvPr id="8" name="Text 5"/>
          <p:cNvSpPr txBox="1"/>
          <p:nvPr/>
        </p:nvSpPr>
        <p:spPr>
          <a:xfrm>
            <a:off x="804672" y="2176272"/>
            <a:ext cx="4873752" cy="2313432"/>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Qualité multilingue non uniforme — 0,130 en arabe contre 0,445 en français</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Le protocole 1 ne mesure pas le sens — son tiers le plus dur reste à 63 % lexical</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Corpus mono-domaine — uniquement des résumés scientifiques, en anglais</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L'explicabilité coûte cher — 9× la recherche sur CPU</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Filtrage par sur-échantillon — un filtre très sélectif peut manquer de survivants</a:t>
            </a:r>
            <a:endParaRPr lang="en-US" sz="1150" dirty="0"/>
          </a:p>
        </p:txBody>
      </p:sp>
      <p:sp>
        <p:nvSpPr>
          <p:cNvPr id="9" name="Shape 6"/>
          <p:cNvSpPr/>
          <p:nvPr/>
        </p:nvSpPr>
        <p:spPr>
          <a:xfrm>
            <a:off x="6272784" y="1755648"/>
            <a:ext cx="5349240" cy="2880360"/>
          </a:xfrm>
          <a:prstGeom prst="roundRect">
            <a:avLst>
              <a:gd name="adj" fmla="val 2540"/>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7"/>
          <p:cNvSpPr txBox="1"/>
          <p:nvPr/>
        </p:nvSpPr>
        <p:spPr>
          <a:xfrm>
            <a:off x="6510528"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PERSPECTIVES, PAR RAPPORT QUALITÉ / EFFORT</a:t>
            </a:r>
            <a:endParaRPr lang="en-US" sz="900" dirty="0"/>
          </a:p>
        </p:txBody>
      </p:sp>
      <p:sp>
        <p:nvSpPr>
          <p:cNvPr id="11" name="Text 8"/>
          <p:cNvSpPr txBox="1"/>
          <p:nvPr/>
        </p:nvSpPr>
        <p:spPr>
          <a:xfrm>
            <a:off x="6510528" y="2176272"/>
            <a:ext cx="4873752" cy="2313432"/>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150" b="1" dirty="0">
                <a:solidFill>
                  <a:srgbClr val="E9ECF5"/>
                </a:solidFill>
                <a:latin typeface="Calibri" pitchFamily="34" charset="0"/>
                <a:ea typeface="Calibri" pitchFamily="34" charset="-122"/>
                <a:cs typeface="Calibri" pitchFamily="34" charset="-120"/>
              </a:rPr>
              <a:t>Reranking par cross-encoder — un modèle qui lit question et document ensemble. Le plus rentable de ce qui reste</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Régler les poids de la fusion — l'infrastructure est là, il reste à mesurer</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Comparer e5-base à e5-small — en particulier sur l'arabe</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Réponse générée (RAG) — après validation du moteur, pas avant</a:t>
            </a:r>
            <a:endParaRPr lang="en-US" sz="1150" dirty="0"/>
          </a:p>
          <a:p>
            <a:pPr marL="342900" indent="-342900">
              <a:lnSpc>
                <a:spcPct val="115000"/>
              </a:lnSpc>
              <a:spcAft>
                <a:spcPts val="600"/>
              </a:spcAft>
              <a:buSzPct val="100000"/>
              <a:buChar char="•"/>
            </a:pPr>
            <a:r>
              <a:rPr lang="en-US" sz="1150" dirty="0">
                <a:solidFill>
                  <a:srgbClr val="9AA3BC"/>
                </a:solidFill>
                <a:latin typeface="Calibri" pitchFamily="34" charset="0"/>
                <a:ea typeface="Calibri" pitchFamily="34" charset="-122"/>
                <a:cs typeface="Calibri" pitchFamily="34" charset="-120"/>
              </a:rPr>
              <a:t>Passage à l'échelle — 500 000 articles, pour trouver où l'index exact cède</a:t>
            </a:r>
            <a:endParaRPr lang="en-US" sz="1150" dirty="0"/>
          </a:p>
        </p:txBody>
      </p:sp>
      <p:sp>
        <p:nvSpPr>
          <p:cNvPr id="12" name="Shape 9"/>
          <p:cNvSpPr/>
          <p:nvPr/>
        </p:nvSpPr>
        <p:spPr>
          <a:xfrm>
            <a:off x="566928" y="4846320"/>
            <a:ext cx="11057839" cy="1097280"/>
          </a:xfrm>
          <a:prstGeom prst="roundRect">
            <a:avLst>
              <a:gd name="adj" fmla="val 6667"/>
            </a:avLst>
          </a:prstGeom>
          <a:solidFill>
            <a:srgbClr val="1B2130"/>
          </a:solidFill>
          <a:ln w="15875">
            <a:solidFill>
              <a:srgbClr val="8B5CF6"/>
            </a:solidFill>
            <a:prstDash val="solid"/>
          </a:ln>
          <a:effectLst>
            <a:outerShdw sx="100000" sy="100000" kx="0" ky="0" algn="bl" rotWithShape="0" blurRad="127000" dist="38100" dir="5400000">
              <a:srgbClr val="000000">
                <a:alpha val="35000"/>
              </a:srgbClr>
            </a:outerShdw>
          </a:effectLst>
        </p:spPr>
      </p:sp>
      <p:sp>
        <p:nvSpPr>
          <p:cNvPr id="13" name="Shape 10"/>
          <p:cNvSpPr/>
          <p:nvPr/>
        </p:nvSpPr>
        <p:spPr>
          <a:xfrm>
            <a:off x="804672" y="5056632"/>
            <a:ext cx="118872" cy="118872"/>
          </a:xfrm>
          <a:prstGeom prst="ellipse">
            <a:avLst/>
          </a:prstGeom>
          <a:solidFill>
            <a:srgbClr val="8B5CF6"/>
          </a:solidFill>
          <a:ln w="12700">
            <a:solidFill>
              <a:srgbClr val="333333"/>
            </a:solidFill>
            <a:prstDash val="solid"/>
          </a:ln>
        </p:spPr>
      </p:sp>
      <p:sp>
        <p:nvSpPr>
          <p:cNvPr id="14" name="Text 11"/>
          <p:cNvSpPr txBox="1"/>
          <p:nvPr/>
        </p:nvSpPr>
        <p:spPr>
          <a:xfrm>
            <a:off x="1005840" y="5001768"/>
            <a:ext cx="10381183" cy="219456"/>
          </a:xfrm>
          <a:prstGeom prst="rect">
            <a:avLst/>
          </a:prstGeom>
          <a:noFill/>
          <a:ln/>
        </p:spPr>
        <p:txBody>
          <a:bodyPr wrap="square" lIns="0" tIns="0" rIns="0" bIns="0" rtlCol="0" anchor="ctr"/>
          <a:lstStyle/>
          <a:p>
            <a:pPr indent="0" marL="0">
              <a:buNone/>
            </a:pPr>
            <a:r>
              <a:rPr lang="en-US" sz="900" b="1" spc="120" kern="0" dirty="0">
                <a:solidFill>
                  <a:srgbClr val="8B5CF6"/>
                </a:solidFill>
                <a:latin typeface="Calibri" pitchFamily="34" charset="0"/>
                <a:ea typeface="Calibri" pitchFamily="34" charset="-122"/>
                <a:cs typeface="Calibri" pitchFamily="34" charset="-120"/>
              </a:rPr>
              <a:t>CE QUE CES LIMITES NE REMETTENT PAS EN CAUSE</a:t>
            </a:r>
            <a:endParaRPr lang="en-US" sz="900" dirty="0"/>
          </a:p>
        </p:txBody>
      </p:sp>
      <p:sp>
        <p:nvSpPr>
          <p:cNvPr id="15" name="Text 12"/>
          <p:cNvSpPr txBox="1"/>
          <p:nvPr/>
        </p:nvSpPr>
        <p:spPr>
          <a:xfrm>
            <a:off x="804672" y="5303520"/>
            <a:ext cx="10582351" cy="49377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Aucune n'atteint le résultat central : sur un corpus anglophone, la baseline lexicale ne renvoie rien dès que la question change de langue. Ces limites disent où porter l'effort suivant, pas si le projet tient.</a:t>
            </a:r>
            <a:endParaRPr lang="en-US" sz="1250" dirty="0"/>
          </a:p>
        </p:txBody>
      </p:sp>
      <p:sp>
        <p:nvSpPr>
          <p:cNvPr id="16" name="Text 13"/>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Limites et perspectives</a:t>
            </a:r>
            <a:endParaRPr lang="en-US" sz="900" dirty="0"/>
          </a:p>
        </p:txBody>
      </p:sp>
      <p:sp>
        <p:nvSpPr>
          <p:cNvPr id="17" name="Text 14"/>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23 / 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10B981"/>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10B981"/>
                </a:solidFill>
                <a:latin typeface="Calibri" pitchFamily="34" charset="0"/>
                <a:ea typeface="Calibri" pitchFamily="34" charset="-122"/>
                <a:cs typeface="Calibri" pitchFamily="34" charset="-120"/>
              </a:rPr>
              <a:t>DÉMONSTRATION EN DIRECT</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Trois questions, une seule idée</a:t>
            </a:r>
            <a:endParaRPr lang="en-US" sz="3400" dirty="0"/>
          </a:p>
        </p:txBody>
      </p:sp>
      <p:sp>
        <p:nvSpPr>
          <p:cNvPr id="6" name="Shape 3"/>
          <p:cNvSpPr/>
          <p:nvPr/>
        </p:nvSpPr>
        <p:spPr>
          <a:xfrm>
            <a:off x="566928" y="1755648"/>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TEMPS 1 · ANGLAIS</a:t>
            </a:r>
            <a:endParaRPr lang="en-US" sz="900" dirty="0"/>
          </a:p>
        </p:txBody>
      </p:sp>
      <p:sp>
        <p:nvSpPr>
          <p:cNvPr id="8" name="Shape 5"/>
          <p:cNvSpPr/>
          <p:nvPr/>
        </p:nvSpPr>
        <p:spPr>
          <a:xfrm>
            <a:off x="804672" y="2244852"/>
            <a:ext cx="118872" cy="118872"/>
          </a:xfrm>
          <a:prstGeom prst="ellipse">
            <a:avLst/>
          </a:prstGeom>
          <a:solidFill>
            <a:srgbClr val="10B981"/>
          </a:solidFill>
          <a:ln w="12700">
            <a:solidFill>
              <a:srgbClr val="333333"/>
            </a:solidFill>
            <a:prstDash val="solid"/>
          </a:ln>
        </p:spPr>
      </p:sp>
      <p:sp>
        <p:nvSpPr>
          <p:cNvPr id="9" name="Text 6"/>
          <p:cNvSpPr txBox="1"/>
          <p:nvPr/>
        </p:nvSpPr>
        <p:spPr>
          <a:xfrm>
            <a:off x="1005840" y="2176272"/>
            <a:ext cx="2825496" cy="292608"/>
          </a:xfrm>
          <a:prstGeom prst="rect">
            <a:avLst/>
          </a:prstGeom>
          <a:noFill/>
          <a:ln/>
        </p:spPr>
        <p:txBody>
          <a:bodyPr wrap="square" lIns="0" tIns="0" rIns="0" bIns="0" rtlCol="0" anchor="t"/>
          <a:lstStyle/>
          <a:p>
            <a:pPr indent="0" marL="0">
              <a:buNone/>
            </a:pPr>
            <a:r>
              <a:rPr lang="en-US" sz="1250" b="1" dirty="0">
                <a:solidFill>
                  <a:srgbClr val="E9ECF5"/>
                </a:solidFill>
                <a:latin typeface="Calibri" pitchFamily="34" charset="0"/>
                <a:ea typeface="Calibri" pitchFamily="34" charset="-122"/>
                <a:cs typeface="Calibri" pitchFamily="34" charset="-120"/>
              </a:rPr>
              <a:t>machine learning for banking fraud detection</a:t>
            </a:r>
            <a:endParaRPr lang="en-US" sz="1250" dirty="0"/>
          </a:p>
        </p:txBody>
      </p:sp>
      <p:sp>
        <p:nvSpPr>
          <p:cNvPr id="10" name="Text 7"/>
          <p:cNvSpPr txBox="1"/>
          <p:nvPr/>
        </p:nvSpPr>
        <p:spPr>
          <a:xfrm>
            <a:off x="804672" y="2487168"/>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Les mots existent dans le corpus. Les deux moteurs fonctionnent et s'accordent largement. C'est le cas normal.</a:t>
            </a:r>
            <a:endParaRPr lang="en-US" sz="1150" dirty="0"/>
          </a:p>
        </p:txBody>
      </p:sp>
      <p:sp>
        <p:nvSpPr>
          <p:cNvPr id="11" name="Shape 8"/>
          <p:cNvSpPr/>
          <p:nvPr/>
        </p:nvSpPr>
        <p:spPr>
          <a:xfrm>
            <a:off x="4343400" y="1755648"/>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2" name="Text 9"/>
          <p:cNvSpPr txBox="1"/>
          <p:nvPr/>
        </p:nvSpPr>
        <p:spPr>
          <a:xfrm>
            <a:off x="4581144"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TEMPS 2 · FRANÇAIS</a:t>
            </a:r>
            <a:endParaRPr lang="en-US" sz="900" dirty="0"/>
          </a:p>
        </p:txBody>
      </p:sp>
      <p:sp>
        <p:nvSpPr>
          <p:cNvPr id="13" name="Shape 10"/>
          <p:cNvSpPr/>
          <p:nvPr/>
        </p:nvSpPr>
        <p:spPr>
          <a:xfrm>
            <a:off x="4581144" y="2244852"/>
            <a:ext cx="118872" cy="118872"/>
          </a:xfrm>
          <a:prstGeom prst="ellipse">
            <a:avLst/>
          </a:prstGeom>
          <a:solidFill>
            <a:srgbClr val="F59E0B"/>
          </a:solidFill>
          <a:ln w="12700">
            <a:solidFill>
              <a:srgbClr val="333333"/>
            </a:solidFill>
            <a:prstDash val="solid"/>
          </a:ln>
        </p:spPr>
      </p:sp>
      <p:sp>
        <p:nvSpPr>
          <p:cNvPr id="14" name="Text 11"/>
          <p:cNvSpPr txBox="1"/>
          <p:nvPr/>
        </p:nvSpPr>
        <p:spPr>
          <a:xfrm>
            <a:off x="4782312" y="2176272"/>
            <a:ext cx="2825496" cy="292608"/>
          </a:xfrm>
          <a:prstGeom prst="rect">
            <a:avLst/>
          </a:prstGeom>
          <a:noFill/>
          <a:ln/>
        </p:spPr>
        <p:txBody>
          <a:bodyPr wrap="square" lIns="0" tIns="0" rIns="0" bIns="0" rtlCol="0" anchor="t"/>
          <a:lstStyle/>
          <a:p>
            <a:pPr indent="0" marL="0">
              <a:buNone/>
            </a:pPr>
            <a:r>
              <a:rPr lang="en-US" sz="1250" b="1" dirty="0">
                <a:solidFill>
                  <a:srgbClr val="E9ECF5"/>
                </a:solidFill>
                <a:latin typeface="Calibri" pitchFamily="34" charset="0"/>
                <a:ea typeface="Calibri" pitchFamily="34" charset="-122"/>
                <a:cs typeface="Calibri" pitchFamily="34" charset="-120"/>
              </a:rPr>
              <a:t>détection de la fraude bancaire par apprentissage automatique</a:t>
            </a:r>
            <a:endParaRPr lang="en-US" sz="1250" dirty="0"/>
          </a:p>
        </p:txBody>
      </p:sp>
      <p:sp>
        <p:nvSpPr>
          <p:cNvPr id="15" name="Text 12"/>
          <p:cNvSpPr txBox="1"/>
          <p:nvPr/>
        </p:nvSpPr>
        <p:spPr>
          <a:xfrm>
            <a:off x="4581144" y="2487168"/>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Même question, autre langue. BM25 s'effondre. Le moteur sémantique continue de répondre.</a:t>
            </a:r>
            <a:endParaRPr lang="en-US" sz="1150" dirty="0"/>
          </a:p>
        </p:txBody>
      </p:sp>
      <p:sp>
        <p:nvSpPr>
          <p:cNvPr id="16" name="Shape 13"/>
          <p:cNvSpPr/>
          <p:nvPr/>
        </p:nvSpPr>
        <p:spPr>
          <a:xfrm>
            <a:off x="8119872" y="1755648"/>
            <a:ext cx="3502152" cy="2514600"/>
          </a:xfrm>
          <a:prstGeom prst="roundRect">
            <a:avLst>
              <a:gd name="adj" fmla="val 2909"/>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8357616" y="1938528"/>
            <a:ext cx="3026664"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TEMPS 3 · ARABE</a:t>
            </a:r>
            <a:endParaRPr lang="en-US" sz="900" dirty="0"/>
          </a:p>
        </p:txBody>
      </p:sp>
      <p:sp>
        <p:nvSpPr>
          <p:cNvPr id="18" name="Shape 15"/>
          <p:cNvSpPr/>
          <p:nvPr/>
        </p:nvSpPr>
        <p:spPr>
          <a:xfrm>
            <a:off x="8357616" y="2244852"/>
            <a:ext cx="118872" cy="118872"/>
          </a:xfrm>
          <a:prstGeom prst="ellipse">
            <a:avLst/>
          </a:prstGeom>
          <a:solidFill>
            <a:srgbClr val="8B5CF6"/>
          </a:solidFill>
          <a:ln w="12700">
            <a:solidFill>
              <a:srgbClr val="333333"/>
            </a:solidFill>
            <a:prstDash val="solid"/>
          </a:ln>
        </p:spPr>
      </p:sp>
      <p:sp>
        <p:nvSpPr>
          <p:cNvPr id="19" name="Text 16"/>
          <p:cNvSpPr txBox="1"/>
          <p:nvPr/>
        </p:nvSpPr>
        <p:spPr>
          <a:xfrm>
            <a:off x="8558784" y="2176272"/>
            <a:ext cx="2825496" cy="292608"/>
          </a:xfrm>
          <a:prstGeom prst="rect">
            <a:avLst/>
          </a:prstGeom>
          <a:noFill/>
          <a:ln/>
        </p:spPr>
        <p:txBody>
          <a:bodyPr wrap="square" lIns="0" tIns="0" rIns="0" bIns="0" rtlCol="0" anchor="t"/>
          <a:lstStyle/>
          <a:p>
            <a:pPr indent="0" marL="0">
              <a:buNone/>
            </a:pPr>
            <a:r>
              <a:rPr lang="en-US" sz="1250" b="1" dirty="0">
                <a:solidFill>
                  <a:srgbClr val="E9ECF5"/>
                </a:solidFill>
                <a:latin typeface="Calibri" pitchFamily="34" charset="0"/>
                <a:ea typeface="Calibri" pitchFamily="34" charset="-122"/>
                <a:cs typeface="Calibri" pitchFamily="34" charset="-120"/>
              </a:rPr>
              <a:t>كشف الاحتيال المصرفي باستخدام التعلم الآلي</a:t>
            </a:r>
            <a:endParaRPr lang="en-US" sz="1250" dirty="0"/>
          </a:p>
        </p:txBody>
      </p:sp>
      <p:sp>
        <p:nvSpPr>
          <p:cNvPr id="20" name="Text 17"/>
          <p:cNvSpPr txBox="1"/>
          <p:nvPr/>
        </p:nvSpPr>
        <p:spPr>
          <a:xfrm>
            <a:off x="8357616" y="2487168"/>
            <a:ext cx="3026664" cy="1636776"/>
          </a:xfrm>
          <a:prstGeom prst="rect">
            <a:avLst/>
          </a:prstGeom>
          <a:noFill/>
          <a:ln/>
        </p:spPr>
        <p:txBody>
          <a:bodyPr wrap="square" lIns="0" tIns="0" rIns="0" bIns="0" rtlCol="0" anchor="t"/>
          <a:lstStyle/>
          <a:p>
            <a:pPr indent="0" marL="0">
              <a:lnSpc>
                <a:spcPct val="122000"/>
              </a:lnSpc>
              <a:buNone/>
            </a:pPr>
            <a:r>
              <a:rPr lang="en-US" sz="1150" dirty="0">
                <a:solidFill>
                  <a:srgbClr val="9AA3BC"/>
                </a:solidFill>
                <a:latin typeface="Calibri" pitchFamily="34" charset="0"/>
                <a:ea typeface="Calibri" pitchFamily="34" charset="-122"/>
                <a:cs typeface="Calibri" pitchFamily="34" charset="-120"/>
              </a:rPr>
              <a:t>Autre alphabet. BM25 ne renvoie plus rien. Le sémantique répond, et l'interface signale « aucun mot en commun ».</a:t>
            </a:r>
            <a:endParaRPr lang="en-US" sz="1150" dirty="0"/>
          </a:p>
        </p:txBody>
      </p:sp>
      <p:sp>
        <p:nvSpPr>
          <p:cNvPr id="21" name="Shape 18"/>
          <p:cNvSpPr/>
          <p:nvPr/>
        </p:nvSpPr>
        <p:spPr>
          <a:xfrm>
            <a:off x="566928" y="4572000"/>
            <a:ext cx="11057839" cy="1371600"/>
          </a:xfrm>
          <a:prstGeom prst="roundRect">
            <a:avLst>
              <a:gd name="adj" fmla="val 5333"/>
            </a:avLst>
          </a:prstGeom>
          <a:solidFill>
            <a:srgbClr val="1B2130"/>
          </a:solidFill>
          <a:ln w="15875">
            <a:solidFill>
              <a:srgbClr val="10B981"/>
            </a:solidFill>
            <a:prstDash val="solid"/>
          </a:ln>
          <a:effectLst>
            <a:outerShdw sx="100000" sy="100000" kx="0" ky="0" algn="bl" rotWithShape="0" blurRad="127000" dist="38100" dir="5400000">
              <a:srgbClr val="000000">
                <a:alpha val="35000"/>
              </a:srgbClr>
            </a:outerShdw>
          </a:effectLst>
        </p:spPr>
      </p:sp>
      <p:sp>
        <p:nvSpPr>
          <p:cNvPr id="22" name="Shape 19"/>
          <p:cNvSpPr/>
          <p:nvPr/>
        </p:nvSpPr>
        <p:spPr>
          <a:xfrm>
            <a:off x="804672" y="4782312"/>
            <a:ext cx="118872" cy="118872"/>
          </a:xfrm>
          <a:prstGeom prst="ellipse">
            <a:avLst/>
          </a:prstGeom>
          <a:solidFill>
            <a:srgbClr val="10B981"/>
          </a:solidFill>
          <a:ln w="12700">
            <a:solidFill>
              <a:srgbClr val="333333"/>
            </a:solidFill>
            <a:prstDash val="solid"/>
          </a:ln>
        </p:spPr>
      </p:sp>
      <p:sp>
        <p:nvSpPr>
          <p:cNvPr id="23" name="Text 20"/>
          <p:cNvSpPr txBox="1"/>
          <p:nvPr/>
        </p:nvSpPr>
        <p:spPr>
          <a:xfrm>
            <a:off x="1005840" y="4727448"/>
            <a:ext cx="10381183" cy="219456"/>
          </a:xfrm>
          <a:prstGeom prst="rect">
            <a:avLst/>
          </a:prstGeom>
          <a:noFill/>
          <a:ln/>
        </p:spPr>
        <p:txBody>
          <a:bodyPr wrap="square" lIns="0" tIns="0" rIns="0" bIns="0" rtlCol="0" anchor="ctr"/>
          <a:lstStyle/>
          <a:p>
            <a:pPr indent="0" marL="0">
              <a:buNone/>
            </a:pPr>
            <a:r>
              <a:rPr lang="en-US" sz="900" b="1" spc="120" kern="0" dirty="0">
                <a:solidFill>
                  <a:srgbClr val="10B981"/>
                </a:solidFill>
                <a:latin typeface="Calibri" pitchFamily="34" charset="0"/>
                <a:ea typeface="Calibri" pitchFamily="34" charset="-122"/>
                <a:cs typeface="Calibri" pitchFamily="34" charset="-120"/>
              </a:rPr>
              <a:t>CE QUI EST MONTRÉ À L'ÉCRAN</a:t>
            </a:r>
            <a:endParaRPr lang="en-US" sz="900" dirty="0"/>
          </a:p>
        </p:txBody>
      </p:sp>
      <p:sp>
        <p:nvSpPr>
          <p:cNvPr id="24" name="Text 21"/>
          <p:cNvSpPr txBox="1"/>
          <p:nvPr/>
        </p:nvSpPr>
        <p:spPr>
          <a:xfrm>
            <a:off x="804672" y="5029200"/>
            <a:ext cx="10582351" cy="768096"/>
          </a:xfrm>
          <a:prstGeom prst="rect">
            <a:avLst/>
          </a:prstGeom>
          <a:noFill/>
          <a:ln/>
        </p:spPr>
        <p:txBody>
          <a:bodyPr wrap="square" lIns="0" tIns="0" rIns="0" bIns="0" rtlCol="0" anchor="t"/>
          <a:lstStyle/>
          <a:p>
            <a:pPr indent="0" marL="0">
              <a:lnSpc>
                <a:spcPct val="125000"/>
              </a:lnSpc>
              <a:buNone/>
            </a:pPr>
            <a:r>
              <a:rPr lang="en-US" sz="1250" dirty="0">
                <a:solidFill>
                  <a:srgbClr val="E9ECF5"/>
                </a:solidFill>
                <a:latin typeface="Calibri" pitchFamily="34" charset="0"/>
                <a:ea typeface="Calibri" pitchFamily="34" charset="-122"/>
                <a:cs typeface="Calibri" pitchFamily="34" charset="-120"/>
              </a:rPr>
              <a:t>L'onglet Démonstration déroule ce scénario automatiquement dans les trois langues, affiche le verdict de chaque comparaison, et termine par un tableau récapitulatif. Rien n'est préparé à l'avance : les questions viennent du jeu d'évaluation, écrit avant les mesures.</a:t>
            </a:r>
            <a:endParaRPr lang="en-US" sz="1250" dirty="0"/>
          </a:p>
        </p:txBody>
      </p:sp>
      <p:sp>
        <p:nvSpPr>
          <p:cNvPr id="25" name="Text 22"/>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Démonstration</a:t>
            </a:r>
            <a:endParaRPr lang="en-US" sz="900" dirty="0"/>
          </a:p>
        </p:txBody>
      </p:sp>
      <p:sp>
        <p:nvSpPr>
          <p:cNvPr id="26" name="Text 23"/>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24 / 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1691640"/>
            <a:ext cx="137160" cy="137160"/>
          </a:xfrm>
          <a:prstGeom prst="ellipse">
            <a:avLst/>
          </a:prstGeom>
          <a:solidFill>
            <a:srgbClr val="8B5CF6"/>
          </a:solidFill>
          <a:ln w="12700">
            <a:solidFill>
              <a:srgbClr val="333333"/>
            </a:solidFill>
            <a:prstDash val="solid"/>
          </a:ln>
        </p:spPr>
      </p:sp>
      <p:sp>
        <p:nvSpPr>
          <p:cNvPr id="4" name="Text 1"/>
          <p:cNvSpPr txBox="1"/>
          <p:nvPr/>
        </p:nvSpPr>
        <p:spPr>
          <a:xfrm>
            <a:off x="804672" y="1627632"/>
            <a:ext cx="11057839" cy="274320"/>
          </a:xfrm>
          <a:prstGeom prst="rect">
            <a:avLst/>
          </a:prstGeom>
          <a:noFill/>
          <a:ln/>
        </p:spPr>
        <p:txBody>
          <a:bodyPr wrap="square" lIns="0" tIns="0" rIns="0" bIns="0" rtlCol="0" anchor="ctr"/>
          <a:lstStyle/>
          <a:p>
            <a:pPr indent="0" marL="0">
              <a:buNone/>
            </a:pPr>
            <a:r>
              <a:rPr lang="en-US" sz="1100" b="1" spc="160" kern="0" dirty="0">
                <a:solidFill>
                  <a:srgbClr val="8B5CF6"/>
                </a:solidFill>
                <a:latin typeface="Calibri" pitchFamily="34" charset="0"/>
                <a:ea typeface="Calibri" pitchFamily="34" charset="-122"/>
                <a:cs typeface="Calibri" pitchFamily="34" charset="-120"/>
              </a:rPr>
              <a:t>MERCI DE VOTRE ATTENTION</a:t>
            </a:r>
            <a:endParaRPr lang="en-US" sz="1100" dirty="0"/>
          </a:p>
        </p:txBody>
      </p:sp>
      <p:sp>
        <p:nvSpPr>
          <p:cNvPr id="5" name="Text 2"/>
          <p:cNvSpPr txBox="1"/>
          <p:nvPr/>
        </p:nvSpPr>
        <p:spPr>
          <a:xfrm>
            <a:off x="566928" y="2057400"/>
            <a:ext cx="11057839" cy="1005840"/>
          </a:xfrm>
          <a:prstGeom prst="rect">
            <a:avLst/>
          </a:prstGeom>
          <a:noFill/>
          <a:ln/>
        </p:spPr>
        <p:txBody>
          <a:bodyPr wrap="square" lIns="0" tIns="0" rIns="0" bIns="0" rtlCol="0" anchor="t"/>
          <a:lstStyle/>
          <a:p>
            <a:pPr indent="0" marL="0">
              <a:buNone/>
            </a:pPr>
            <a:r>
              <a:rPr lang="en-US" sz="5200" b="1" dirty="0">
                <a:solidFill>
                  <a:srgbClr val="E9ECF5"/>
                </a:solidFill>
                <a:latin typeface="Calibri" pitchFamily="34" charset="0"/>
                <a:ea typeface="Calibri" pitchFamily="34" charset="-122"/>
                <a:cs typeface="Calibri" pitchFamily="34" charset="-120"/>
              </a:rPr>
              <a:t>Questions</a:t>
            </a:r>
            <a:endParaRPr lang="en-US" sz="5200" dirty="0"/>
          </a:p>
        </p:txBody>
      </p:sp>
      <p:sp>
        <p:nvSpPr>
          <p:cNvPr id="6" name="Text 3"/>
          <p:cNvSpPr txBox="1"/>
          <p:nvPr/>
        </p:nvSpPr>
        <p:spPr>
          <a:xfrm>
            <a:off x="566928" y="3200400"/>
            <a:ext cx="7680960" cy="548640"/>
          </a:xfrm>
          <a:prstGeom prst="rect">
            <a:avLst/>
          </a:prstGeom>
          <a:noFill/>
          <a:ln/>
        </p:spPr>
        <p:txBody>
          <a:bodyPr wrap="square" lIns="0" tIns="0" rIns="0" bIns="0" rtlCol="0" anchor="t"/>
          <a:lstStyle/>
          <a:p>
            <a:pPr indent="0" marL="0">
              <a:lnSpc>
                <a:spcPct val="125000"/>
              </a:lnSpc>
              <a:buNone/>
            </a:pPr>
            <a:r>
              <a:rPr lang="en-US" sz="1450" dirty="0">
                <a:solidFill>
                  <a:srgbClr val="9AA3BC"/>
                </a:solidFill>
                <a:latin typeface="Calibri" pitchFamily="34" charset="0"/>
                <a:ea typeface="Calibri" pitchFamily="34" charset="-122"/>
                <a:cs typeface="Calibri" pitchFamily="34" charset="-120"/>
              </a:rPr>
              <a:t>Le code, la documentation, le protocole d'évaluation et l'interface sont disponibles et reproductibles en cinq commandes.</a:t>
            </a:r>
            <a:endParaRPr lang="en-US" sz="1450" dirty="0"/>
          </a:p>
        </p:txBody>
      </p:sp>
      <p:sp>
        <p:nvSpPr>
          <p:cNvPr id="7" name="Shape 4"/>
          <p:cNvSpPr/>
          <p:nvPr/>
        </p:nvSpPr>
        <p:spPr>
          <a:xfrm>
            <a:off x="566928" y="4114800"/>
            <a:ext cx="2148840"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8" name="Text 5"/>
          <p:cNvSpPr txBox="1"/>
          <p:nvPr/>
        </p:nvSpPr>
        <p:spPr>
          <a:xfrm>
            <a:off x="749808" y="4242816"/>
            <a:ext cx="1783080" cy="457200"/>
          </a:xfrm>
          <a:prstGeom prst="rect">
            <a:avLst/>
          </a:prstGeom>
          <a:noFill/>
          <a:ln/>
        </p:spPr>
        <p:txBody>
          <a:bodyPr wrap="square" lIns="0" tIns="0" rIns="0" bIns="0" rtlCol="0" anchor="ctr"/>
          <a:lstStyle/>
          <a:p>
            <a:pPr indent="0" marL="0">
              <a:buNone/>
            </a:pPr>
            <a:r>
              <a:rPr lang="en-US" sz="2400" b="1" dirty="0">
                <a:solidFill>
                  <a:srgbClr val="8B5CF6"/>
                </a:solidFill>
                <a:latin typeface="Consolas" pitchFamily="34" charset="0"/>
                <a:ea typeface="Consolas" pitchFamily="34" charset="-122"/>
                <a:cs typeface="Consolas" pitchFamily="34" charset="-120"/>
              </a:rPr>
              <a:t>8 569</a:t>
            </a:r>
            <a:endParaRPr lang="en-US" sz="2400" dirty="0"/>
          </a:p>
        </p:txBody>
      </p:sp>
      <p:sp>
        <p:nvSpPr>
          <p:cNvPr id="9" name="Text 6"/>
          <p:cNvSpPr txBox="1"/>
          <p:nvPr/>
        </p:nvSpPr>
        <p:spPr>
          <a:xfrm>
            <a:off x="749808" y="4700016"/>
            <a:ext cx="1783080"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articles indexés</a:t>
            </a:r>
            <a:endParaRPr lang="en-US" sz="1000" dirty="0"/>
          </a:p>
        </p:txBody>
      </p:sp>
      <p:sp>
        <p:nvSpPr>
          <p:cNvPr id="10" name="Shape 7"/>
          <p:cNvSpPr/>
          <p:nvPr/>
        </p:nvSpPr>
        <p:spPr>
          <a:xfrm>
            <a:off x="2898648" y="4114800"/>
            <a:ext cx="2148840"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1" name="Text 8"/>
          <p:cNvSpPr txBox="1"/>
          <p:nvPr/>
        </p:nvSpPr>
        <p:spPr>
          <a:xfrm>
            <a:off x="3081528" y="4242816"/>
            <a:ext cx="1783080" cy="457200"/>
          </a:xfrm>
          <a:prstGeom prst="rect">
            <a:avLst/>
          </a:prstGeom>
          <a:noFill/>
          <a:ln/>
        </p:spPr>
        <p:txBody>
          <a:bodyPr wrap="square" lIns="0" tIns="0" rIns="0" bIns="0" rtlCol="0" anchor="ctr"/>
          <a:lstStyle/>
          <a:p>
            <a:pPr indent="0" marL="0">
              <a:buNone/>
            </a:pPr>
            <a:r>
              <a:rPr lang="en-US" sz="2400" b="1" dirty="0">
                <a:solidFill>
                  <a:srgbClr val="22D3EE"/>
                </a:solidFill>
                <a:latin typeface="Consolas" pitchFamily="34" charset="0"/>
                <a:ea typeface="Consolas" pitchFamily="34" charset="-122"/>
                <a:cs typeface="Consolas" pitchFamily="34" charset="-120"/>
              </a:rPr>
              <a:t>3</a:t>
            </a:r>
            <a:endParaRPr lang="en-US" sz="2400" dirty="0"/>
          </a:p>
        </p:txBody>
      </p:sp>
      <p:sp>
        <p:nvSpPr>
          <p:cNvPr id="12" name="Text 9"/>
          <p:cNvSpPr txBox="1"/>
          <p:nvPr/>
        </p:nvSpPr>
        <p:spPr>
          <a:xfrm>
            <a:off x="3081528" y="4700016"/>
            <a:ext cx="1783080"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moteurs comparés</a:t>
            </a:r>
            <a:endParaRPr lang="en-US" sz="1000" dirty="0"/>
          </a:p>
        </p:txBody>
      </p:sp>
      <p:sp>
        <p:nvSpPr>
          <p:cNvPr id="13" name="Shape 10"/>
          <p:cNvSpPr/>
          <p:nvPr/>
        </p:nvSpPr>
        <p:spPr>
          <a:xfrm>
            <a:off x="5230368" y="4114800"/>
            <a:ext cx="2148840"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4" name="Text 11"/>
          <p:cNvSpPr txBox="1"/>
          <p:nvPr/>
        </p:nvSpPr>
        <p:spPr>
          <a:xfrm>
            <a:off x="5413248" y="4242816"/>
            <a:ext cx="1783080" cy="457200"/>
          </a:xfrm>
          <a:prstGeom prst="rect">
            <a:avLst/>
          </a:prstGeom>
          <a:noFill/>
          <a:ln/>
        </p:spPr>
        <p:txBody>
          <a:bodyPr wrap="square" lIns="0" tIns="0" rIns="0" bIns="0" rtlCol="0" anchor="ctr"/>
          <a:lstStyle/>
          <a:p>
            <a:pPr indent="0" marL="0">
              <a:buNone/>
            </a:pPr>
            <a:r>
              <a:rPr lang="en-US" sz="2400" b="1" dirty="0">
                <a:solidFill>
                  <a:srgbClr val="10B981"/>
                </a:solidFill>
                <a:latin typeface="Consolas" pitchFamily="34" charset="0"/>
                <a:ea typeface="Consolas" pitchFamily="34" charset="-122"/>
                <a:cs typeface="Consolas" pitchFamily="34" charset="-120"/>
              </a:rPr>
              <a:t>47</a:t>
            </a:r>
            <a:endParaRPr lang="en-US" sz="2400" dirty="0"/>
          </a:p>
        </p:txBody>
      </p:sp>
      <p:sp>
        <p:nvSpPr>
          <p:cNvPr id="15" name="Text 12"/>
          <p:cNvSpPr txBox="1"/>
          <p:nvPr/>
        </p:nvSpPr>
        <p:spPr>
          <a:xfrm>
            <a:off x="5413248" y="4700016"/>
            <a:ext cx="1783080"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tests automatiques</a:t>
            </a:r>
            <a:endParaRPr lang="en-US" sz="1000" dirty="0"/>
          </a:p>
        </p:txBody>
      </p:sp>
      <p:sp>
        <p:nvSpPr>
          <p:cNvPr id="16" name="Shape 13"/>
          <p:cNvSpPr/>
          <p:nvPr/>
        </p:nvSpPr>
        <p:spPr>
          <a:xfrm>
            <a:off x="7562088" y="4114800"/>
            <a:ext cx="2148840" cy="1188720"/>
          </a:xfrm>
          <a:prstGeom prst="roundRect">
            <a:avLst>
              <a:gd name="adj" fmla="val 615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7" name="Text 14"/>
          <p:cNvSpPr txBox="1"/>
          <p:nvPr/>
        </p:nvSpPr>
        <p:spPr>
          <a:xfrm>
            <a:off x="7744968" y="4242816"/>
            <a:ext cx="1783080" cy="457200"/>
          </a:xfrm>
          <a:prstGeom prst="rect">
            <a:avLst/>
          </a:prstGeom>
          <a:noFill/>
          <a:ln/>
        </p:spPr>
        <p:txBody>
          <a:bodyPr wrap="square" lIns="0" tIns="0" rIns="0" bIns="0" rtlCol="0" anchor="ctr"/>
          <a:lstStyle/>
          <a:p>
            <a:pPr indent="0" marL="0">
              <a:buNone/>
            </a:pPr>
            <a:r>
              <a:rPr lang="en-US" sz="2400" b="1" dirty="0">
                <a:solidFill>
                  <a:srgbClr val="F59E0B"/>
                </a:solidFill>
                <a:latin typeface="Consolas" pitchFamily="34" charset="0"/>
                <a:ea typeface="Consolas" pitchFamily="34" charset="-122"/>
                <a:cs typeface="Consolas" pitchFamily="34" charset="-120"/>
              </a:rPr>
              <a:t>20/20</a:t>
            </a:r>
            <a:endParaRPr lang="en-US" sz="2400" dirty="0"/>
          </a:p>
        </p:txBody>
      </p:sp>
      <p:sp>
        <p:nvSpPr>
          <p:cNvPr id="18" name="Text 15"/>
          <p:cNvSpPr txBox="1"/>
          <p:nvPr/>
        </p:nvSpPr>
        <p:spPr>
          <a:xfrm>
            <a:off x="7744968" y="4700016"/>
            <a:ext cx="1783080" cy="475488"/>
          </a:xfrm>
          <a:prstGeom prst="rect">
            <a:avLst/>
          </a:prstGeom>
          <a:noFill/>
          <a:ln/>
        </p:spPr>
        <p:txBody>
          <a:bodyPr wrap="square" lIns="0" tIns="0" rIns="0" bIns="0" rtlCol="0" anchor="t"/>
          <a:lstStyle/>
          <a:p>
            <a:pPr indent="0" marL="0">
              <a:lnSpc>
                <a:spcPct val="110000"/>
              </a:lnSpc>
              <a:buNone/>
            </a:pPr>
            <a:r>
              <a:rPr lang="en-US" sz="1000" dirty="0">
                <a:solidFill>
                  <a:srgbClr val="727C96"/>
                </a:solidFill>
                <a:latin typeface="Calibri" pitchFamily="34" charset="0"/>
                <a:ea typeface="Calibri" pitchFamily="34" charset="-122"/>
                <a:cs typeface="Calibri" pitchFamily="34" charset="-120"/>
              </a:rPr>
              <a:t>requêtes arabes où BM25 échoue</a:t>
            </a:r>
            <a:endParaRPr lang="en-US" sz="1000" dirty="0"/>
          </a:p>
        </p:txBody>
      </p:sp>
      <p:sp>
        <p:nvSpPr>
          <p:cNvPr id="19" name="Text 16"/>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Merci — questions</a:t>
            </a:r>
            <a:endParaRPr lang="en-US" sz="900" dirty="0"/>
          </a:p>
        </p:txBody>
      </p:sp>
      <p:sp>
        <p:nvSpPr>
          <p:cNvPr id="20" name="Text 17"/>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25 / 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66928" y="461772"/>
            <a:ext cx="118872" cy="118872"/>
          </a:xfrm>
          <a:prstGeom prst="ellipse">
            <a:avLst/>
          </a:prstGeom>
          <a:solidFill>
            <a:srgbClr val="8B5CF6"/>
          </a:solidFill>
          <a:ln w="12700">
            <a:solidFill>
              <a:srgbClr val="333333"/>
            </a:solidFill>
            <a:prstDash val="solid"/>
          </a:ln>
        </p:spPr>
      </p:sp>
      <p:sp>
        <p:nvSpPr>
          <p:cNvPr id="4" name="Text 1"/>
          <p:cNvSpPr txBox="1"/>
          <p:nvPr/>
        </p:nvSpPr>
        <p:spPr>
          <a:xfrm>
            <a:off x="786384" y="384048"/>
            <a:ext cx="10838383" cy="274320"/>
          </a:xfrm>
          <a:prstGeom prst="rect">
            <a:avLst/>
          </a:prstGeom>
          <a:noFill/>
          <a:ln/>
        </p:spPr>
        <p:txBody>
          <a:bodyPr wrap="square" lIns="0" tIns="0" rIns="0" bIns="0" rtlCol="0" anchor="ctr"/>
          <a:lstStyle/>
          <a:p>
            <a:pPr indent="0" marL="0">
              <a:buNone/>
            </a:pPr>
            <a:r>
              <a:rPr lang="en-US" sz="1050" b="1" spc="160" kern="0" dirty="0">
                <a:solidFill>
                  <a:srgbClr val="8B5CF6"/>
                </a:solidFill>
                <a:latin typeface="Calibri" pitchFamily="34" charset="0"/>
                <a:ea typeface="Calibri" pitchFamily="34" charset="-122"/>
                <a:cs typeface="Calibri" pitchFamily="34" charset="-120"/>
              </a:rPr>
              <a:t>ANNEXE</a:t>
            </a:r>
            <a:endParaRPr lang="en-US" sz="1050" dirty="0"/>
          </a:p>
        </p:txBody>
      </p:sp>
      <p:sp>
        <p:nvSpPr>
          <p:cNvPr id="5" name="Text 2"/>
          <p:cNvSpPr txBox="1"/>
          <p:nvPr/>
        </p:nvSpPr>
        <p:spPr>
          <a:xfrm>
            <a:off x="566928" y="713232"/>
            <a:ext cx="11057839" cy="868680"/>
          </a:xfrm>
          <a:prstGeom prst="rect">
            <a:avLst/>
          </a:prstGeom>
          <a:noFill/>
          <a:ln/>
        </p:spPr>
        <p:txBody>
          <a:bodyPr wrap="square" lIns="0" tIns="0" rIns="0" bIns="0" rtlCol="0" anchor="t"/>
          <a:lstStyle/>
          <a:p>
            <a:pPr indent="0" marL="0">
              <a:buNone/>
            </a:pPr>
            <a:r>
              <a:rPr lang="en-US" sz="3400" b="1" dirty="0">
                <a:solidFill>
                  <a:srgbClr val="E9ECF5"/>
                </a:solidFill>
                <a:latin typeface="Calibri" pitchFamily="34" charset="0"/>
                <a:ea typeface="Calibri" pitchFamily="34" charset="-122"/>
                <a:cs typeface="Calibri" pitchFamily="34" charset="-120"/>
              </a:rPr>
              <a:t>Questions probables, et réponses courtes</a:t>
            </a:r>
            <a:endParaRPr lang="en-US" sz="3400" dirty="0"/>
          </a:p>
        </p:txBody>
      </p:sp>
      <p:sp>
        <p:nvSpPr>
          <p:cNvPr id="6" name="Shape 3"/>
          <p:cNvSpPr/>
          <p:nvPr/>
        </p:nvSpPr>
        <p:spPr>
          <a:xfrm>
            <a:off x="566928" y="1755648"/>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7" name="Text 4"/>
          <p:cNvSpPr txBox="1"/>
          <p:nvPr/>
        </p:nvSpPr>
        <p:spPr>
          <a:xfrm>
            <a:off x="804672"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POURQUOI PAS TF-IDF ? »</a:t>
            </a:r>
            <a:endParaRPr lang="en-US" sz="900" dirty="0"/>
          </a:p>
        </p:txBody>
      </p:sp>
      <p:sp>
        <p:nvSpPr>
          <p:cNvPr id="8" name="Text 5"/>
          <p:cNvSpPr txBox="1"/>
          <p:nvPr/>
        </p:nvSpPr>
        <p:spPr>
          <a:xfrm>
            <a:off x="804672" y="2176272"/>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BM25 est une amélioration directe de TF-IDF : saturation de la fréquence des termes et normalisation par la longueur. C'est la référence en production. Choisir TF-IDF aurait affaibli volontairement la baseline.</a:t>
            </a:r>
            <a:endParaRPr lang="en-US" sz="1050" dirty="0"/>
          </a:p>
        </p:txBody>
      </p:sp>
      <p:sp>
        <p:nvSpPr>
          <p:cNvPr id="9" name="Shape 6"/>
          <p:cNvSpPr/>
          <p:nvPr/>
        </p:nvSpPr>
        <p:spPr>
          <a:xfrm>
            <a:off x="6272784" y="1755648"/>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0" name="Text 7"/>
          <p:cNvSpPr txBox="1"/>
          <p:nvPr/>
        </p:nvSpPr>
        <p:spPr>
          <a:xfrm>
            <a:off x="6510528" y="1938528"/>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POURQUOI 384 DIMENSIONS ? »</a:t>
            </a:r>
            <a:endParaRPr lang="en-US" sz="900" dirty="0"/>
          </a:p>
        </p:txBody>
      </p:sp>
      <p:sp>
        <p:nvSpPr>
          <p:cNvPr id="11" name="Text 8"/>
          <p:cNvSpPr txBox="1"/>
          <p:nvPr/>
        </p:nvSpPr>
        <p:spPr>
          <a:xfrm>
            <a:off x="6510528" y="2176272"/>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C'est la dimension de sortie de e5-small. Elle n'est pas choisie : elle est imposée par le modèle. e5-base en produirait 768, pour environ trois fois plus de calcul.</a:t>
            </a:r>
            <a:endParaRPr lang="en-US" sz="1050" dirty="0"/>
          </a:p>
        </p:txBody>
      </p:sp>
      <p:sp>
        <p:nvSpPr>
          <p:cNvPr id="12" name="Shape 9"/>
          <p:cNvSpPr/>
          <p:nvPr/>
        </p:nvSpPr>
        <p:spPr>
          <a:xfrm>
            <a:off x="566928" y="3154680"/>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3" name="Text 10"/>
          <p:cNvSpPr txBox="1"/>
          <p:nvPr/>
        </p:nvSpPr>
        <p:spPr>
          <a:xfrm>
            <a:off x="804672" y="333756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COMMENT SAVEZ-VOUS QUE CE N'EST PAS DE LA CHANCE ? »</a:t>
            </a:r>
            <a:endParaRPr lang="en-US" sz="900" dirty="0"/>
          </a:p>
        </p:txBody>
      </p:sp>
      <p:sp>
        <p:nvSpPr>
          <p:cNvPr id="14" name="Text 11"/>
          <p:cNvSpPr txBox="1"/>
          <p:nvPr/>
        </p:nvSpPr>
        <p:spPr>
          <a:xfrm>
            <a:off x="804672" y="3575304"/>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500 requêtes annotées automatiquement, graine aléatoire fixée, trois protocoles indépendants, et un fichier de résultats régénérable par une commande.</a:t>
            </a:r>
            <a:endParaRPr lang="en-US" sz="1050" dirty="0"/>
          </a:p>
        </p:txBody>
      </p:sp>
      <p:sp>
        <p:nvSpPr>
          <p:cNvPr id="15" name="Shape 12"/>
          <p:cNvSpPr/>
          <p:nvPr/>
        </p:nvSpPr>
        <p:spPr>
          <a:xfrm>
            <a:off x="6272784" y="3154680"/>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6" name="Text 13"/>
          <p:cNvSpPr txBox="1"/>
          <p:nvPr/>
        </p:nvSpPr>
        <p:spPr>
          <a:xfrm>
            <a:off x="6510528" y="3337560"/>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BM25 GAGNE : VOTRE PROJET NE SERT À RIEN ? »</a:t>
            </a:r>
            <a:endParaRPr lang="en-US" sz="900" dirty="0"/>
          </a:p>
        </p:txBody>
      </p:sp>
      <p:sp>
        <p:nvSpPr>
          <p:cNvPr id="17" name="Text 14"/>
          <p:cNvSpPr txBox="1"/>
          <p:nvPr/>
        </p:nvSpPr>
        <p:spPr>
          <a:xfrm>
            <a:off x="6510528" y="3575304"/>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Il gagne sur le protocole qui lui est le plus favorable, et j'explique pourquoi. Sur les requêtes multilingues, il ne renvoie rien, 20 fois sur 20.</a:t>
            </a:r>
            <a:endParaRPr lang="en-US" sz="1050" dirty="0"/>
          </a:p>
        </p:txBody>
      </p:sp>
      <p:sp>
        <p:nvSpPr>
          <p:cNvPr id="18" name="Shape 15"/>
          <p:cNvSpPr/>
          <p:nvPr/>
        </p:nvSpPr>
        <p:spPr>
          <a:xfrm>
            <a:off x="566928" y="4553712"/>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19" name="Text 16"/>
          <p:cNvSpPr txBox="1"/>
          <p:nvPr/>
        </p:nvSpPr>
        <p:spPr>
          <a:xfrm>
            <a:off x="804672" y="4736592"/>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POURQUOI NE PAS TRADUIRE LA REQUÊTE ? »</a:t>
            </a:r>
            <a:endParaRPr lang="en-US" sz="900" dirty="0"/>
          </a:p>
        </p:txBody>
      </p:sp>
      <p:sp>
        <p:nvSpPr>
          <p:cNvPr id="20" name="Text 17"/>
          <p:cNvSpPr txBox="1"/>
          <p:nvPr/>
        </p:nvSpPr>
        <p:spPr>
          <a:xfrm>
            <a:off x="804672" y="4974336"/>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Ce serait une seconde brique à installer, maintenir et évaluer, avec ses propres erreurs. L'espace vectoriel partagé rend la traduction inutile.</a:t>
            </a:r>
            <a:endParaRPr lang="en-US" sz="1050" dirty="0"/>
          </a:p>
        </p:txBody>
      </p:sp>
      <p:sp>
        <p:nvSpPr>
          <p:cNvPr id="21" name="Shape 18"/>
          <p:cNvSpPr/>
          <p:nvPr/>
        </p:nvSpPr>
        <p:spPr>
          <a:xfrm>
            <a:off x="6272784" y="4553712"/>
            <a:ext cx="5349240" cy="1280160"/>
          </a:xfrm>
          <a:prstGeom prst="roundRect">
            <a:avLst>
              <a:gd name="adj" fmla="val 5714"/>
            </a:avLst>
          </a:prstGeom>
          <a:solidFill>
            <a:srgbClr val="141822"/>
          </a:solidFill>
          <a:ln w="12700">
            <a:solidFill>
              <a:srgbClr val="2A3145"/>
            </a:solidFill>
            <a:prstDash val="solid"/>
          </a:ln>
          <a:effectLst>
            <a:outerShdw sx="100000" sy="100000" kx="0" ky="0" algn="bl" rotWithShape="0" blurRad="127000" dist="38100" dir="5400000">
              <a:srgbClr val="000000">
                <a:alpha val="35000"/>
              </a:srgbClr>
            </a:outerShdw>
          </a:effectLst>
        </p:spPr>
      </p:sp>
      <p:sp>
        <p:nvSpPr>
          <p:cNvPr id="22" name="Text 19"/>
          <p:cNvSpPr txBox="1"/>
          <p:nvPr/>
        </p:nvSpPr>
        <p:spPr>
          <a:xfrm>
            <a:off x="6510528" y="4736592"/>
            <a:ext cx="4873752" cy="201168"/>
          </a:xfrm>
          <a:prstGeom prst="rect">
            <a:avLst/>
          </a:prstGeom>
          <a:noFill/>
          <a:ln/>
        </p:spPr>
        <p:txBody>
          <a:bodyPr wrap="square" lIns="0" tIns="0" rIns="0" bIns="0" rtlCol="0" anchor="ctr"/>
          <a:lstStyle/>
          <a:p>
            <a:pPr indent="0" marL="0">
              <a:buNone/>
            </a:pPr>
            <a:r>
              <a:rPr lang="en-US" sz="900" b="1" spc="120" kern="0" dirty="0">
                <a:solidFill>
                  <a:srgbClr val="727C96"/>
                </a:solidFill>
                <a:latin typeface="Calibri" pitchFamily="34" charset="0"/>
                <a:ea typeface="Calibri" pitchFamily="34" charset="-122"/>
                <a:cs typeface="Calibri" pitchFamily="34" charset="-120"/>
              </a:rPr>
              <a:t>« ET UN LLM / UN CHATBOT ? »</a:t>
            </a:r>
            <a:endParaRPr lang="en-US" sz="900" dirty="0"/>
          </a:p>
        </p:txBody>
      </p:sp>
      <p:sp>
        <p:nvSpPr>
          <p:cNvPr id="23" name="Text 20"/>
          <p:cNvSpPr txBox="1"/>
          <p:nvPr/>
        </p:nvSpPr>
        <p:spPr>
          <a:xfrm>
            <a:off x="6510528" y="4974336"/>
            <a:ext cx="4873752" cy="713232"/>
          </a:xfrm>
          <a:prstGeom prst="rect">
            <a:avLst/>
          </a:prstGeom>
          <a:noFill/>
          <a:ln/>
        </p:spPr>
        <p:txBody>
          <a:bodyPr wrap="square" lIns="0" tIns="0" rIns="0" bIns="0" rtlCol="0" anchor="t"/>
          <a:lstStyle/>
          <a:p>
            <a:pPr indent="0" marL="0">
              <a:lnSpc>
                <a:spcPct val="122000"/>
              </a:lnSpc>
              <a:buNone/>
            </a:pPr>
            <a:r>
              <a:rPr lang="en-US" sz="1050" dirty="0">
                <a:solidFill>
                  <a:srgbClr val="9AA3BC"/>
                </a:solidFill>
                <a:latin typeface="Calibri" pitchFamily="34" charset="0"/>
                <a:ea typeface="Calibri" pitchFamily="34" charset="-122"/>
                <a:cs typeface="Calibri" pitchFamily="34" charset="-120"/>
              </a:rPr>
              <a:t>Un LLM ne remplace ni l'indexation, ni le classement, ni l'évaluation. Il se branche après, sur des résultats déjà pertinents.</a:t>
            </a:r>
            <a:endParaRPr lang="en-US" sz="1050" dirty="0"/>
          </a:p>
        </p:txBody>
      </p:sp>
      <p:sp>
        <p:nvSpPr>
          <p:cNvPr id="24" name="Text 21"/>
          <p:cNvSpPr txBox="1"/>
          <p:nvPr/>
        </p:nvSpPr>
        <p:spPr>
          <a:xfrm>
            <a:off x="566928" y="6382512"/>
            <a:ext cx="7315200" cy="274320"/>
          </a:xfrm>
          <a:prstGeom prst="rect">
            <a:avLst/>
          </a:prstGeom>
          <a:noFill/>
          <a:ln/>
        </p:spPr>
        <p:txBody>
          <a:bodyPr wrap="square" lIns="0" tIns="0" rIns="0" bIns="0" rtlCol="0" anchor="ctr"/>
          <a:lstStyle/>
          <a:p>
            <a:pPr indent="0" marL="0">
              <a:buNone/>
            </a:pPr>
            <a:r>
              <a:rPr lang="en-US" sz="900" dirty="0">
                <a:solidFill>
                  <a:srgbClr val="727C96"/>
                </a:solidFill>
                <a:latin typeface="Calibri" pitchFamily="34" charset="0"/>
                <a:ea typeface="Calibri" pitchFamily="34" charset="-122"/>
                <a:cs typeface="Calibri" pitchFamily="34" charset="-120"/>
              </a:rPr>
              <a:t>Annexe — questions probables</a:t>
            </a:r>
            <a:endParaRPr lang="en-US" sz="900" dirty="0"/>
          </a:p>
        </p:txBody>
      </p:sp>
      <p:sp>
        <p:nvSpPr>
          <p:cNvPr id="25" name="Text 22"/>
          <p:cNvSpPr txBox="1"/>
          <p:nvPr/>
        </p:nvSpPr>
        <p:spPr>
          <a:xfrm>
            <a:off x="9795967" y="6382512"/>
            <a:ext cx="1828800" cy="274320"/>
          </a:xfrm>
          <a:prstGeom prst="rect">
            <a:avLst/>
          </a:prstGeom>
          <a:noFill/>
          <a:ln/>
        </p:spPr>
        <p:txBody>
          <a:bodyPr wrap="square" lIns="0" tIns="0" rIns="0" bIns="0" rtlCol="0" anchor="ctr"/>
          <a:lstStyle/>
          <a:p>
            <a:pPr algn="r" indent="0" marL="0">
              <a:buNone/>
            </a:pPr>
            <a:r>
              <a:rPr lang="en-US" sz="900" dirty="0">
                <a:solidFill>
                  <a:srgbClr val="727C96"/>
                </a:solidFill>
                <a:latin typeface="Consolas" pitchFamily="34" charset="0"/>
                <a:ea typeface="Consolas" pitchFamily="34" charset="-122"/>
                <a:cs typeface="Consolas" pitchFamily="34" charset="-120"/>
              </a:rPr>
              <a:t>26 / 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Moteur de recherche sémantique — soutenance</dc:title>
  <dc:subject>PptxGenJS Presentation</dc:subject>
  <dc:creator>Salma Karim</dc:creator>
  <cp:lastModifiedBy>Salma Karim</cp:lastModifiedBy>
  <cp:revision>1</cp:revision>
  <dcterms:created xsi:type="dcterms:W3CDTF">2026-09-01T08:46:13Z</dcterms:created>
  <dcterms:modified xsi:type="dcterms:W3CDTF">2026-09-01T08:46:13Z</dcterms:modified>
</cp:coreProperties>
</file>