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Sémantique</c:v>
                </c:pt>
              </c:strCache>
            </c:strRef>
          </c:tx>
          <c:spPr>
            <a:solidFill>
              <a:srgbClr val="7C3AED"/>
            </a:solidFill>
            <a:effectLst/>
          </c:spPr>
          <c:invertIfNegative val="0"/>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cat>
            <c:multiLvlStrRef>
              <c:f>Sheet1!$A$2:$A$6</c:f>
              <c:multiLvlStrCache>
                <c:ptCount val="5"/>
                <c:lvl>
                  <c:pt idx="0">
                    <c:v>Recall@1</c:v>
                  </c:pt>
                  <c:pt idx="1">
                    <c:v>Recall@5</c:v>
                  </c:pt>
                  <c:pt idx="2">
                    <c:v>Recall@10</c:v>
                  </c:pt>
                  <c:pt idx="3">
                    <c:v>MRR@10</c:v>
                  </c:pt>
                  <c:pt idx="4">
                    <c:v>nDCG@10</c:v>
                  </c:pt>
                </c:lvl>
              </c:multiLvlStrCache>
            </c:multiLvlStrRef>
          </c:cat>
          <c:val>
            <c:numRef>
              <c:f>Sheet1!$B$2:$B$6</c:f>
              <c:numCache>
                <c:formatCode>General</c:formatCode>
                <c:ptCount val="5"/>
                <c:pt idx="0">
                  <c:v>0.896</c:v>
                </c:pt>
                <c:pt idx="1">
                  <c:v>0.956</c:v>
                </c:pt>
                <c:pt idx="2">
                  <c:v>0.964</c:v>
                </c:pt>
                <c:pt idx="3">
                  <c:v>0.9218</c:v>
                </c:pt>
                <c:pt idx="4">
                  <c:v>0.9323</c:v>
                </c:pt>
              </c:numCache>
            </c:numRef>
          </c:val>
        </c:ser>
        <c:ser>
          <c:idx val="1"/>
          <c:order val="1"/>
          <c:tx>
            <c:strRef>
              <c:f>Sheet1!$C$1</c:f>
              <c:strCache>
                <c:ptCount val="1"/>
                <c:pt idx="0">
                  <c:v>BM25</c:v>
                </c:pt>
              </c:strCache>
            </c:strRef>
          </c:tx>
          <c:spPr>
            <a:solidFill>
              <a:srgbClr val="C2740A"/>
            </a:solidFill>
            <a:effectLst/>
          </c:spPr>
          <c:invertIfNegative val="0"/>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cat>
            <c:multiLvlStrRef>
              <c:f>Sheet1!$A$2:$A$6</c:f>
              <c:multiLvlStrCache>
                <c:ptCount val="5"/>
                <c:lvl>
                  <c:pt idx="0">
                    <c:v>Recall@1</c:v>
                  </c:pt>
                  <c:pt idx="1">
                    <c:v>Recall@5</c:v>
                  </c:pt>
                  <c:pt idx="2">
                    <c:v>Recall@10</c:v>
                  </c:pt>
                  <c:pt idx="3">
                    <c:v>MRR@10</c:v>
                  </c:pt>
                  <c:pt idx="4">
                    <c:v>nDCG@10</c:v>
                  </c:pt>
                </c:lvl>
              </c:multiLvlStrCache>
            </c:multiLvlStrRef>
          </c:cat>
          <c:val>
            <c:numRef>
              <c:f>Sheet1!$C$2:$C$6</c:f>
              <c:numCache>
                <c:formatCode>General</c:formatCode>
                <c:ptCount val="5"/>
                <c:pt idx="0">
                  <c:v>0.93</c:v>
                </c:pt>
                <c:pt idx="1">
                  <c:v>0.984</c:v>
                </c:pt>
                <c:pt idx="2">
                  <c:v>0.99</c:v>
                </c:pt>
                <c:pt idx="3">
                  <c:v>0.9531</c:v>
                </c:pt>
                <c:pt idx="4">
                  <c:v>0.9622</c:v>
                </c:pt>
              </c:numCache>
            </c:numRef>
          </c:val>
        </c:ser>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4653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DFE5EF"/>
              </a:solidFill>
              <a:prstDash val="solid"/>
              <a:round/>
            </a:ln>
          </c:spPr>
        </c:majorGridlines>
        <c:numFmt formatCode="0.0" sourceLinked="0"/>
        <c:majorTickMark val="out"/>
        <c:minorTickMark val="none"/>
        <c:tickLblPos val="nextTo"/>
        <c:spPr>
          <a:ln w="12700" cap="flat">
            <a:noFill/>
            <a:prstDash val="solid"/>
            <a:round/>
          </a:ln>
        </c:spPr>
        <c:txPr>
          <a:bodyPr/>
          <a:lstStyle/>
          <a:p>
            <a:pPr>
              <a:defRPr sz="900" b="0" i="0" u="none" strike="noStrike">
                <a:solidFill>
                  <a:srgbClr val="8794AC"/>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000">
              <a:solidFill>
                <a:srgbClr val="46536B"/>
              </a:solidFill>
            </a:defRPr>
          </a:pPr>
          <a:endParaRPr lang="en-US"/>
        </a:p>
      </c:txPr>
    </c:legend>
    <c:plotVisOnly val="1"/>
    <c:dispBlanksAs val="span"/>
  </c:chart>
  <c:spPr>
    <a:solidFill>
      <a:srgbClr val="FFFFFF"/>
    </a:solidFill>
    <a:ln w="12700" cap="flat">
      <a:solidFill>
        <a:srgbClr val="FFFFFF"/>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Sémantique</c:v>
                </c:pt>
              </c:strCache>
            </c:strRef>
          </c:tx>
          <c:spPr>
            <a:solidFill>
              <a:srgbClr val="7C3AED"/>
            </a:solidFill>
            <a:effectLst/>
          </c:spPr>
          <c:invertIfNegative val="0"/>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cat>
            <c:multiLvlStrRef>
              <c:f>Sheet1!$A$2:$A$4</c:f>
              <c:multiLvlStrCache>
                <c:ptCount val="3"/>
                <c:lvl>
                  <c:pt idx="0">
                    <c:v>63 % de mots communs</c:v>
                  </c:pt>
                  <c:pt idx="1">
                    <c:v>83 % de mots communs</c:v>
                  </c:pt>
                  <c:pt idx="2">
                    <c:v>96 % de mots communs</c:v>
                  </c:pt>
                </c:lvl>
              </c:multiLvlStrCache>
            </c:multiLvlStrRef>
          </c:cat>
          <c:val>
            <c:numRef>
              <c:f>Sheet1!$B$2:$B$4</c:f>
              <c:numCache>
                <c:formatCode>General</c:formatCode>
                <c:ptCount val="3"/>
                <c:pt idx="0">
                  <c:v>0.827</c:v>
                </c:pt>
                <c:pt idx="1">
                  <c:v>0.96</c:v>
                </c:pt>
                <c:pt idx="2">
                  <c:v>0.978</c:v>
                </c:pt>
              </c:numCache>
            </c:numRef>
          </c:val>
        </c:ser>
        <c:ser>
          <c:idx val="1"/>
          <c:order val="1"/>
          <c:tx>
            <c:strRef>
              <c:f>Sheet1!$C$1</c:f>
              <c:strCache>
                <c:ptCount val="1"/>
                <c:pt idx="0">
                  <c:v>BM25</c:v>
                </c:pt>
              </c:strCache>
            </c:strRef>
          </c:tx>
          <c:spPr>
            <a:solidFill>
              <a:srgbClr val="C2740A"/>
            </a:solidFill>
            <a:effectLst/>
          </c:spPr>
          <c:invertIfNegative val="0"/>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cat>
            <c:multiLvlStrRef>
              <c:f>Sheet1!$A$2:$A$4</c:f>
              <c:multiLvlStrCache>
                <c:ptCount val="3"/>
                <c:lvl>
                  <c:pt idx="0">
                    <c:v>63 % de mots communs</c:v>
                  </c:pt>
                  <c:pt idx="1">
                    <c:v>83 % de mots communs</c:v>
                  </c:pt>
                  <c:pt idx="2">
                    <c:v>96 % de mots communs</c:v>
                  </c:pt>
                </c:lvl>
              </c:multiLvlStrCache>
            </c:multiLvlStrRef>
          </c:cat>
          <c:val>
            <c:numRef>
              <c:f>Sheet1!$C$2:$C$4</c:f>
              <c:numCache>
                <c:formatCode>General</c:formatCode>
                <c:ptCount val="3"/>
                <c:pt idx="0">
                  <c:v>0.877</c:v>
                </c:pt>
                <c:pt idx="1">
                  <c:v>0.988</c:v>
                </c:pt>
                <c:pt idx="2">
                  <c:v>0.994</c:v>
                </c:pt>
              </c:numCache>
            </c:numRef>
          </c:val>
        </c:ser>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4653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DFE5EF"/>
              </a:solidFill>
              <a:prstDash val="solid"/>
              <a:round/>
            </a:ln>
          </c:spPr>
        </c:majorGridlines>
        <c:numFmt formatCode="0.0" sourceLinked="0"/>
        <c:majorTickMark val="out"/>
        <c:minorTickMark val="none"/>
        <c:tickLblPos val="nextTo"/>
        <c:spPr>
          <a:ln w="12700" cap="flat">
            <a:noFill/>
            <a:prstDash val="solid"/>
            <a:round/>
          </a:ln>
        </c:spPr>
        <c:txPr>
          <a:bodyPr/>
          <a:lstStyle/>
          <a:p>
            <a:pPr>
              <a:defRPr sz="900" b="0" i="0" u="none" strike="noStrike">
                <a:solidFill>
                  <a:srgbClr val="8794AC"/>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000">
              <a:solidFill>
                <a:srgbClr val="46536B"/>
              </a:solidFill>
            </a:defRPr>
          </a:pPr>
          <a:endParaRPr lang="en-US"/>
        </a:p>
      </c:txPr>
    </c:legend>
    <c:plotVisOnly val="1"/>
    <c:dispBlanksAs val="span"/>
  </c:chart>
  <c:spPr>
    <a:solidFill>
      <a:srgbClr val="FFFFFF"/>
    </a:solidFill>
    <a:ln w="12700" cap="flat">
      <a:solidFill>
        <a:srgbClr val="FFFFFF"/>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Sémantique</c:v>
                </c:pt>
              </c:strCache>
            </c:strRef>
          </c:tx>
          <c:spPr>
            <a:solidFill>
              <a:srgbClr val="7C3AED"/>
            </a:solidFill>
            <a:effectLst/>
          </c:spPr>
          <c:invertIfNegative val="0"/>
          <c:dLbls>
            <c:numFmt formatCode="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cat>
            <c:multiLvlStrRef>
              <c:f>Sheet1!$A$2:$A$4</c:f>
              <c:multiLvlStrCache>
                <c:ptCount val="3"/>
                <c:lvl>
                  <c:pt idx="0">
                    <c:v>français ↔ anglais</c:v>
                  </c:pt>
                  <c:pt idx="1">
                    <c:v>arabe ↔ anglais</c:v>
                  </c:pt>
                  <c:pt idx="2">
                    <c:v>français ↔ arabe</c:v>
                  </c:pt>
                </c:lvl>
              </c:multiLvlStrCache>
            </c:multiLvlStrRef>
          </c:cat>
          <c:val>
            <c:numRef>
              <c:f>Sheet1!$B$2:$B$4</c:f>
              <c:numCache>
                <c:formatCode>General</c:formatCode>
                <c:ptCount val="3"/>
                <c:pt idx="0">
                  <c:v>0.445</c:v>
                </c:pt>
                <c:pt idx="1">
                  <c:v>0.13</c:v>
                </c:pt>
                <c:pt idx="2">
                  <c:v>0.205</c:v>
                </c:pt>
              </c:numCache>
            </c:numRef>
          </c:val>
        </c:ser>
        <c:ser>
          <c:idx val="1"/>
          <c:order val="1"/>
          <c:tx>
            <c:strRef>
              <c:f>Sheet1!$C$1</c:f>
              <c:strCache>
                <c:ptCount val="1"/>
                <c:pt idx="0">
                  <c:v>BM25</c:v>
                </c:pt>
              </c:strCache>
            </c:strRef>
          </c:tx>
          <c:spPr>
            <a:solidFill>
              <a:srgbClr val="C2740A"/>
            </a:solidFill>
            <a:effectLst/>
          </c:spPr>
          <c:invertIfNegative val="0"/>
          <c:dLbls>
            <c:numFmt formatCode="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cat>
            <c:multiLvlStrRef>
              <c:f>Sheet1!$A$2:$A$4</c:f>
              <c:multiLvlStrCache>
                <c:ptCount val="3"/>
                <c:lvl>
                  <c:pt idx="0">
                    <c:v>français ↔ anglais</c:v>
                  </c:pt>
                  <c:pt idx="1">
                    <c:v>arabe ↔ anglais</c:v>
                  </c:pt>
                  <c:pt idx="2">
                    <c:v>français ↔ arabe</c:v>
                  </c:pt>
                </c:lvl>
              </c:multiLvlStrCache>
            </c:multiLvlStrRef>
          </c:cat>
          <c:val>
            <c:numRef>
              <c:f>Sheet1!$C$2:$C$4</c:f>
              <c:numCache>
                <c:formatCode>General</c:formatCode>
                <c:ptCount val="3"/>
                <c:pt idx="0">
                  <c:v>0.035</c:v>
                </c:pt>
                <c:pt idx="1">
                  <c:v>0</c:v>
                </c:pt>
                <c:pt idx="2">
                  <c:v>0</c:v>
                </c:pt>
              </c:numCache>
            </c:numRef>
          </c:val>
        </c:ser>
        <c:dLbls>
          <c:numFmt formatCode="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46536B"/>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12700" cap="flat">
              <a:solidFill>
                <a:srgbClr val="DFE5EF"/>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8794AC"/>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000">
              <a:solidFill>
                <a:srgbClr val="46536B"/>
              </a:solidFill>
            </a:defRPr>
          </a:pPr>
          <a:endParaRPr lang="en-US"/>
        </a:p>
      </c:txPr>
    </c:legend>
    <c:plotVisOnly val="1"/>
    <c:dispBlanksAs val="span"/>
  </c:chart>
  <c:spPr>
    <a:solidFill>
      <a:srgbClr val="FFFFFF"/>
    </a:solidFill>
    <a:ln w="12700" cap="flat">
      <a:solidFill>
        <a:srgbClr val="FFFFFF"/>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Sémantique</c:v>
                </c:pt>
              </c:strCache>
            </c:strRef>
          </c:tx>
          <c:spPr>
            <a:solidFill>
              <a:srgbClr val="7C3AED"/>
            </a:solidFill>
            <a:effectLst/>
          </c:spPr>
          <c:invertIfNegative val="0"/>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cat>
            <c:multiLvlStrRef>
              <c:f>Sheet1!$A$2:$A$4</c:f>
              <c:multiLvlStrCache>
                <c:ptCount val="3"/>
                <c:lvl>
                  <c:pt idx="0">
                    <c:v>titre → résumé</c:v>
                  </c:pt>
                  <c:pt idx="1">
                    <c:v>requêtes appauvries</c:v>
                  </c:pt>
                  <c:pt idx="2">
                    <c:v>faible recouvrement</c:v>
                  </c:pt>
                </c:lvl>
              </c:multiLvlStrCache>
            </c:multiLvlStrRef>
          </c:cat>
          <c:val>
            <c:numRef>
              <c:f>Sheet1!$B$2:$B$4</c:f>
              <c:numCache>
                <c:formatCode>General</c:formatCode>
                <c:ptCount val="3"/>
                <c:pt idx="0">
                  <c:v>0.929</c:v>
                </c:pt>
                <c:pt idx="1">
                  <c:v>0.712</c:v>
                </c:pt>
                <c:pt idx="2">
                  <c:v>0.846</c:v>
                </c:pt>
              </c:numCache>
            </c:numRef>
          </c:val>
        </c:ser>
        <c:ser>
          <c:idx val="1"/>
          <c:order val="1"/>
          <c:tx>
            <c:strRef>
              <c:f>Sheet1!$C$1</c:f>
              <c:strCache>
                <c:ptCount val="1"/>
                <c:pt idx="0">
                  <c:v>BM25</c:v>
                </c:pt>
              </c:strCache>
            </c:strRef>
          </c:tx>
          <c:spPr>
            <a:solidFill>
              <a:srgbClr val="C2740A"/>
            </a:solidFill>
            <a:effectLst/>
          </c:spPr>
          <c:invertIfNegative val="0"/>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cat>
            <c:multiLvlStrRef>
              <c:f>Sheet1!$A$2:$A$4</c:f>
              <c:multiLvlStrCache>
                <c:ptCount val="3"/>
                <c:lvl>
                  <c:pt idx="0">
                    <c:v>titre → résumé</c:v>
                  </c:pt>
                  <c:pt idx="1">
                    <c:v>requêtes appauvries</c:v>
                  </c:pt>
                  <c:pt idx="2">
                    <c:v>faible recouvrement</c:v>
                  </c:pt>
                </c:lvl>
              </c:multiLvlStrCache>
            </c:multiLvlStrRef>
          </c:cat>
          <c:val>
            <c:numRef>
              <c:f>Sheet1!$C$2:$C$4</c:f>
              <c:numCache>
                <c:formatCode>General</c:formatCode>
                <c:ptCount val="3"/>
                <c:pt idx="0">
                  <c:v>0.975</c:v>
                </c:pt>
                <c:pt idx="1">
                  <c:v>0.751</c:v>
                </c:pt>
                <c:pt idx="2">
                  <c:v>0.923</c:v>
                </c:pt>
              </c:numCache>
            </c:numRef>
          </c:val>
        </c:ser>
        <c:ser>
          <c:idx val="2"/>
          <c:order val="2"/>
          <c:tx>
            <c:strRef>
              <c:f>Sheet1!$D$1</c:f>
              <c:strCache>
                <c:ptCount val="1"/>
                <c:pt idx="0">
                  <c:v>Hybride</c:v>
                </c:pt>
              </c:strCache>
            </c:strRef>
          </c:tx>
          <c:spPr>
            <a:solidFill>
              <a:srgbClr val="047857"/>
            </a:solidFill>
            <a:effectLst/>
          </c:spPr>
          <c:invertIfNegative val="0"/>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cat>
            <c:multiLvlStrRef>
              <c:f>Sheet1!$A$2:$A$4</c:f>
              <c:multiLvlStrCache>
                <c:ptCount val="3"/>
                <c:lvl>
                  <c:pt idx="0">
                    <c:v>titre → résumé</c:v>
                  </c:pt>
                  <c:pt idx="1">
                    <c:v>requêtes appauvries</c:v>
                  </c:pt>
                  <c:pt idx="2">
                    <c:v>faible recouvrement</c:v>
                  </c:pt>
                </c:lvl>
              </c:multiLvlStrCache>
            </c:multiLvlStrRef>
          </c:cat>
          <c:val>
            <c:numRef>
              <c:f>Sheet1!$D$2:$D$4</c:f>
              <c:numCache>
                <c:formatCode>General</c:formatCode>
                <c:ptCount val="3"/>
                <c:pt idx="0">
                  <c:v>0.978</c:v>
                </c:pt>
                <c:pt idx="1">
                  <c:v>0.774</c:v>
                </c:pt>
                <c:pt idx="2">
                  <c:v>0.933</c:v>
                </c:pt>
              </c:numCache>
            </c:numRef>
          </c:val>
        </c:ser>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4653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DFE5EF"/>
              </a:solidFill>
              <a:prstDash val="solid"/>
              <a:round/>
            </a:ln>
          </c:spPr>
        </c:majorGridlines>
        <c:numFmt formatCode="0.0" sourceLinked="0"/>
        <c:majorTickMark val="out"/>
        <c:minorTickMark val="none"/>
        <c:tickLblPos val="nextTo"/>
        <c:spPr>
          <a:ln w="12700" cap="flat">
            <a:noFill/>
            <a:prstDash val="solid"/>
            <a:round/>
          </a:ln>
        </c:spPr>
        <c:txPr>
          <a:bodyPr/>
          <a:lstStyle/>
          <a:p>
            <a:pPr>
              <a:defRPr sz="900" b="0" i="0" u="none" strike="noStrike">
                <a:solidFill>
                  <a:srgbClr val="8794AC"/>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000">
              <a:solidFill>
                <a:srgbClr val="46536B"/>
              </a:solidFill>
            </a:defRPr>
          </a:pPr>
          <a:endParaRPr lang="en-US"/>
        </a:p>
      </c:txPr>
    </c:legend>
    <c:plotVisOnly val="1"/>
    <c:dispBlanksAs val="span"/>
  </c:chart>
  <c:spPr>
    <a:solidFill>
      <a:srgbClr val="FFFFFF"/>
    </a:solidFill>
    <a:ln w="12700" cap="flat">
      <a:solidFill>
        <a:srgbClr val="FFFFFF"/>
      </a:solid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Sémantique</c:v>
                </c:pt>
              </c:strCache>
            </c:strRef>
          </c:tx>
          <c:spPr>
            <a:solidFill>
              <a:srgbClr val="7C3AED"/>
            </a:solidFill>
            <a:effectLst/>
          </c:spPr>
          <c:invertIfNegative val="0"/>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cat>
            <c:multiLvlStrRef>
              <c:f>Sheet1!$A$2:$A$3</c:f>
              <c:multiLvlStrCache>
                <c:ptCount val="2"/>
                <c:lvl>
                  <c:pt idx="0">
                    <c:v>Requêtes complètes</c:v>
                  </c:pt>
                  <c:pt idx="1">
                    <c:v>Requêtes appauvries</c:v>
                  </c:pt>
                </c:lvl>
              </c:multiLvlStrCache>
            </c:multiLvlStrRef>
          </c:cat>
          <c:val>
            <c:numRef>
              <c:f>Sheet1!$B$2:$B$3</c:f>
              <c:numCache>
                <c:formatCode>General</c:formatCode>
                <c:ptCount val="2"/>
                <c:pt idx="0">
                  <c:v>0.9218</c:v>
                </c:pt>
                <c:pt idx="1">
                  <c:v>0.5644</c:v>
                </c:pt>
              </c:numCache>
            </c:numRef>
          </c:val>
        </c:ser>
        <c:ser>
          <c:idx val="1"/>
          <c:order val="1"/>
          <c:tx>
            <c:strRef>
              <c:f>Sheet1!$C$1</c:f>
              <c:strCache>
                <c:ptCount val="1"/>
                <c:pt idx="0">
                  <c:v>BM25</c:v>
                </c:pt>
              </c:strCache>
            </c:strRef>
          </c:tx>
          <c:spPr>
            <a:solidFill>
              <a:srgbClr val="C2740A"/>
            </a:solidFill>
            <a:effectLst/>
          </c:spPr>
          <c:invertIfNegative val="0"/>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cat>
            <c:multiLvlStrRef>
              <c:f>Sheet1!$A$2:$A$3</c:f>
              <c:multiLvlStrCache>
                <c:ptCount val="2"/>
                <c:lvl>
                  <c:pt idx="0">
                    <c:v>Requêtes complètes</c:v>
                  </c:pt>
                  <c:pt idx="1">
                    <c:v>Requêtes appauvries</c:v>
                  </c:pt>
                </c:lvl>
              </c:multiLvlStrCache>
            </c:multiLvlStrRef>
          </c:cat>
          <c:val>
            <c:numRef>
              <c:f>Sheet1!$C$2:$C$3</c:f>
              <c:numCache>
                <c:formatCode>General</c:formatCode>
                <c:ptCount val="2"/>
                <c:pt idx="0">
                  <c:v>0.9531</c:v>
                </c:pt>
                <c:pt idx="1">
                  <c:v>0.6453</c:v>
                </c:pt>
              </c:numCache>
            </c:numRef>
          </c:val>
        </c:ser>
        <c:dLbls>
          <c:numFmt formatCode="0.00" sourceLinked="0"/>
          <c:txPr>
            <a:bodyPr/>
            <a:lstStyle/>
            <a:p>
              <a:pPr>
                <a:defRPr b="0" i="0" strike="noStrike" sz="900" u="none">
                  <a:solidFill>
                    <a:srgbClr val="46536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4653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DFE5EF"/>
              </a:solidFill>
              <a:prstDash val="solid"/>
              <a:round/>
            </a:ln>
          </c:spPr>
        </c:majorGridlines>
        <c:numFmt formatCode="0.0" sourceLinked="0"/>
        <c:majorTickMark val="out"/>
        <c:minorTickMark val="none"/>
        <c:tickLblPos val="nextTo"/>
        <c:spPr>
          <a:ln w="12700" cap="flat">
            <a:noFill/>
            <a:prstDash val="solid"/>
            <a:round/>
          </a:ln>
        </c:spPr>
        <c:txPr>
          <a:bodyPr/>
          <a:lstStyle/>
          <a:p>
            <a:pPr>
              <a:defRPr sz="900" b="0" i="0" u="none" strike="noStrike">
                <a:solidFill>
                  <a:srgbClr val="8794AC"/>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000">
              <a:solidFill>
                <a:srgbClr val="46536B"/>
              </a:solidFill>
            </a:defRPr>
          </a:pPr>
          <a:endParaRPr lang="en-US"/>
        </a:p>
      </c:txPr>
    </c:legend>
    <c:plotVisOnly val="1"/>
    <c:dispBlanksAs val="span"/>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la conception et le développement d'un moteur de recherche sémantique appliqué à un corpus d'articles scientifiques.
Le fil conducteur tient en une phrase : je ne vais pas essayer de vous montrer que le sémantique bat le lexical — mes mesures disent autre chose, de plus solide. Je vais vous montrer où chacun gagne, et pourquoi cela mène à les combiner.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commence par le résultat, pas par la théorie.
Voici une question posée en arabe. Voici le premier article renvoyé, en anglais. Les deux ne partagent pas un seul caractère — ils ne partagent même pas l'alphabet.
Un moteur qui compare des mots est structurellement incapable de faire ce rapprochement. Ce n'est pas une question de réglage : le score est nul, il n'y a rien à optimiser.
Toute la question du projet est là : comment chercher par le sens plutôt que par les mots.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cahier des charges fixait sept conditions minimales de validation. Les voici, toutes remplies.
Je souligne la dernière, parce que c'est celle qui décide si le projet a un sens : montrer au moins un cas où la recherche sémantique retrouve un document pertinent sans correspondance lexicale évidente.
Dans ce projet, ce cas n'est pas une anecdote choisie à la main : il se produit sur les vingt requêtes arabes du jeu d'évaluation, et l'interface le détecte automatiquement.
Au-delà du minimum, trois extensions facultatives sont implémentées ET mesurées.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système a deux phases, et il est essentiel de ne pas les confondre.
L'indexation est hors ligne : lente, exécutée une seule fois. Douze minutes de calcul sur un processeur sans carte graphique.
La recherche est en ligne : quelques dizaines de millisecondes, à chaque question.
Le mot le plus important de ces deux schémas est « même ». Si j'indexe avec un modèle et que je cherche avec un autre, les deux ensembles de vecteurs vivent dans des espaces différents et les résultats deviennent du pur hasard — sans qu'aucune erreur ne s'affiche. C'est le piège numéro un du domaine, et c'est pour ça que le code n'a qu'un seul module qui connaît le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choix techniques, et je vais à l'essentiel sur chacun.
Le modèle d'abord : multilingual-e5-small. Son multilinguisme est structurel, pas décoratif — il a été entraîné sur des paires de phrases traduites, donc « fraud detection », « détection de fraude » et l'équivalent arabe se retrouvent au même endroit de l'espace. Ce n'est pas de la traduction, c'est un espace partagé. Et il tient sur un processeur ordinaire.
L'index ensuite. Je normalise tous les vecteurs à une longueur de un, ce qui rend le produit scalaire exactement égal à la similarité cosinus. Je mesure donc un angle — le sens — et pas une longueur, qui refléterait la taille du texte.
Et enfin la décision méthodologique la plus importante du projet : le titre n'est pas indexé. Mon évaluation utilise le titre comme requête. S'il figurait aussi dans le texte indexé, BM25 le retrouverait par correspondance exacte et la comparaison n'aurait plus aucune valeur. C'est une fuite de données, et l'éviter fait partie du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ne contient pas un moteur mais trois, et ils partagent le même index et les mêmes passages. Ce qui les sépare est uniquement la façon de classer, jamais ce qui a été indexé. C'est la condition pour que la comparaison veuille dire quelque chose.
Le sémantique compare des vecteurs de sens. Le lexical compare des mots. L'hybride fait voter les deux.
Le troisième mérite un mot, parce que la façon de fusionner n'est pas évidente. Un score BM25 vaut entre zéro et quarante sans borne supérieure ; un cosinus vaut entre moins un et un. Les additionner n'a aucun sens. La Reciprocal Rank Fusion contourne le problème en n'utilisant que les rangs, qui sont dans la même unité par construction.
Résultat : un document deuxième chez les deux moteurs passe devant un document premier chez un seul. L'accord entre deux méthodes indépendantes est un signal de pertinence.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logicielle sépare strictement le moteur de l'affichage. Le moteur est une bibliothèque Python ; FastAPI le transforme en service web ; l'interface Streamlit n'appelle que des routes HTTP et ignore tout du fonctionnement interne.
L'index et le modèle sont chargés une seule fois au démarrage. Sans ce préchauffage, le tout premier utilisateur attendrait quinze secondes — je l'ai mesuré, puis corrigé.
L'interface a cinq vues qui suivent l'ordre d'une soutenance. Et un détail d'ergonomie : la barre de recherche est au-dessus des onglets, donc on tape la question une fois et on change de point de vue sans la retaper.
Enfin, chaque résultat porte sa justification. Les mots partagés sont surlignés, et la phrase du résumé la plus proche de la question est mise en évidence : le modèle désigne lui-même ce qui a déclenché le rapprochement. Quand il n'y a aucun mot en commun, l'interface l'affiche d'elle-même.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démonstration réussie peut toujours être une coïncidence. J'ai donc construit trois protocoles complémentaires, sur des centaines de requêtes, et sans aucune annotation manuelle.
Le premier produit une vérité terrain gratuitement : je prends le titre d'un article au hasard et je m'en sers comme requête. Le bon résultat est connu d'avance, c'est l'article lui-même. Cinq cents requêtes annotées sans travail manuel.
Le deuxième attaque directement l'argument central du projet : la même question posée en trois langues doit renvoyer approximativement les mêmes articles.
Le troisième mesure le coût : latence, taille d'index, et le compromis entre index exact et approximatif.
Tous les chiffres qui suivent sont régénérables par une seule commande, avec des graines aléatoires fixées.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résultat, et je commence délibérément par celui qui ne m'arrange pas.
Sur ce protocole, BM25 devance le moteur sémantique sur les cinq métriques. Recall@1 : 93 % contre 89,6 %. MRR : 0,953 contre 0,922.
Ce n'est pas un défaut d'implémentation, c'est le terrain de jeu naturel de BM25. Un titre partage avec son résumé des termes techniques rares — un nom de méthode, un acronyme — et faire correspondre des termes rares est exactement ce que BM25 fait le mieux.
Je pourrais présenter ces chiffres autrement. Je préfère les présenter tels quels, parce que la diapositive suivante montre que ce protocole ne mesure pas ce qu'on croit.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diapositive la plus importante de mon analyse, et c'est une critique de mon propre protocole.
J'ai réparti les cinq cents mêmes requêtes en trois groupes, selon la part des mots de la requête effectivement présents dans le bon document. C'est la quantité dont BM25 dépend entièrement.
Regardez le groupe le plus difficile : il partage encore soixante-trois pour cent de son vocabulaire avec le bon document. Le tiers le plus dur de mon protocole est encore largement lexical.
Autrement dit : ce protocole ne descend jamais dans le régime où la correspondance de mots cesse de fonctionner. Il mesure du lexical, pas du sens. Le reconnaître vaut mieux que de présenter les chiffres précédents comme une validation du moteur sémantique — et cela justifie le protocole suivant.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l'apport réel du projet.
Vingt questions posées en français, en arabe et en anglais, sur un corpus entièrement anglophone. Je mesure la part d'articles communs entre les résultats de deux langues.
Le moteur sémantique obtient 0,445 entre français et anglais, 0,130 entre arabe et anglais. BM25 obtient 0,035 et zéro.
Mais le chiffre à retenir est celui de droite : BM25 ne renvoie strictement rien sur les vingt requêtes arabes. Zéro résultat, vingt fois sur vingt. Ce n'est pas un mauvais réglage : aucun mot arabe n'existe dans un corpus anglophone, donc aucun score n'est calculable.
Sur ce terrain, les deux approches ne se comparent pas. Une seule fonctionne.
Deux nuances honnêtes. Le 0,445 en français se lit avec prudence : sur un corpus aussi dense, deux formulations peuvent renvoyer des articles différents et tous deux pertinents. Et le score arabe est nettement plus faible que le français : la qualité multilingue de ce modèle n'est pas uniforme entre les langues.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 résultat : la fusion hybride, mesurée sur les mêmes protocoles.
Elle est meilleure que chacun des deux moteurs pris séparément sur les trois protocoles de qualité, et elle conserve la couverture multilingue : zéro requête arabe sans résultat.
Ces chiffres viennent d'une exécution de contrôle sur un corpus réduit ; l'ordre entre les moteurs est net et reproductible, mais les valeurs absolues sont à régénérer sur le corpus complet.
Le prix à payer est la latence : la fusion interroge les deux moteurs, donc elle paie la somme de leurs temps. Et le temps du moteur sémantique est presque entièrement consacré à l'encodage de la requête ; la recherche FAISS elle-même ne coûte qu'une milliseconde.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conclus sur ce que les mesures autorisent à dire.
La thèse de ce projet n'est pas « le sémantique bat le lexical ». Mes propres mesures le contredisent sur deux protocoles sur trois.
Là où les mots se recouvrent, BM25 reste légèrement meilleur, gratuit et instantané. Là où ils ne se recouvrent pas — autre langue, autre vocabulaire — le moteur sémantique est le seul à fonctionner, tandis que BM25 ne renvoie rien.
C'est exactement pour cette raison que la recherche hybride est devenue le standard en production. Elle n'est pas un bonus du projet : elle en est la conclusion logique.
Les limites, je préfère les énoncer moi-même : la qualité multilingue n'est pas uniforme, mon protocole principal ne descend jamais dans le régime purement sémantique, et le corpus est mono-domaine.
Et la suite la plus rentable serait le reranking par cross-encoder : repasser les cinquante premiers résultats dans un modèle qui lit la question et le document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passe à la démonstration en direct. Le scénario est en trois temps, et il monte en puissance.
Un : une question en anglais, dont les mots existent dans le corpus. Les deux moteurs fonctionnent et s'accordent largement. C'est le cas normal.
Deux : la même question en français. BM25 s'effondre. Le moteur sémantique continue de répondre.
Trois : la même question en arabe. BM25 ne renvoie plus rien du tout. Le moteur sémantique répond toujours, et l'interface signale d'elle-même qu'il n'y a aucun mot en commun.
L'onglet Démonstration déroule ce scénario automatiquement et termine par un tableau récapitulatif. Les questions viennent du jeu d'évaluation, écrit avant les mesures : rien n'est préparé pour l'occasion.
Merci de votre attention,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d'appui. À montrer si le jury demande comment vous avez cherché le régime purement sémantique.
J'ai retiré les trois mots les plus rares de chaque titre. Mon hypothèse était que BM25, privé de sa signature lexicale, chuterait davantage. C'est l'inverse qui se produit.
L'explication : les mots rares n'étaient pas seulement discriminants, ils portaient le sujet. Un modèle dense compresse la requête entière dans un vecteur unique, il y est donc plus sensible. BM25 ignore simplement les termes sans correspondance.
Je présente ce résultat parce qu'il est contraire à mon hypothèse de départ.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d'appui, sur le compromis vitesse / exhaustivité.
L'index approximatif IVF regroupe les vecteurs en quartiers et ne fouille que les plus prometteurs. Il est implémenté, et je l'ai mesuré.
Le résultat va contre l'intuition : à onze mille vecteurs, il fait perdre quatorze pour cent de rappel pour économiser moins d'une milliseconde sur une requête qui en prend quatre-vingt-trois.
L'approximation ne se justifie pas à cette échelle. Je la garde pour le jour où le corpus atteindra le million de documents. Mesurer un compromis vaut mieux que le citer — et ici, la mesure dit de ne pas l'utiliser.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d'appui, si le jury demande de calculer une métrique.
Recall@K : le bon document est-il dans les K premiers ? Oui égale un, non égale zéro, puis moyenne sur toutes les requêtes.
MRR : un divisé par la position du bon document. Première place égale un, deuxième un demi, quatrième un quart.
nDCG : même idée, mais la décroissance est logarithmique donc plus douce.
Et sur la précision : dans mon protocole chaque requête n'a qu'un seul document pertinent, donc précision et rappel se confondent. C'est pour ça que j'ai ajouté le MRR et le nDCG, qui tiennent compte de la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d'appui, à n'afficher que si l'une de ces questions est posée.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9-image-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10-image-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11-image-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Slide-12-image-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Slide-15-image-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1572768"/>
            <a:ext cx="128016" cy="128016"/>
          </a:xfrm>
          <a:prstGeom prst="ellipse">
            <a:avLst/>
          </a:prstGeom>
          <a:solidFill>
            <a:srgbClr val="A78BFA"/>
          </a:solidFill>
          <a:ln w="12700">
            <a:solidFill>
              <a:srgbClr val="333333"/>
            </a:solidFill>
            <a:prstDash val="solid"/>
          </a:ln>
        </p:spPr>
      </p:sp>
      <p:sp>
        <p:nvSpPr>
          <p:cNvPr id="4" name="Text 1"/>
          <p:cNvSpPr txBox="1"/>
          <p:nvPr/>
        </p:nvSpPr>
        <p:spPr>
          <a:xfrm>
            <a:off x="877824" y="1508760"/>
            <a:ext cx="10874959" cy="274320"/>
          </a:xfrm>
          <a:prstGeom prst="rect">
            <a:avLst/>
          </a:prstGeom>
          <a:noFill/>
          <a:ln/>
        </p:spPr>
        <p:txBody>
          <a:bodyPr wrap="square" lIns="0" tIns="0" rIns="0" bIns="0" rtlCol="0" anchor="ctr"/>
          <a:lstStyle/>
          <a:p>
            <a:pPr indent="0" marL="0">
              <a:buNone/>
            </a:pPr>
            <a:r>
              <a:rPr lang="en-US" sz="1050" b="1" spc="160" kern="0" dirty="0">
                <a:solidFill>
                  <a:srgbClr val="B9A7F5"/>
                </a:solidFill>
                <a:latin typeface="Calibri" pitchFamily="34" charset="0"/>
                <a:ea typeface="Calibri" pitchFamily="34" charset="-122"/>
                <a:cs typeface="Calibri" pitchFamily="34" charset="-120"/>
              </a:rPr>
              <a:t>PROJET DE FIN D'ANNÉE   ·   INFORMATIQUE &amp; INTELLIGENCE ARTIFICIELLE</a:t>
            </a:r>
            <a:endParaRPr lang="en-US" sz="1050" dirty="0"/>
          </a:p>
        </p:txBody>
      </p:sp>
      <p:sp>
        <p:nvSpPr>
          <p:cNvPr id="5" name="Text 2"/>
          <p:cNvSpPr txBox="1"/>
          <p:nvPr/>
        </p:nvSpPr>
        <p:spPr>
          <a:xfrm>
            <a:off x="658368" y="1965960"/>
            <a:ext cx="10874959" cy="1874520"/>
          </a:xfrm>
          <a:prstGeom prst="rect">
            <a:avLst/>
          </a:prstGeom>
          <a:noFill/>
          <a:ln/>
        </p:spPr>
        <p:txBody>
          <a:bodyPr wrap="square" lIns="0" tIns="0" rIns="0" bIns="0" rtlCol="0" anchor="t"/>
          <a:lstStyle/>
          <a:p>
            <a:pPr indent="0" marL="0">
              <a:lnSpc>
                <a:spcPct val="105000"/>
              </a:lnSpc>
              <a:buNone/>
            </a:pPr>
            <a:r>
              <a:rPr lang="en-US" sz="4200" b="1" dirty="0">
                <a:solidFill>
                  <a:srgbClr val="F1F5F9"/>
                </a:solidFill>
                <a:latin typeface="Calibri" pitchFamily="34" charset="0"/>
                <a:ea typeface="Calibri" pitchFamily="34" charset="-122"/>
                <a:cs typeface="Calibri" pitchFamily="34" charset="-120"/>
              </a:rPr>
              <a:t>Conception et développement d'un
</a:t>
            </a:r>
            <a:pPr indent="0" marL="0">
              <a:lnSpc>
                <a:spcPct val="105000"/>
              </a:lnSpc>
              <a:buNone/>
            </a:pPr>
            <a:r>
              <a:rPr lang="en-US" sz="4200" b="1" dirty="0">
                <a:solidFill>
                  <a:srgbClr val="A78BFA"/>
                </a:solidFill>
                <a:latin typeface="Calibri" pitchFamily="34" charset="0"/>
                <a:ea typeface="Calibri" pitchFamily="34" charset="-122"/>
                <a:cs typeface="Calibri" pitchFamily="34" charset="-120"/>
              </a:rPr>
              <a:t>moteur de recherche sémantique
</a:t>
            </a:r>
            <a:pPr indent="0" marL="0">
              <a:lnSpc>
                <a:spcPct val="105000"/>
              </a:lnSpc>
              <a:buNone/>
            </a:pPr>
            <a:r>
              <a:rPr lang="en-US" sz="4200" b="1" dirty="0">
                <a:solidFill>
                  <a:srgbClr val="F1F5F9"/>
                </a:solidFill>
                <a:latin typeface="Calibri" pitchFamily="34" charset="0"/>
                <a:ea typeface="Calibri" pitchFamily="34" charset="-122"/>
                <a:cs typeface="Calibri" pitchFamily="34" charset="-120"/>
              </a:rPr>
              <a:t>basé sur le NLP</a:t>
            </a:r>
            <a:endParaRPr lang="en-US" sz="4200" dirty="0"/>
          </a:p>
        </p:txBody>
      </p:sp>
      <p:sp>
        <p:nvSpPr>
          <p:cNvPr id="6" name="Text 3"/>
          <p:cNvSpPr txBox="1"/>
          <p:nvPr/>
        </p:nvSpPr>
        <p:spPr>
          <a:xfrm>
            <a:off x="658368" y="4041648"/>
            <a:ext cx="7589520" cy="640080"/>
          </a:xfrm>
          <a:prstGeom prst="rect">
            <a:avLst/>
          </a:prstGeom>
          <a:noFill/>
          <a:ln/>
        </p:spPr>
        <p:txBody>
          <a:bodyPr wrap="square" lIns="0" tIns="0" rIns="0" bIns="0" rtlCol="0" anchor="t"/>
          <a:lstStyle/>
          <a:p>
            <a:pPr indent="0" marL="0">
              <a:lnSpc>
                <a:spcPct val="125000"/>
              </a:lnSpc>
              <a:buNone/>
            </a:pPr>
            <a:r>
              <a:rPr lang="en-US" sz="1400" dirty="0">
                <a:solidFill>
                  <a:srgbClr val="A9B6CC"/>
                </a:solidFill>
                <a:latin typeface="Calibri" pitchFamily="34" charset="0"/>
                <a:ea typeface="Calibri" pitchFamily="34" charset="-122"/>
                <a:cs typeface="Calibri" pitchFamily="34" charset="-120"/>
              </a:rPr>
              <a:t>Retrouver un article scientifique à partir d'une question posée en français, en arabe ou en anglais — sur un corpus entièrement anglophone.</a:t>
            </a:r>
            <a:endParaRPr lang="en-US" sz="1400" dirty="0"/>
          </a:p>
        </p:txBody>
      </p:sp>
      <p:sp>
        <p:nvSpPr>
          <p:cNvPr id="7" name="Text 4"/>
          <p:cNvSpPr txBox="1"/>
          <p:nvPr/>
        </p:nvSpPr>
        <p:spPr>
          <a:xfrm>
            <a:off x="658368" y="5047488"/>
            <a:ext cx="2697480" cy="219456"/>
          </a:xfrm>
          <a:prstGeom prst="rect">
            <a:avLst/>
          </a:prstGeom>
          <a:noFill/>
          <a:ln/>
        </p:spPr>
        <p:txBody>
          <a:bodyPr wrap="square" lIns="0" tIns="0" rIns="0" bIns="0" rtlCol="0" anchor="ctr"/>
          <a:lstStyle/>
          <a:p>
            <a:pPr indent="0" marL="0">
              <a:buNone/>
            </a:pPr>
            <a:r>
              <a:rPr lang="en-US" sz="1000" dirty="0">
                <a:solidFill>
                  <a:srgbClr val="A9B6CC"/>
                </a:solidFill>
                <a:latin typeface="Calibri" pitchFamily="34" charset="0"/>
                <a:ea typeface="Calibri" pitchFamily="34" charset="-122"/>
                <a:cs typeface="Calibri" pitchFamily="34" charset="-120"/>
              </a:rPr>
              <a:t>Étudiante</a:t>
            </a:r>
            <a:endParaRPr lang="en-US" sz="1000" dirty="0"/>
          </a:p>
        </p:txBody>
      </p:sp>
      <p:sp>
        <p:nvSpPr>
          <p:cNvPr id="8" name="Text 5"/>
          <p:cNvSpPr txBox="1"/>
          <p:nvPr/>
        </p:nvSpPr>
        <p:spPr>
          <a:xfrm>
            <a:off x="658368" y="5266944"/>
            <a:ext cx="269748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Salma Karim</a:t>
            </a:r>
            <a:endParaRPr lang="en-US" sz="1400" dirty="0"/>
          </a:p>
        </p:txBody>
      </p:sp>
      <p:sp>
        <p:nvSpPr>
          <p:cNvPr id="9" name="Text 6"/>
          <p:cNvSpPr txBox="1"/>
          <p:nvPr/>
        </p:nvSpPr>
        <p:spPr>
          <a:xfrm>
            <a:off x="3538728" y="5047488"/>
            <a:ext cx="2697480" cy="219456"/>
          </a:xfrm>
          <a:prstGeom prst="rect">
            <a:avLst/>
          </a:prstGeom>
          <a:noFill/>
          <a:ln/>
        </p:spPr>
        <p:txBody>
          <a:bodyPr wrap="square" lIns="0" tIns="0" rIns="0" bIns="0" rtlCol="0" anchor="ctr"/>
          <a:lstStyle/>
          <a:p>
            <a:pPr indent="0" marL="0">
              <a:buNone/>
            </a:pPr>
            <a:r>
              <a:rPr lang="en-US" sz="1000" dirty="0">
                <a:solidFill>
                  <a:srgbClr val="A9B6CC"/>
                </a:solidFill>
                <a:latin typeface="Calibri" pitchFamily="34" charset="0"/>
                <a:ea typeface="Calibri" pitchFamily="34" charset="-122"/>
                <a:cs typeface="Calibri" pitchFamily="34" charset="-120"/>
              </a:rPr>
              <a:t>Encadrant</a:t>
            </a:r>
            <a:endParaRPr lang="en-US" sz="1000" dirty="0"/>
          </a:p>
        </p:txBody>
      </p:sp>
      <p:sp>
        <p:nvSpPr>
          <p:cNvPr id="10" name="Text 7"/>
          <p:cNvSpPr txBox="1"/>
          <p:nvPr/>
        </p:nvSpPr>
        <p:spPr>
          <a:xfrm>
            <a:off x="3538728" y="5266944"/>
            <a:ext cx="269748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M. Achraf Zahid</a:t>
            </a:r>
            <a:endParaRPr lang="en-US" sz="1400" dirty="0"/>
          </a:p>
        </p:txBody>
      </p:sp>
      <p:sp>
        <p:nvSpPr>
          <p:cNvPr id="11" name="Text 8"/>
          <p:cNvSpPr txBox="1"/>
          <p:nvPr/>
        </p:nvSpPr>
        <p:spPr>
          <a:xfrm>
            <a:off x="6419088" y="5047488"/>
            <a:ext cx="2697480" cy="219456"/>
          </a:xfrm>
          <a:prstGeom prst="rect">
            <a:avLst/>
          </a:prstGeom>
          <a:noFill/>
          <a:ln/>
        </p:spPr>
        <p:txBody>
          <a:bodyPr wrap="square" lIns="0" tIns="0" rIns="0" bIns="0" rtlCol="0" anchor="ctr"/>
          <a:lstStyle/>
          <a:p>
            <a:pPr indent="0" marL="0">
              <a:buNone/>
            </a:pPr>
            <a:r>
              <a:rPr lang="en-US" sz="1000" dirty="0">
                <a:solidFill>
                  <a:srgbClr val="A9B6CC"/>
                </a:solidFill>
                <a:latin typeface="Calibri" pitchFamily="34" charset="0"/>
                <a:ea typeface="Calibri" pitchFamily="34" charset="-122"/>
                <a:cs typeface="Calibri" pitchFamily="34" charset="-120"/>
              </a:rPr>
              <a:t>Année universitaire</a:t>
            </a:r>
            <a:endParaRPr lang="en-US" sz="1000" dirty="0"/>
          </a:p>
        </p:txBody>
      </p:sp>
      <p:sp>
        <p:nvSpPr>
          <p:cNvPr id="12" name="Text 9"/>
          <p:cNvSpPr txBox="1"/>
          <p:nvPr/>
        </p:nvSpPr>
        <p:spPr>
          <a:xfrm>
            <a:off x="6419088" y="5266944"/>
            <a:ext cx="2697480" cy="27432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2026 – 2027</a:t>
            </a:r>
            <a:endParaRPr lang="en-US" sz="1400" dirty="0"/>
          </a:p>
        </p:txBody>
      </p:sp>
      <p:sp>
        <p:nvSpPr>
          <p:cNvPr id="13" name="Text 10"/>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A9B6CC"/>
                </a:solidFill>
                <a:latin typeface="Calibri" pitchFamily="34" charset="0"/>
                <a:ea typeface="Calibri" pitchFamily="34" charset="-122"/>
                <a:cs typeface="Calibri" pitchFamily="34" charset="-120"/>
              </a:rPr>
              <a:t>Page de titre</a:t>
            </a:r>
            <a:endParaRPr lang="en-US" sz="900" dirty="0"/>
          </a:p>
        </p:txBody>
      </p:sp>
      <p:sp>
        <p:nvSpPr>
          <p:cNvPr id="14" name="Text 11"/>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A9B6CC"/>
                </a:solidFill>
                <a:latin typeface="Consolas" pitchFamily="34" charset="0"/>
                <a:ea typeface="Consolas" pitchFamily="34" charset="-122"/>
                <a:cs typeface="Consolas" pitchFamily="34" charset="-120"/>
              </a:rPr>
              <a:t>01 / 14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7C3AED"/>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7C3AED"/>
                </a:solidFill>
                <a:latin typeface="Calibri" pitchFamily="34" charset="0"/>
                <a:ea typeface="Calibri" pitchFamily="34" charset="-122"/>
                <a:cs typeface="Calibri" pitchFamily="34" charset="-120"/>
              </a:rPr>
              <a:t>LE PROBLÈME</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Une question. Un résultat. Zéro mot en commun.</a:t>
            </a:r>
            <a:endParaRPr lang="en-US" sz="3300" dirty="0"/>
          </a:p>
        </p:txBody>
      </p:sp>
      <p:sp>
        <p:nvSpPr>
          <p:cNvPr id="6" name="Shape 3"/>
          <p:cNvSpPr/>
          <p:nvPr/>
        </p:nvSpPr>
        <p:spPr>
          <a:xfrm>
            <a:off x="658368" y="1783080"/>
            <a:ext cx="5230368" cy="1481328"/>
          </a:xfrm>
          <a:prstGeom prst="roundRect">
            <a:avLst>
              <a:gd name="adj" fmla="val 4321"/>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7" name="Shape 4"/>
          <p:cNvSpPr/>
          <p:nvPr/>
        </p:nvSpPr>
        <p:spPr>
          <a:xfrm>
            <a:off x="896112" y="1997964"/>
            <a:ext cx="105156" cy="105156"/>
          </a:xfrm>
          <a:prstGeom prst="ellipse">
            <a:avLst/>
          </a:prstGeom>
          <a:solidFill>
            <a:srgbClr val="7C3AED"/>
          </a:solidFill>
          <a:ln w="12700">
            <a:solidFill>
              <a:srgbClr val="333333"/>
            </a:solidFill>
            <a:prstDash val="solid"/>
          </a:ln>
        </p:spPr>
      </p:sp>
      <p:sp>
        <p:nvSpPr>
          <p:cNvPr id="8" name="Text 5"/>
          <p:cNvSpPr txBox="1"/>
          <p:nvPr/>
        </p:nvSpPr>
        <p:spPr>
          <a:xfrm>
            <a:off x="1078992" y="1947672"/>
            <a:ext cx="4572000" cy="201168"/>
          </a:xfrm>
          <a:prstGeom prst="rect">
            <a:avLst/>
          </a:prstGeom>
          <a:noFill/>
          <a:ln/>
        </p:spPr>
        <p:txBody>
          <a:bodyPr wrap="square" lIns="0" tIns="0" rIns="0" bIns="0" rtlCol="0" anchor="ctr"/>
          <a:lstStyle/>
          <a:p>
            <a:pPr indent="0" marL="0">
              <a:buNone/>
            </a:pPr>
            <a:r>
              <a:rPr lang="en-US" sz="850" b="1" spc="110" kern="0" dirty="0">
                <a:solidFill>
                  <a:srgbClr val="7C3AED"/>
                </a:solidFill>
                <a:latin typeface="Calibri" pitchFamily="34" charset="0"/>
                <a:ea typeface="Calibri" pitchFamily="34" charset="-122"/>
                <a:cs typeface="Calibri" pitchFamily="34" charset="-120"/>
              </a:rPr>
              <a:t>LA QUESTION POSÉE</a:t>
            </a:r>
            <a:endParaRPr lang="en-US" sz="850" dirty="0"/>
          </a:p>
        </p:txBody>
      </p:sp>
      <p:sp>
        <p:nvSpPr>
          <p:cNvPr id="9" name="Text 6"/>
          <p:cNvSpPr txBox="1"/>
          <p:nvPr/>
        </p:nvSpPr>
        <p:spPr>
          <a:xfrm>
            <a:off x="896112" y="2221992"/>
            <a:ext cx="4754880" cy="329184"/>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كشف الاحتيال المصرفي باستخدام التعلم الآلي</a:t>
            </a:r>
            <a:endParaRPr lang="en-US" sz="1600" dirty="0"/>
          </a:p>
        </p:txBody>
      </p:sp>
      <p:sp>
        <p:nvSpPr>
          <p:cNvPr id="10" name="Text 7"/>
          <p:cNvSpPr txBox="1"/>
          <p:nvPr/>
        </p:nvSpPr>
        <p:spPr>
          <a:xfrm>
            <a:off x="896112" y="2624328"/>
            <a:ext cx="4754880" cy="475488"/>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 détection de la fraude bancaire par apprentissage automatique »</a:t>
            </a:r>
            <a:endParaRPr lang="en-US" sz="1100" dirty="0"/>
          </a:p>
        </p:txBody>
      </p:sp>
      <p:sp>
        <p:nvSpPr>
          <p:cNvPr id="11" name="Shape 8"/>
          <p:cNvSpPr/>
          <p:nvPr/>
        </p:nvSpPr>
        <p:spPr>
          <a:xfrm>
            <a:off x="6300216" y="1783080"/>
            <a:ext cx="5230368" cy="1481328"/>
          </a:xfrm>
          <a:prstGeom prst="roundRect">
            <a:avLst>
              <a:gd name="adj" fmla="val 4321"/>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2" name="Shape 9"/>
          <p:cNvSpPr/>
          <p:nvPr/>
        </p:nvSpPr>
        <p:spPr>
          <a:xfrm>
            <a:off x="6537960" y="1997964"/>
            <a:ext cx="105156" cy="105156"/>
          </a:xfrm>
          <a:prstGeom prst="ellipse">
            <a:avLst/>
          </a:prstGeom>
          <a:solidFill>
            <a:srgbClr val="4338CA"/>
          </a:solidFill>
          <a:ln w="12700">
            <a:solidFill>
              <a:srgbClr val="333333"/>
            </a:solidFill>
            <a:prstDash val="solid"/>
          </a:ln>
        </p:spPr>
      </p:sp>
      <p:sp>
        <p:nvSpPr>
          <p:cNvPr id="13" name="Text 10"/>
          <p:cNvSpPr txBox="1"/>
          <p:nvPr/>
        </p:nvSpPr>
        <p:spPr>
          <a:xfrm>
            <a:off x="6720840" y="1947672"/>
            <a:ext cx="4572000" cy="201168"/>
          </a:xfrm>
          <a:prstGeom prst="rect">
            <a:avLst/>
          </a:prstGeom>
          <a:noFill/>
          <a:ln/>
        </p:spPr>
        <p:txBody>
          <a:bodyPr wrap="square" lIns="0" tIns="0" rIns="0" bIns="0" rtlCol="0" anchor="ctr"/>
          <a:lstStyle/>
          <a:p>
            <a:pPr indent="0" marL="0">
              <a:buNone/>
            </a:pPr>
            <a:r>
              <a:rPr lang="en-US" sz="850" b="1" spc="110" kern="0" dirty="0">
                <a:solidFill>
                  <a:srgbClr val="4338CA"/>
                </a:solidFill>
                <a:latin typeface="Calibri" pitchFamily="34" charset="0"/>
                <a:ea typeface="Calibri" pitchFamily="34" charset="-122"/>
                <a:cs typeface="Calibri" pitchFamily="34" charset="-120"/>
              </a:rPr>
              <a:t>PREMIER RÉSULTAT — CORPUS ANGLOPHONE</a:t>
            </a:r>
            <a:endParaRPr lang="en-US" sz="850" dirty="0"/>
          </a:p>
        </p:txBody>
      </p:sp>
      <p:sp>
        <p:nvSpPr>
          <p:cNvPr id="14" name="Text 11"/>
          <p:cNvSpPr txBox="1"/>
          <p:nvPr/>
        </p:nvSpPr>
        <p:spPr>
          <a:xfrm>
            <a:off x="6537960" y="2221992"/>
            <a:ext cx="4754880" cy="566928"/>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Shapley Value-Guided Adaptive Ensemble Learning for Explainable Financial Fraud Detection</a:t>
            </a:r>
            <a:endParaRPr lang="en-US" sz="1250" dirty="0"/>
          </a:p>
        </p:txBody>
      </p:sp>
      <p:sp>
        <p:nvSpPr>
          <p:cNvPr id="15" name="Text 12"/>
          <p:cNvSpPr txBox="1"/>
          <p:nvPr/>
        </p:nvSpPr>
        <p:spPr>
          <a:xfrm>
            <a:off x="6537960" y="2862072"/>
            <a:ext cx="4754880" cy="237744"/>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Aucun caractère commun avec la question posée.</a:t>
            </a:r>
            <a:endParaRPr lang="en-US" sz="1100" dirty="0"/>
          </a:p>
        </p:txBody>
      </p:sp>
      <p:sp>
        <p:nvSpPr>
          <p:cNvPr id="16" name="Shape 13"/>
          <p:cNvSpPr/>
          <p:nvPr/>
        </p:nvSpPr>
        <p:spPr>
          <a:xfrm>
            <a:off x="658368" y="3493008"/>
            <a:ext cx="2487168" cy="1097280"/>
          </a:xfrm>
          <a:prstGeom prst="roundRect">
            <a:avLst>
              <a:gd name="adj" fmla="val 5833"/>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7" name="Text 14"/>
          <p:cNvSpPr txBox="1"/>
          <p:nvPr/>
        </p:nvSpPr>
        <p:spPr>
          <a:xfrm>
            <a:off x="859536" y="3611880"/>
            <a:ext cx="2084832" cy="457200"/>
          </a:xfrm>
          <a:prstGeom prst="rect">
            <a:avLst/>
          </a:prstGeom>
          <a:noFill/>
          <a:ln/>
        </p:spPr>
        <p:txBody>
          <a:bodyPr wrap="square" lIns="0" tIns="0" rIns="0" bIns="0" rtlCol="0" anchor="ctr"/>
          <a:lstStyle/>
          <a:p>
            <a:pPr indent="0" marL="0">
              <a:buNone/>
            </a:pPr>
            <a:r>
              <a:rPr lang="en-US" sz="2700" b="1" dirty="0">
                <a:solidFill>
                  <a:srgbClr val="7C3AED"/>
                </a:solidFill>
                <a:latin typeface="Consolas" pitchFamily="34" charset="0"/>
                <a:ea typeface="Consolas" pitchFamily="34" charset="-122"/>
                <a:cs typeface="Consolas" pitchFamily="34" charset="-120"/>
              </a:rPr>
              <a:t>0,837</a:t>
            </a:r>
            <a:endParaRPr lang="en-US" sz="2700" dirty="0"/>
          </a:p>
        </p:txBody>
      </p:sp>
      <p:sp>
        <p:nvSpPr>
          <p:cNvPr id="18" name="Text 15"/>
          <p:cNvSpPr txBox="1"/>
          <p:nvPr/>
        </p:nvSpPr>
        <p:spPr>
          <a:xfrm>
            <a:off x="859536" y="4069080"/>
            <a:ext cx="2084832" cy="402336"/>
          </a:xfrm>
          <a:prstGeom prst="rect">
            <a:avLst/>
          </a:prstGeom>
          <a:noFill/>
          <a:ln/>
        </p:spPr>
        <p:txBody>
          <a:bodyPr wrap="square" lIns="0" tIns="0" rIns="0" bIns="0" rtlCol="0" anchor="t"/>
          <a:lstStyle/>
          <a:p>
            <a:pPr indent="0" marL="0">
              <a:lnSpc>
                <a:spcPct val="108000"/>
              </a:lnSpc>
              <a:buNone/>
            </a:pPr>
            <a:r>
              <a:rPr lang="en-US" sz="950" dirty="0">
                <a:solidFill>
                  <a:srgbClr val="8794AC"/>
                </a:solidFill>
                <a:latin typeface="Calibri" pitchFamily="34" charset="0"/>
                <a:ea typeface="Calibri" pitchFamily="34" charset="-122"/>
                <a:cs typeface="Calibri" pitchFamily="34" charset="-120"/>
              </a:rPr>
              <a:t>similarité du 1er résultat</a:t>
            </a:r>
            <a:endParaRPr lang="en-US" sz="950" dirty="0"/>
          </a:p>
        </p:txBody>
      </p:sp>
      <p:sp>
        <p:nvSpPr>
          <p:cNvPr id="19" name="Shape 16"/>
          <p:cNvSpPr/>
          <p:nvPr/>
        </p:nvSpPr>
        <p:spPr>
          <a:xfrm>
            <a:off x="3401568" y="3493008"/>
            <a:ext cx="2487168" cy="1097280"/>
          </a:xfrm>
          <a:prstGeom prst="roundRect">
            <a:avLst>
              <a:gd name="adj" fmla="val 5833"/>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20" name="Text 17"/>
          <p:cNvSpPr txBox="1"/>
          <p:nvPr/>
        </p:nvSpPr>
        <p:spPr>
          <a:xfrm>
            <a:off x="3602736" y="3611880"/>
            <a:ext cx="2084832" cy="457200"/>
          </a:xfrm>
          <a:prstGeom prst="rect">
            <a:avLst/>
          </a:prstGeom>
          <a:noFill/>
          <a:ln/>
        </p:spPr>
        <p:txBody>
          <a:bodyPr wrap="square" lIns="0" tIns="0" rIns="0" bIns="0" rtlCol="0" anchor="ctr"/>
          <a:lstStyle/>
          <a:p>
            <a:pPr indent="0" marL="0">
              <a:buNone/>
            </a:pPr>
            <a:r>
              <a:rPr lang="en-US" sz="2700" b="1" dirty="0">
                <a:solidFill>
                  <a:srgbClr val="C2740A"/>
                </a:solidFill>
                <a:latin typeface="Consolas" pitchFamily="34" charset="0"/>
                <a:ea typeface="Consolas" pitchFamily="34" charset="-122"/>
                <a:cs typeface="Consolas" pitchFamily="34" charset="-120"/>
              </a:rPr>
              <a:t>0</a:t>
            </a:r>
            <a:endParaRPr lang="en-US" sz="2700" dirty="0"/>
          </a:p>
        </p:txBody>
      </p:sp>
      <p:sp>
        <p:nvSpPr>
          <p:cNvPr id="21" name="Text 18"/>
          <p:cNvSpPr txBox="1"/>
          <p:nvPr/>
        </p:nvSpPr>
        <p:spPr>
          <a:xfrm>
            <a:off x="3602736" y="4069080"/>
            <a:ext cx="2084832" cy="402336"/>
          </a:xfrm>
          <a:prstGeom prst="rect">
            <a:avLst/>
          </a:prstGeom>
          <a:noFill/>
          <a:ln/>
        </p:spPr>
        <p:txBody>
          <a:bodyPr wrap="square" lIns="0" tIns="0" rIns="0" bIns="0" rtlCol="0" anchor="t"/>
          <a:lstStyle/>
          <a:p>
            <a:pPr indent="0" marL="0">
              <a:lnSpc>
                <a:spcPct val="108000"/>
              </a:lnSpc>
              <a:buNone/>
            </a:pPr>
            <a:r>
              <a:rPr lang="en-US" sz="950" dirty="0">
                <a:solidFill>
                  <a:srgbClr val="8794AC"/>
                </a:solidFill>
                <a:latin typeface="Calibri" pitchFamily="34" charset="0"/>
                <a:ea typeface="Calibri" pitchFamily="34" charset="-122"/>
                <a:cs typeface="Calibri" pitchFamily="34" charset="-120"/>
              </a:rPr>
              <a:t>résultat renvoyé par BM25</a:t>
            </a:r>
            <a:endParaRPr lang="en-US" sz="950" dirty="0"/>
          </a:p>
        </p:txBody>
      </p:sp>
      <p:sp>
        <p:nvSpPr>
          <p:cNvPr id="22" name="Shape 19"/>
          <p:cNvSpPr/>
          <p:nvPr/>
        </p:nvSpPr>
        <p:spPr>
          <a:xfrm>
            <a:off x="6300216" y="3493008"/>
            <a:ext cx="5230368" cy="1097280"/>
          </a:xfrm>
          <a:prstGeom prst="roundRect">
            <a:avLst>
              <a:gd name="adj" fmla="val 5833"/>
            </a:avLst>
          </a:prstGeom>
          <a:solidFill>
            <a:srgbClr val="FDF0F3"/>
          </a:solidFill>
          <a:ln w="12700">
            <a:solidFill>
              <a:srgbClr val="BE123C"/>
            </a:solidFill>
            <a:prstDash val="solid"/>
          </a:ln>
          <a:effectLst>
            <a:outerShdw sx="100000" sy="100000" kx="0" ky="0" algn="bl" rotWithShape="0" blurRad="101600" dist="25400" dir="5400000">
              <a:srgbClr val="A3AFC4">
                <a:alpha val="22000"/>
              </a:srgbClr>
            </a:outerShdw>
          </a:effectLst>
        </p:spPr>
      </p:sp>
      <p:sp>
        <p:nvSpPr>
          <p:cNvPr id="23" name="Shape 20"/>
          <p:cNvSpPr/>
          <p:nvPr/>
        </p:nvSpPr>
        <p:spPr>
          <a:xfrm>
            <a:off x="6537960" y="3703320"/>
            <a:ext cx="109728" cy="109728"/>
          </a:xfrm>
          <a:prstGeom prst="ellipse">
            <a:avLst/>
          </a:prstGeom>
          <a:solidFill>
            <a:srgbClr val="BE123C"/>
          </a:solidFill>
          <a:ln w="12700">
            <a:solidFill>
              <a:srgbClr val="333333"/>
            </a:solidFill>
            <a:prstDash val="solid"/>
          </a:ln>
        </p:spPr>
      </p:sp>
      <p:sp>
        <p:nvSpPr>
          <p:cNvPr id="24" name="Text 21"/>
          <p:cNvSpPr txBox="1"/>
          <p:nvPr/>
        </p:nvSpPr>
        <p:spPr>
          <a:xfrm>
            <a:off x="6720840" y="3648456"/>
            <a:ext cx="4572000" cy="219456"/>
          </a:xfrm>
          <a:prstGeom prst="rect">
            <a:avLst/>
          </a:prstGeom>
          <a:noFill/>
          <a:ln/>
        </p:spPr>
        <p:txBody>
          <a:bodyPr wrap="square" lIns="0" tIns="0" rIns="0" bIns="0" rtlCol="0" anchor="ctr"/>
          <a:lstStyle/>
          <a:p>
            <a:pPr indent="0" marL="0">
              <a:buNone/>
            </a:pPr>
            <a:r>
              <a:rPr lang="en-US" sz="850" b="1" spc="110" kern="0" dirty="0">
                <a:solidFill>
                  <a:srgbClr val="BE123C"/>
                </a:solidFill>
                <a:latin typeface="Calibri" pitchFamily="34" charset="0"/>
                <a:ea typeface="Calibri" pitchFamily="34" charset="-122"/>
                <a:cs typeface="Calibri" pitchFamily="34" charset="-120"/>
              </a:rPr>
              <a:t>CE QUE CELA IMPLIQUE</a:t>
            </a:r>
            <a:endParaRPr lang="en-US" sz="850" dirty="0"/>
          </a:p>
        </p:txBody>
      </p:sp>
      <p:sp>
        <p:nvSpPr>
          <p:cNvPr id="25" name="Text 22"/>
          <p:cNvSpPr txBox="1"/>
          <p:nvPr/>
        </p:nvSpPr>
        <p:spPr>
          <a:xfrm>
            <a:off x="6537960" y="3950208"/>
            <a:ext cx="4754880" cy="493776"/>
          </a:xfrm>
          <a:prstGeom prst="rect">
            <a:avLst/>
          </a:prstGeom>
          <a:noFill/>
          <a:ln/>
        </p:spPr>
        <p:txBody>
          <a:bodyPr wrap="square" lIns="0" tIns="0" rIns="0" bIns="0" rtlCol="0" anchor="t"/>
          <a:lstStyle/>
          <a:p>
            <a:pPr indent="0" marL="0">
              <a:lnSpc>
                <a:spcPct val="124000"/>
              </a:lnSpc>
              <a:buNone/>
            </a:pPr>
            <a:r>
              <a:rPr lang="en-US" sz="1200" dirty="0">
                <a:solidFill>
                  <a:srgbClr val="0F172A"/>
                </a:solidFill>
                <a:latin typeface="Calibri" pitchFamily="34" charset="0"/>
                <a:ea typeface="Calibri" pitchFamily="34" charset="-122"/>
                <a:cs typeface="Calibri" pitchFamily="34" charset="-120"/>
              </a:rPr>
              <a:t>Une recherche par mots-clés ne peut pas trouver ce document. Le score n'est pas faible : il est nul, et aucun réglage n'y changerait rien.</a:t>
            </a:r>
            <a:endParaRPr lang="en-US" sz="1200" dirty="0"/>
          </a:p>
        </p:txBody>
      </p:sp>
      <p:sp>
        <p:nvSpPr>
          <p:cNvPr id="26" name="Shape 23"/>
          <p:cNvSpPr/>
          <p:nvPr/>
        </p:nvSpPr>
        <p:spPr>
          <a:xfrm>
            <a:off x="658368" y="4754880"/>
            <a:ext cx="10874959" cy="1060704"/>
          </a:xfrm>
          <a:prstGeom prst="roundRect">
            <a:avLst>
              <a:gd name="adj" fmla="val 6034"/>
            </a:avLst>
          </a:prstGeom>
          <a:solidFill>
            <a:srgbClr val="EEF0FE"/>
          </a:solidFill>
          <a:ln w="12700">
            <a:solidFill>
              <a:srgbClr val="4338CA"/>
            </a:solidFill>
            <a:prstDash val="solid"/>
          </a:ln>
          <a:effectLst>
            <a:outerShdw sx="100000" sy="100000" kx="0" ky="0" algn="bl" rotWithShape="0" blurRad="101600" dist="25400" dir="5400000">
              <a:srgbClr val="A3AFC4">
                <a:alpha val="22000"/>
              </a:srgbClr>
            </a:outerShdw>
          </a:effectLst>
        </p:spPr>
      </p:sp>
      <p:sp>
        <p:nvSpPr>
          <p:cNvPr id="27" name="Shape 24"/>
          <p:cNvSpPr/>
          <p:nvPr/>
        </p:nvSpPr>
        <p:spPr>
          <a:xfrm>
            <a:off x="896112" y="4965192"/>
            <a:ext cx="109728" cy="109728"/>
          </a:xfrm>
          <a:prstGeom prst="ellipse">
            <a:avLst/>
          </a:prstGeom>
          <a:solidFill>
            <a:srgbClr val="4338CA"/>
          </a:solidFill>
          <a:ln w="12700">
            <a:solidFill>
              <a:srgbClr val="333333"/>
            </a:solidFill>
            <a:prstDash val="solid"/>
          </a:ln>
        </p:spPr>
      </p:sp>
      <p:sp>
        <p:nvSpPr>
          <p:cNvPr id="28" name="Text 25"/>
          <p:cNvSpPr txBox="1"/>
          <p:nvPr/>
        </p:nvSpPr>
        <p:spPr>
          <a:xfrm>
            <a:off x="1078992" y="4910328"/>
            <a:ext cx="10216591" cy="219456"/>
          </a:xfrm>
          <a:prstGeom prst="rect">
            <a:avLst/>
          </a:prstGeom>
          <a:noFill/>
          <a:ln/>
        </p:spPr>
        <p:txBody>
          <a:bodyPr wrap="square" lIns="0" tIns="0" rIns="0" bIns="0" rtlCol="0" anchor="ctr"/>
          <a:lstStyle/>
          <a:p>
            <a:pPr indent="0" marL="0">
              <a:buNone/>
            </a:pPr>
            <a:r>
              <a:rPr lang="en-US" sz="850" b="1" spc="110" kern="0" dirty="0">
                <a:solidFill>
                  <a:srgbClr val="4338CA"/>
                </a:solidFill>
                <a:latin typeface="Calibri" pitchFamily="34" charset="0"/>
                <a:ea typeface="Calibri" pitchFamily="34" charset="-122"/>
                <a:cs typeface="Calibri" pitchFamily="34" charset="-120"/>
              </a:rPr>
              <a:t>LA QUESTION DU PROJET</a:t>
            </a:r>
            <a:endParaRPr lang="en-US" sz="850" dirty="0"/>
          </a:p>
        </p:txBody>
      </p:sp>
      <p:sp>
        <p:nvSpPr>
          <p:cNvPr id="29" name="Text 26"/>
          <p:cNvSpPr txBox="1"/>
          <p:nvPr/>
        </p:nvSpPr>
        <p:spPr>
          <a:xfrm>
            <a:off x="896112" y="5212080"/>
            <a:ext cx="10399471" cy="457200"/>
          </a:xfrm>
          <a:prstGeom prst="rect">
            <a:avLst/>
          </a:prstGeom>
          <a:noFill/>
          <a:ln/>
        </p:spPr>
        <p:txBody>
          <a:bodyPr wrap="square" lIns="0" tIns="0" rIns="0" bIns="0" rtlCol="0" anchor="t"/>
          <a:lstStyle/>
          <a:p>
            <a:pPr indent="0" marL="0">
              <a:lnSpc>
                <a:spcPct val="124000"/>
              </a:lnSpc>
              <a:buNone/>
            </a:pPr>
            <a:r>
              <a:rPr lang="en-US" sz="1350" dirty="0">
                <a:solidFill>
                  <a:srgbClr val="0F172A"/>
                </a:solidFill>
                <a:latin typeface="Calibri" pitchFamily="34" charset="0"/>
                <a:ea typeface="Calibri" pitchFamily="34" charset="-122"/>
                <a:cs typeface="Calibri" pitchFamily="34" charset="-120"/>
              </a:rPr>
              <a:t>Comment retrouver un document pertinent quand la question et le document ne partagent aucun vocabulaire — ni même d'alphabet ?</a:t>
            </a:r>
            <a:endParaRPr lang="en-US" sz="1350" dirty="0"/>
          </a:p>
        </p:txBody>
      </p:sp>
      <p:sp>
        <p:nvSpPr>
          <p:cNvPr id="30" name="Text 27"/>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Le problème</a:t>
            </a:r>
            <a:endParaRPr lang="en-US" sz="900" dirty="0"/>
          </a:p>
        </p:txBody>
      </p:sp>
      <p:sp>
        <p:nvSpPr>
          <p:cNvPr id="31" name="Text 28"/>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02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4338C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4338CA"/>
                </a:solidFill>
                <a:latin typeface="Calibri" pitchFamily="34" charset="0"/>
                <a:ea typeface="Calibri" pitchFamily="34" charset="-122"/>
                <a:cs typeface="Calibri" pitchFamily="34" charset="-120"/>
              </a:rPr>
              <a:t>OBJECTIFS &amp; PÉRIMÈTRE</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Sept conditions de validation, toutes remplies</a:t>
            </a:r>
            <a:endParaRPr lang="en-US" sz="3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1783080"/>
          <a:ext cx="6583680" cy="914400"/>
        </p:xfrm>
        <a:graphic>
          <a:graphicData uri="http://schemas.openxmlformats.org/drawingml/2006/table">
            <a:tbl>
              <a:tblPr/>
              <a:tblGrid>
                <a:gridCol w="5349240"/>
                <a:gridCol w="1234440"/>
              </a:tblGrid>
              <a:tr h="384048">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Condition minimale du cahier des charges</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État</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46536B"/>
                          </a:solidFill>
                          <a:latin typeface="Calibri" pitchFamily="34" charset="0"/>
                          <a:ea typeface="Calibri" pitchFamily="34" charset="-122"/>
                          <a:cs typeface="Calibri" pitchFamily="34" charset="-120"/>
                        </a:rPr>
                        <a:t>Baseline TF-IDF ou BM25 réellement implémentée</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047857"/>
                          </a:solidFill>
                          <a:latin typeface="Consolas" pitchFamily="34" charset="0"/>
                          <a:ea typeface="Consolas" pitchFamily="34" charset="-122"/>
                          <a:cs typeface="Consolas" pitchFamily="34" charset="-120"/>
                        </a:rPr>
                        <a:t>fait</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46536B"/>
                          </a:solidFill>
                          <a:latin typeface="Calibri" pitchFamily="34" charset="0"/>
                          <a:ea typeface="Calibri" pitchFamily="34" charset="-122"/>
                          <a:cs typeface="Calibri" pitchFamily="34" charset="-120"/>
                        </a:rPr>
                        <a:t>Modèle d'embeddings pour la recherche sémantique</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047857"/>
                          </a:solidFill>
                          <a:latin typeface="Consolas" pitchFamily="34" charset="0"/>
                          <a:ea typeface="Consolas" pitchFamily="34" charset="-122"/>
                          <a:cs typeface="Consolas" pitchFamily="34" charset="-120"/>
                        </a:rPr>
                        <a:t>fait</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46536B"/>
                          </a:solidFill>
                          <a:latin typeface="Calibri" pitchFamily="34" charset="0"/>
                          <a:ea typeface="Calibri" pitchFamily="34" charset="-122"/>
                          <a:cs typeface="Calibri" pitchFamily="34" charset="-120"/>
                        </a:rPr>
                        <a:t>Index vectoriel et mécanisme Top-K fonctionnels</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047857"/>
                          </a:solidFill>
                          <a:latin typeface="Consolas" pitchFamily="34" charset="0"/>
                          <a:ea typeface="Consolas" pitchFamily="34" charset="-122"/>
                          <a:cs typeface="Consolas" pitchFamily="34" charset="-120"/>
                        </a:rPr>
                        <a:t>fait</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46536B"/>
                          </a:solidFill>
                          <a:latin typeface="Calibri" pitchFamily="34" charset="0"/>
                          <a:ea typeface="Calibri" pitchFamily="34" charset="-122"/>
                          <a:cs typeface="Calibri" pitchFamily="34" charset="-120"/>
                        </a:rPr>
                        <a:t>Interface permettant de tester le moteur</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047857"/>
                          </a:solidFill>
                          <a:latin typeface="Consolas" pitchFamily="34" charset="0"/>
                          <a:ea typeface="Consolas" pitchFamily="34" charset="-122"/>
                          <a:cs typeface="Consolas" pitchFamily="34" charset="-120"/>
                        </a:rPr>
                        <a:t>fait</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46536B"/>
                          </a:solidFill>
                          <a:latin typeface="Calibri" pitchFamily="34" charset="0"/>
                          <a:ea typeface="Calibri" pitchFamily="34" charset="-122"/>
                          <a:cs typeface="Calibri" pitchFamily="34" charset="-120"/>
                        </a:rPr>
                        <a:t>Comparaison expérimentale baseline / sémantique</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047857"/>
                          </a:solidFill>
                          <a:latin typeface="Consolas" pitchFamily="34" charset="0"/>
                          <a:ea typeface="Consolas" pitchFamily="34" charset="-122"/>
                          <a:cs typeface="Consolas" pitchFamily="34" charset="-120"/>
                        </a:rPr>
                        <a:t>fait</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46536B"/>
                          </a:solidFill>
                          <a:latin typeface="Calibri" pitchFamily="34" charset="0"/>
                          <a:ea typeface="Calibri" pitchFamily="34" charset="-122"/>
                          <a:cs typeface="Calibri" pitchFamily="34" charset="-120"/>
                        </a:rPr>
                        <a:t>Precision@K et Recall@K sur un jeu de test</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047857"/>
                          </a:solidFill>
                          <a:latin typeface="Consolas" pitchFamily="34" charset="0"/>
                          <a:ea typeface="Consolas" pitchFamily="34" charset="-122"/>
                          <a:cs typeface="Consolas" pitchFamily="34" charset="-120"/>
                        </a:rPr>
                        <a:t>fait</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Un cas trouvé sans correspondance lexicale</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6F7FB"/>
                    </a:solidFill>
                  </a:tcPr>
                </a:tc>
                <a:tc>
                  <a:txBody>
                    <a:bodyPr/>
                    <a:lstStyle/>
                    <a:p>
                      <a:pPr algn="r" indent="0" marL="0">
                        <a:buNone/>
                      </a:pPr>
                      <a:r>
                        <a:rPr lang="en-US" sz="1100" b="1" dirty="0">
                          <a:solidFill>
                            <a:srgbClr val="7C3AED"/>
                          </a:solidFill>
                          <a:latin typeface="Consolas" pitchFamily="34" charset="0"/>
                          <a:ea typeface="Consolas" pitchFamily="34" charset="-122"/>
                          <a:cs typeface="Consolas" pitchFamily="34" charset="-120"/>
                        </a:rPr>
                        <a:t>20/20</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6F7FB"/>
                    </a:solidFill>
                  </a:tcPr>
                </a:tc>
              </a:tr>
            </a:tbl>
          </a:graphicData>
        </a:graphic>
      </p:graphicFrame>
      <p:sp>
        <p:nvSpPr>
          <p:cNvPr id="7" name="Shape 3"/>
          <p:cNvSpPr/>
          <p:nvPr/>
        </p:nvSpPr>
        <p:spPr>
          <a:xfrm>
            <a:off x="7653528" y="1783080"/>
            <a:ext cx="3877056" cy="1920240"/>
          </a:xfrm>
          <a:prstGeom prst="roundRect">
            <a:avLst>
              <a:gd name="adj" fmla="val 3333"/>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8" name="Shape 4"/>
          <p:cNvSpPr/>
          <p:nvPr/>
        </p:nvSpPr>
        <p:spPr>
          <a:xfrm>
            <a:off x="7891272" y="1997964"/>
            <a:ext cx="105156" cy="105156"/>
          </a:xfrm>
          <a:prstGeom prst="ellipse">
            <a:avLst/>
          </a:prstGeom>
          <a:solidFill>
            <a:srgbClr val="047857"/>
          </a:solidFill>
          <a:ln w="12700">
            <a:solidFill>
              <a:srgbClr val="333333"/>
            </a:solidFill>
            <a:prstDash val="solid"/>
          </a:ln>
        </p:spPr>
      </p:sp>
      <p:sp>
        <p:nvSpPr>
          <p:cNvPr id="9" name="Text 5"/>
          <p:cNvSpPr txBox="1"/>
          <p:nvPr/>
        </p:nvSpPr>
        <p:spPr>
          <a:xfrm>
            <a:off x="8074152" y="1947672"/>
            <a:ext cx="3218688" cy="201168"/>
          </a:xfrm>
          <a:prstGeom prst="rect">
            <a:avLst/>
          </a:prstGeom>
          <a:noFill/>
          <a:ln/>
        </p:spPr>
        <p:txBody>
          <a:bodyPr wrap="square" lIns="0" tIns="0" rIns="0" bIns="0" rtlCol="0" anchor="ctr"/>
          <a:lstStyle/>
          <a:p>
            <a:pPr indent="0" marL="0">
              <a:buNone/>
            </a:pPr>
            <a:r>
              <a:rPr lang="en-US" sz="850" b="1" spc="110" kern="0" dirty="0">
                <a:solidFill>
                  <a:srgbClr val="047857"/>
                </a:solidFill>
                <a:latin typeface="Calibri" pitchFamily="34" charset="0"/>
                <a:ea typeface="Calibri" pitchFamily="34" charset="-122"/>
                <a:cs typeface="Calibri" pitchFamily="34" charset="-120"/>
              </a:rPr>
              <a:t>AU-DELÀ DU MINIMUM</a:t>
            </a:r>
            <a:endParaRPr lang="en-US" sz="850" dirty="0"/>
          </a:p>
        </p:txBody>
      </p:sp>
      <p:sp>
        <p:nvSpPr>
          <p:cNvPr id="10" name="Text 6"/>
          <p:cNvSpPr txBox="1"/>
          <p:nvPr/>
        </p:nvSpPr>
        <p:spPr>
          <a:xfrm>
            <a:off x="7891272" y="2221992"/>
            <a:ext cx="3401568" cy="1316736"/>
          </a:xfrm>
          <a:prstGeom prst="rect">
            <a:avLst/>
          </a:prstGeom>
          <a:noFill/>
          <a:ln/>
        </p:spPr>
        <p:txBody>
          <a:bodyPr wrap="square" lIns="0" tIns="0" rIns="0" bIns="0" rtlCol="0" anchor="t"/>
          <a:lstStyle/>
          <a:p>
            <a:pPr marL="342900" indent="-342900">
              <a:lnSpc>
                <a:spcPct val="114000"/>
              </a:lnSpc>
              <a:spcAft>
                <a:spcPts val="500"/>
              </a:spcAft>
              <a:buSzPct val="100000"/>
              <a:buChar char="•"/>
            </a:pPr>
            <a:r>
              <a:rPr lang="en-US" sz="1100" dirty="0">
                <a:solidFill>
                  <a:srgbClr val="46536B"/>
                </a:solidFill>
                <a:latin typeface="Calibri" pitchFamily="34" charset="0"/>
                <a:ea typeface="Calibri" pitchFamily="34" charset="-122"/>
                <a:cs typeface="Calibri" pitchFamily="34" charset="-120"/>
              </a:rPr>
              <a:t>Recherche hybride par fusion de rangs</a:t>
            </a:r>
            <a:endParaRPr lang="en-US" sz="1100" dirty="0"/>
          </a:p>
          <a:p>
            <a:pPr marL="342900" indent="-342900">
              <a:lnSpc>
                <a:spcPct val="114000"/>
              </a:lnSpc>
              <a:spcAft>
                <a:spcPts val="500"/>
              </a:spcAft>
              <a:buSzPct val="100000"/>
              <a:buChar char="•"/>
            </a:pPr>
            <a:r>
              <a:rPr lang="en-US" sz="1100" dirty="0">
                <a:solidFill>
                  <a:srgbClr val="46536B"/>
                </a:solidFill>
                <a:latin typeface="Calibri" pitchFamily="34" charset="0"/>
                <a:ea typeface="Calibri" pitchFamily="34" charset="-122"/>
                <a:cs typeface="Calibri" pitchFamily="34" charset="-120"/>
              </a:rPr>
              <a:t>Filtres sur métadonnées</a:t>
            </a:r>
            <a:endParaRPr lang="en-US" sz="1100" dirty="0"/>
          </a:p>
          <a:p>
            <a:pPr marL="342900" indent="-342900">
              <a:lnSpc>
                <a:spcPct val="114000"/>
              </a:lnSpc>
              <a:spcAft>
                <a:spcPts val="500"/>
              </a:spcAft>
              <a:buSzPct val="100000"/>
              <a:buChar char="•"/>
            </a:pPr>
            <a:r>
              <a:rPr lang="en-US" sz="1100" dirty="0">
                <a:solidFill>
                  <a:srgbClr val="46536B"/>
                </a:solidFill>
                <a:latin typeface="Calibri" pitchFamily="34" charset="0"/>
                <a:ea typeface="Calibri" pitchFamily="34" charset="-122"/>
                <a:cs typeface="Calibri" pitchFamily="34" charset="-120"/>
              </a:rPr>
              <a:t>Mise en évidence du passage le plus proche</a:t>
            </a:r>
            <a:endParaRPr lang="en-US" sz="1100" dirty="0"/>
          </a:p>
        </p:txBody>
      </p:sp>
      <p:sp>
        <p:nvSpPr>
          <p:cNvPr id="11" name="Shape 7"/>
          <p:cNvSpPr/>
          <p:nvPr/>
        </p:nvSpPr>
        <p:spPr>
          <a:xfrm>
            <a:off x="7653528" y="3913632"/>
            <a:ext cx="1828800" cy="1024128"/>
          </a:xfrm>
          <a:prstGeom prst="roundRect">
            <a:avLst>
              <a:gd name="adj" fmla="val 6250"/>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2" name="Text 8"/>
          <p:cNvSpPr txBox="1"/>
          <p:nvPr/>
        </p:nvSpPr>
        <p:spPr>
          <a:xfrm>
            <a:off x="7854696" y="4032504"/>
            <a:ext cx="1426464" cy="457200"/>
          </a:xfrm>
          <a:prstGeom prst="rect">
            <a:avLst/>
          </a:prstGeom>
          <a:noFill/>
          <a:ln/>
        </p:spPr>
        <p:txBody>
          <a:bodyPr wrap="square" lIns="0" tIns="0" rIns="0" bIns="0" rtlCol="0" anchor="ctr"/>
          <a:lstStyle/>
          <a:p>
            <a:pPr indent="0" marL="0">
              <a:buNone/>
            </a:pPr>
            <a:r>
              <a:rPr lang="en-US" sz="2400" b="1" dirty="0">
                <a:solidFill>
                  <a:srgbClr val="4338CA"/>
                </a:solidFill>
                <a:latin typeface="Consolas" pitchFamily="34" charset="0"/>
                <a:ea typeface="Consolas" pitchFamily="34" charset="-122"/>
                <a:cs typeface="Consolas" pitchFamily="34" charset="-120"/>
              </a:rPr>
              <a:t>47</a:t>
            </a:r>
            <a:endParaRPr lang="en-US" sz="2400" dirty="0"/>
          </a:p>
        </p:txBody>
      </p:sp>
      <p:sp>
        <p:nvSpPr>
          <p:cNvPr id="13" name="Text 9"/>
          <p:cNvSpPr txBox="1"/>
          <p:nvPr/>
        </p:nvSpPr>
        <p:spPr>
          <a:xfrm>
            <a:off x="7854696" y="4489704"/>
            <a:ext cx="1426464" cy="329184"/>
          </a:xfrm>
          <a:prstGeom prst="rect">
            <a:avLst/>
          </a:prstGeom>
          <a:noFill/>
          <a:ln/>
        </p:spPr>
        <p:txBody>
          <a:bodyPr wrap="square" lIns="0" tIns="0" rIns="0" bIns="0" rtlCol="0" anchor="t"/>
          <a:lstStyle/>
          <a:p>
            <a:pPr indent="0" marL="0">
              <a:lnSpc>
                <a:spcPct val="108000"/>
              </a:lnSpc>
              <a:buNone/>
            </a:pPr>
            <a:r>
              <a:rPr lang="en-US" sz="950" dirty="0">
                <a:solidFill>
                  <a:srgbClr val="8794AC"/>
                </a:solidFill>
                <a:latin typeface="Calibri" pitchFamily="34" charset="0"/>
                <a:ea typeface="Calibri" pitchFamily="34" charset="-122"/>
                <a:cs typeface="Calibri" pitchFamily="34" charset="-120"/>
              </a:rPr>
              <a:t>tests automatiques</a:t>
            </a:r>
            <a:endParaRPr lang="en-US" sz="950" dirty="0"/>
          </a:p>
        </p:txBody>
      </p:sp>
      <p:sp>
        <p:nvSpPr>
          <p:cNvPr id="14" name="Shape 10"/>
          <p:cNvSpPr/>
          <p:nvPr/>
        </p:nvSpPr>
        <p:spPr>
          <a:xfrm>
            <a:off x="9701784" y="3913632"/>
            <a:ext cx="1828800" cy="1024128"/>
          </a:xfrm>
          <a:prstGeom prst="roundRect">
            <a:avLst>
              <a:gd name="adj" fmla="val 6250"/>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5" name="Text 11"/>
          <p:cNvSpPr txBox="1"/>
          <p:nvPr/>
        </p:nvSpPr>
        <p:spPr>
          <a:xfrm>
            <a:off x="9902952" y="4032504"/>
            <a:ext cx="1426464" cy="457200"/>
          </a:xfrm>
          <a:prstGeom prst="rect">
            <a:avLst/>
          </a:prstGeom>
          <a:noFill/>
          <a:ln/>
        </p:spPr>
        <p:txBody>
          <a:bodyPr wrap="square" lIns="0" tIns="0" rIns="0" bIns="0" rtlCol="0" anchor="ctr"/>
          <a:lstStyle/>
          <a:p>
            <a:pPr indent="0" marL="0">
              <a:buNone/>
            </a:pPr>
            <a:r>
              <a:rPr lang="en-US" sz="2400" b="1" dirty="0">
                <a:solidFill>
                  <a:srgbClr val="4338CA"/>
                </a:solidFill>
                <a:latin typeface="Consolas" pitchFamily="34" charset="0"/>
                <a:ea typeface="Consolas" pitchFamily="34" charset="-122"/>
                <a:cs typeface="Consolas" pitchFamily="34" charset="-120"/>
              </a:rPr>
              <a:t>3</a:t>
            </a:r>
            <a:endParaRPr lang="en-US" sz="2400" dirty="0"/>
          </a:p>
        </p:txBody>
      </p:sp>
      <p:sp>
        <p:nvSpPr>
          <p:cNvPr id="16" name="Text 12"/>
          <p:cNvSpPr txBox="1"/>
          <p:nvPr/>
        </p:nvSpPr>
        <p:spPr>
          <a:xfrm>
            <a:off x="9902952" y="4489704"/>
            <a:ext cx="1426464" cy="329184"/>
          </a:xfrm>
          <a:prstGeom prst="rect">
            <a:avLst/>
          </a:prstGeom>
          <a:noFill/>
          <a:ln/>
        </p:spPr>
        <p:txBody>
          <a:bodyPr wrap="square" lIns="0" tIns="0" rIns="0" bIns="0" rtlCol="0" anchor="t"/>
          <a:lstStyle/>
          <a:p>
            <a:pPr indent="0" marL="0">
              <a:lnSpc>
                <a:spcPct val="108000"/>
              </a:lnSpc>
              <a:buNone/>
            </a:pPr>
            <a:r>
              <a:rPr lang="en-US" sz="950" dirty="0">
                <a:solidFill>
                  <a:srgbClr val="8794AC"/>
                </a:solidFill>
                <a:latin typeface="Calibri" pitchFamily="34" charset="0"/>
                <a:ea typeface="Calibri" pitchFamily="34" charset="-122"/>
                <a:cs typeface="Calibri" pitchFamily="34" charset="-120"/>
              </a:rPr>
              <a:t>moteurs comparés</a:t>
            </a:r>
            <a:endParaRPr lang="en-US" sz="950" dirty="0"/>
          </a:p>
        </p:txBody>
      </p:sp>
      <p:sp>
        <p:nvSpPr>
          <p:cNvPr id="17" name="Shape 13"/>
          <p:cNvSpPr/>
          <p:nvPr/>
        </p:nvSpPr>
        <p:spPr>
          <a:xfrm>
            <a:off x="658368" y="5138928"/>
            <a:ext cx="10874959" cy="749808"/>
          </a:xfrm>
          <a:prstGeom prst="roundRect">
            <a:avLst>
              <a:gd name="adj" fmla="val 8537"/>
            </a:avLst>
          </a:prstGeom>
          <a:solidFill>
            <a:srgbClr val="F4EFFE"/>
          </a:solidFill>
          <a:ln w="12700">
            <a:solidFill>
              <a:srgbClr val="7C3AED"/>
            </a:solidFill>
            <a:prstDash val="solid"/>
          </a:ln>
          <a:effectLst>
            <a:outerShdw sx="100000" sy="100000" kx="0" ky="0" algn="bl" rotWithShape="0" blurRad="101600" dist="25400" dir="5400000">
              <a:srgbClr val="A3AFC4">
                <a:alpha val="22000"/>
              </a:srgbClr>
            </a:outerShdw>
          </a:effectLst>
        </p:spPr>
      </p:sp>
      <p:sp>
        <p:nvSpPr>
          <p:cNvPr id="18" name="Text 14"/>
          <p:cNvSpPr txBox="1"/>
          <p:nvPr/>
        </p:nvSpPr>
        <p:spPr>
          <a:xfrm>
            <a:off x="896112" y="5321808"/>
            <a:ext cx="10399471" cy="420624"/>
          </a:xfrm>
          <a:prstGeom prst="rect">
            <a:avLst/>
          </a:prstGeom>
          <a:noFill/>
          <a:ln/>
        </p:spPr>
        <p:txBody>
          <a:bodyPr wrap="square" lIns="0" tIns="0" rIns="0" bIns="0" rtlCol="0" anchor="t"/>
          <a:lstStyle/>
          <a:p>
            <a:pPr indent="0" marL="0">
              <a:lnSpc>
                <a:spcPct val="124000"/>
              </a:lnSpc>
              <a:buNone/>
            </a:pPr>
            <a:r>
              <a:rPr lang="en-US" sz="1200" dirty="0">
                <a:solidFill>
                  <a:srgbClr val="0F172A"/>
                </a:solidFill>
                <a:latin typeface="Calibri" pitchFamily="34" charset="0"/>
                <a:ea typeface="Calibri" pitchFamily="34" charset="-122"/>
                <a:cs typeface="Calibri" pitchFamily="34" charset="-120"/>
              </a:rPr>
              <a:t>La dernière condition est celle qui décide si le projet a un sens — et elle est vérifiée automatiquement, pas cherchée à la main pendant la démonstration.</a:t>
            </a:r>
            <a:endParaRPr lang="en-US" sz="1200" dirty="0"/>
          </a:p>
        </p:txBody>
      </p:sp>
      <p:sp>
        <p:nvSpPr>
          <p:cNvPr id="19" name="Text 15"/>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Objectifs &amp; périmètre</a:t>
            </a:r>
            <a:endParaRPr lang="en-US" sz="900" dirty="0"/>
          </a:p>
        </p:txBody>
      </p:sp>
      <p:sp>
        <p:nvSpPr>
          <p:cNvPr id="20" name="Text 16"/>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03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4338C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4338CA"/>
                </a:solidFill>
                <a:latin typeface="Calibri" pitchFamily="34" charset="0"/>
                <a:ea typeface="Calibri" pitchFamily="34" charset="-122"/>
                <a:cs typeface="Calibri" pitchFamily="34" charset="-120"/>
              </a:rPr>
              <a:t>ARCHITECTURE</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Deux phases, un seul espace vectoriel</a:t>
            </a:r>
            <a:endParaRPr lang="en-US" sz="3300" dirty="0"/>
          </a:p>
        </p:txBody>
      </p:sp>
      <p:sp>
        <p:nvSpPr>
          <p:cNvPr id="6" name="Text 3"/>
          <p:cNvSpPr txBox="1"/>
          <p:nvPr/>
        </p:nvSpPr>
        <p:spPr>
          <a:xfrm>
            <a:off x="658368" y="1572768"/>
            <a:ext cx="10874959"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Chaîne d'indexation   —   hors ligne, une seule fois, 12 minutes</a:t>
            </a:r>
            <a:endParaRPr lang="en-US" sz="1250" dirty="0"/>
          </a:p>
        </p:txBody>
      </p:sp>
      <p:sp>
        <p:nvSpPr>
          <p:cNvPr id="7" name="Shape 4"/>
          <p:cNvSpPr/>
          <p:nvPr/>
        </p:nvSpPr>
        <p:spPr>
          <a:xfrm>
            <a:off x="658368" y="1901952"/>
            <a:ext cx="2499284" cy="1024128"/>
          </a:xfrm>
          <a:prstGeom prst="roundRect">
            <a:avLst>
              <a:gd name="adj" fmla="val 535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8" name="Shape 5"/>
          <p:cNvSpPr/>
          <p:nvPr/>
        </p:nvSpPr>
        <p:spPr>
          <a:xfrm>
            <a:off x="813816" y="2075688"/>
            <a:ext cx="100584" cy="100584"/>
          </a:xfrm>
          <a:prstGeom prst="ellipse">
            <a:avLst/>
          </a:prstGeom>
          <a:solidFill>
            <a:srgbClr val="4338CA"/>
          </a:solidFill>
          <a:ln w="12700">
            <a:solidFill>
              <a:srgbClr val="333333"/>
            </a:solidFill>
            <a:prstDash val="solid"/>
          </a:ln>
        </p:spPr>
      </p:sp>
      <p:sp>
        <p:nvSpPr>
          <p:cNvPr id="9" name="Text 6"/>
          <p:cNvSpPr txBox="1"/>
          <p:nvPr/>
        </p:nvSpPr>
        <p:spPr>
          <a:xfrm>
            <a:off x="969264" y="2002536"/>
            <a:ext cx="2042084" cy="182880"/>
          </a:xfrm>
          <a:prstGeom prst="rect">
            <a:avLst/>
          </a:prstGeom>
          <a:noFill/>
          <a:ln/>
        </p:spPr>
        <p:txBody>
          <a:bodyPr wrap="square" lIns="0" tIns="0" rIns="0" bIns="0" rtlCol="0" anchor="ctr"/>
          <a:lstStyle/>
          <a:p>
            <a:pPr indent="0" marL="0">
              <a:buNone/>
            </a:pPr>
            <a:r>
              <a:rPr lang="en-US" sz="800" b="1" dirty="0">
                <a:solidFill>
                  <a:srgbClr val="4338CA"/>
                </a:solidFill>
                <a:latin typeface="Consolas" pitchFamily="34" charset="0"/>
                <a:ea typeface="Consolas" pitchFamily="34" charset="-122"/>
                <a:cs typeface="Consolas" pitchFamily="34" charset="-120"/>
              </a:rPr>
              <a:t>01</a:t>
            </a:r>
            <a:endParaRPr lang="en-US" sz="800" dirty="0"/>
          </a:p>
        </p:txBody>
      </p:sp>
      <p:sp>
        <p:nvSpPr>
          <p:cNvPr id="10" name="Text 7"/>
          <p:cNvSpPr txBox="1"/>
          <p:nvPr/>
        </p:nvSpPr>
        <p:spPr>
          <a:xfrm>
            <a:off x="813816" y="2212848"/>
            <a:ext cx="2188388" cy="256032"/>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Corpus arXiv</a:t>
            </a:r>
            <a:endParaRPr lang="en-US" sz="1150" dirty="0"/>
          </a:p>
        </p:txBody>
      </p:sp>
      <p:sp>
        <p:nvSpPr>
          <p:cNvPr id="11" name="Text 8"/>
          <p:cNvSpPr txBox="1"/>
          <p:nvPr/>
        </p:nvSpPr>
        <p:spPr>
          <a:xfrm>
            <a:off x="813816" y="2468880"/>
            <a:ext cx="2188388" cy="347472"/>
          </a:xfrm>
          <a:prstGeom prst="rect">
            <a:avLst/>
          </a:prstGeom>
          <a:noFill/>
          <a:ln/>
        </p:spPr>
        <p:txBody>
          <a:bodyPr wrap="square" lIns="0" tIns="0" rIns="0" bIns="0" rtlCol="0" anchor="t"/>
          <a:lstStyle/>
          <a:p>
            <a:pPr indent="0" marL="0">
              <a:lnSpc>
                <a:spcPct val="108000"/>
              </a:lnSpc>
              <a:buNone/>
            </a:pPr>
            <a:r>
              <a:rPr lang="en-US" sz="900" dirty="0">
                <a:solidFill>
                  <a:srgbClr val="8794AC"/>
                </a:solidFill>
                <a:latin typeface="Calibri" pitchFamily="34" charset="0"/>
                <a:ea typeface="Calibri" pitchFamily="34" charset="-122"/>
                <a:cs typeface="Calibri" pitchFamily="34" charset="-120"/>
              </a:rPr>
              <a:t>8 569 résumés, API publique</a:t>
            </a:r>
            <a:endParaRPr lang="en-US" sz="900" dirty="0"/>
          </a:p>
        </p:txBody>
      </p:sp>
      <p:sp>
        <p:nvSpPr>
          <p:cNvPr id="12" name="Text 9"/>
          <p:cNvSpPr txBox="1"/>
          <p:nvPr/>
        </p:nvSpPr>
        <p:spPr>
          <a:xfrm>
            <a:off x="3157652" y="2286000"/>
            <a:ext cx="292608" cy="256032"/>
          </a:xfrm>
          <a:prstGeom prst="rect">
            <a:avLst/>
          </a:prstGeom>
          <a:noFill/>
          <a:ln/>
        </p:spPr>
        <p:txBody>
          <a:bodyPr wrap="square" lIns="0" tIns="0" rIns="0" bIns="0" rtlCol="0" anchor="ctr"/>
          <a:lstStyle/>
          <a:p>
            <a:pPr algn="ctr" indent="0" marL="0">
              <a:buNone/>
            </a:pPr>
            <a:r>
              <a:rPr lang="en-US" sz="1000" dirty="0">
                <a:solidFill>
                  <a:srgbClr val="C3CCDC"/>
                </a:solidFill>
                <a:latin typeface="Calibri" pitchFamily="34" charset="0"/>
                <a:ea typeface="Calibri" pitchFamily="34" charset="-122"/>
                <a:cs typeface="Calibri" pitchFamily="34" charset="-120"/>
              </a:rPr>
              <a:t>▶</a:t>
            </a:r>
            <a:endParaRPr lang="en-US" sz="1000" dirty="0"/>
          </a:p>
        </p:txBody>
      </p:sp>
      <p:sp>
        <p:nvSpPr>
          <p:cNvPr id="13" name="Shape 10"/>
          <p:cNvSpPr/>
          <p:nvPr/>
        </p:nvSpPr>
        <p:spPr>
          <a:xfrm>
            <a:off x="3450260" y="1901952"/>
            <a:ext cx="2499284" cy="1024128"/>
          </a:xfrm>
          <a:prstGeom prst="roundRect">
            <a:avLst>
              <a:gd name="adj" fmla="val 535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4" name="Shape 11"/>
          <p:cNvSpPr/>
          <p:nvPr/>
        </p:nvSpPr>
        <p:spPr>
          <a:xfrm>
            <a:off x="3605708" y="2075688"/>
            <a:ext cx="100584" cy="100584"/>
          </a:xfrm>
          <a:prstGeom prst="ellipse">
            <a:avLst/>
          </a:prstGeom>
          <a:solidFill>
            <a:srgbClr val="4338CA"/>
          </a:solidFill>
          <a:ln w="12700">
            <a:solidFill>
              <a:srgbClr val="333333"/>
            </a:solidFill>
            <a:prstDash val="solid"/>
          </a:ln>
        </p:spPr>
      </p:sp>
      <p:sp>
        <p:nvSpPr>
          <p:cNvPr id="15" name="Text 12"/>
          <p:cNvSpPr txBox="1"/>
          <p:nvPr/>
        </p:nvSpPr>
        <p:spPr>
          <a:xfrm>
            <a:off x="3761156" y="2002536"/>
            <a:ext cx="2042084" cy="182880"/>
          </a:xfrm>
          <a:prstGeom prst="rect">
            <a:avLst/>
          </a:prstGeom>
          <a:noFill/>
          <a:ln/>
        </p:spPr>
        <p:txBody>
          <a:bodyPr wrap="square" lIns="0" tIns="0" rIns="0" bIns="0" rtlCol="0" anchor="ctr"/>
          <a:lstStyle/>
          <a:p>
            <a:pPr indent="0" marL="0">
              <a:buNone/>
            </a:pPr>
            <a:r>
              <a:rPr lang="en-US" sz="800" b="1" dirty="0">
                <a:solidFill>
                  <a:srgbClr val="4338CA"/>
                </a:solidFill>
                <a:latin typeface="Consolas" pitchFamily="34" charset="0"/>
                <a:ea typeface="Consolas" pitchFamily="34" charset="-122"/>
                <a:cs typeface="Consolas" pitchFamily="34" charset="-120"/>
              </a:rPr>
              <a:t>02</a:t>
            </a:r>
            <a:endParaRPr lang="en-US" sz="800" dirty="0"/>
          </a:p>
        </p:txBody>
      </p:sp>
      <p:sp>
        <p:nvSpPr>
          <p:cNvPr id="16" name="Text 13"/>
          <p:cNvSpPr txBox="1"/>
          <p:nvPr/>
        </p:nvSpPr>
        <p:spPr>
          <a:xfrm>
            <a:off x="3605708" y="2212848"/>
            <a:ext cx="2188388" cy="256032"/>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Prétraitement</a:t>
            </a:r>
            <a:endParaRPr lang="en-US" sz="1150" dirty="0"/>
          </a:p>
        </p:txBody>
      </p:sp>
      <p:sp>
        <p:nvSpPr>
          <p:cNvPr id="17" name="Text 14"/>
          <p:cNvSpPr txBox="1"/>
          <p:nvPr/>
        </p:nvSpPr>
        <p:spPr>
          <a:xfrm>
            <a:off x="3605708" y="2468880"/>
            <a:ext cx="2188388" cy="347472"/>
          </a:xfrm>
          <a:prstGeom prst="rect">
            <a:avLst/>
          </a:prstGeom>
          <a:noFill/>
          <a:ln/>
        </p:spPr>
        <p:txBody>
          <a:bodyPr wrap="square" lIns="0" tIns="0" rIns="0" bIns="0" rtlCol="0" anchor="t"/>
          <a:lstStyle/>
          <a:p>
            <a:pPr indent="0" marL="0">
              <a:lnSpc>
                <a:spcPct val="108000"/>
              </a:lnSpc>
              <a:buNone/>
            </a:pPr>
            <a:r>
              <a:rPr lang="en-US" sz="900" dirty="0">
                <a:solidFill>
                  <a:srgbClr val="8794AC"/>
                </a:solidFill>
                <a:latin typeface="Calibri" pitchFamily="34" charset="0"/>
                <a:ea typeface="Calibri" pitchFamily="34" charset="-122"/>
                <a:cs typeface="Calibri" pitchFamily="34" charset="-120"/>
              </a:rPr>
              <a:t>LaTeX simplifié, découpage en passages</a:t>
            </a:r>
            <a:endParaRPr lang="en-US" sz="900" dirty="0"/>
          </a:p>
        </p:txBody>
      </p:sp>
      <p:sp>
        <p:nvSpPr>
          <p:cNvPr id="18" name="Text 15"/>
          <p:cNvSpPr txBox="1"/>
          <p:nvPr/>
        </p:nvSpPr>
        <p:spPr>
          <a:xfrm>
            <a:off x="5949544" y="2286000"/>
            <a:ext cx="292608" cy="256032"/>
          </a:xfrm>
          <a:prstGeom prst="rect">
            <a:avLst/>
          </a:prstGeom>
          <a:noFill/>
          <a:ln/>
        </p:spPr>
        <p:txBody>
          <a:bodyPr wrap="square" lIns="0" tIns="0" rIns="0" bIns="0" rtlCol="0" anchor="ctr"/>
          <a:lstStyle/>
          <a:p>
            <a:pPr algn="ctr" indent="0" marL="0">
              <a:buNone/>
            </a:pPr>
            <a:r>
              <a:rPr lang="en-US" sz="1000" dirty="0">
                <a:solidFill>
                  <a:srgbClr val="C3CCDC"/>
                </a:solidFill>
                <a:latin typeface="Calibri" pitchFamily="34" charset="0"/>
                <a:ea typeface="Calibri" pitchFamily="34" charset="-122"/>
                <a:cs typeface="Calibri" pitchFamily="34" charset="-120"/>
              </a:rPr>
              <a:t>▶</a:t>
            </a:r>
            <a:endParaRPr lang="en-US" sz="1000" dirty="0"/>
          </a:p>
        </p:txBody>
      </p:sp>
      <p:sp>
        <p:nvSpPr>
          <p:cNvPr id="19" name="Shape 16"/>
          <p:cNvSpPr/>
          <p:nvPr/>
        </p:nvSpPr>
        <p:spPr>
          <a:xfrm>
            <a:off x="6242152" y="1901952"/>
            <a:ext cx="2499284" cy="1024128"/>
          </a:xfrm>
          <a:prstGeom prst="roundRect">
            <a:avLst>
              <a:gd name="adj" fmla="val 535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20" name="Shape 17"/>
          <p:cNvSpPr/>
          <p:nvPr/>
        </p:nvSpPr>
        <p:spPr>
          <a:xfrm>
            <a:off x="6397600" y="2075688"/>
            <a:ext cx="100584" cy="100584"/>
          </a:xfrm>
          <a:prstGeom prst="ellipse">
            <a:avLst/>
          </a:prstGeom>
          <a:solidFill>
            <a:srgbClr val="4338CA"/>
          </a:solidFill>
          <a:ln w="12700">
            <a:solidFill>
              <a:srgbClr val="333333"/>
            </a:solidFill>
            <a:prstDash val="solid"/>
          </a:ln>
        </p:spPr>
      </p:sp>
      <p:sp>
        <p:nvSpPr>
          <p:cNvPr id="21" name="Text 18"/>
          <p:cNvSpPr txBox="1"/>
          <p:nvPr/>
        </p:nvSpPr>
        <p:spPr>
          <a:xfrm>
            <a:off x="6553048" y="2002536"/>
            <a:ext cx="2042084" cy="182880"/>
          </a:xfrm>
          <a:prstGeom prst="rect">
            <a:avLst/>
          </a:prstGeom>
          <a:noFill/>
          <a:ln/>
        </p:spPr>
        <p:txBody>
          <a:bodyPr wrap="square" lIns="0" tIns="0" rIns="0" bIns="0" rtlCol="0" anchor="ctr"/>
          <a:lstStyle/>
          <a:p>
            <a:pPr indent="0" marL="0">
              <a:buNone/>
            </a:pPr>
            <a:r>
              <a:rPr lang="en-US" sz="800" b="1" dirty="0">
                <a:solidFill>
                  <a:srgbClr val="4338CA"/>
                </a:solidFill>
                <a:latin typeface="Consolas" pitchFamily="34" charset="0"/>
                <a:ea typeface="Consolas" pitchFamily="34" charset="-122"/>
                <a:cs typeface="Consolas" pitchFamily="34" charset="-120"/>
              </a:rPr>
              <a:t>03</a:t>
            </a:r>
            <a:endParaRPr lang="en-US" sz="800" dirty="0"/>
          </a:p>
        </p:txBody>
      </p:sp>
      <p:sp>
        <p:nvSpPr>
          <p:cNvPr id="22" name="Text 19"/>
          <p:cNvSpPr txBox="1"/>
          <p:nvPr/>
        </p:nvSpPr>
        <p:spPr>
          <a:xfrm>
            <a:off x="6397600" y="2212848"/>
            <a:ext cx="2188388" cy="256032"/>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Embeddings</a:t>
            </a:r>
            <a:endParaRPr lang="en-US" sz="1150" dirty="0"/>
          </a:p>
        </p:txBody>
      </p:sp>
      <p:sp>
        <p:nvSpPr>
          <p:cNvPr id="23" name="Text 20"/>
          <p:cNvSpPr txBox="1"/>
          <p:nvPr/>
        </p:nvSpPr>
        <p:spPr>
          <a:xfrm>
            <a:off x="6397600" y="2468880"/>
            <a:ext cx="2188388" cy="347472"/>
          </a:xfrm>
          <a:prstGeom prst="rect">
            <a:avLst/>
          </a:prstGeom>
          <a:noFill/>
          <a:ln/>
        </p:spPr>
        <p:txBody>
          <a:bodyPr wrap="square" lIns="0" tIns="0" rIns="0" bIns="0" rtlCol="0" anchor="t"/>
          <a:lstStyle/>
          <a:p>
            <a:pPr indent="0" marL="0">
              <a:lnSpc>
                <a:spcPct val="108000"/>
              </a:lnSpc>
              <a:buNone/>
            </a:pPr>
            <a:r>
              <a:rPr lang="en-US" sz="900" dirty="0">
                <a:solidFill>
                  <a:srgbClr val="8794AC"/>
                </a:solidFill>
                <a:latin typeface="Calibri" pitchFamily="34" charset="0"/>
                <a:ea typeface="Calibri" pitchFamily="34" charset="-122"/>
                <a:cs typeface="Calibri" pitchFamily="34" charset="-120"/>
              </a:rPr>
              <a:t>préfixe passage:, 384 dimensions</a:t>
            </a:r>
            <a:endParaRPr lang="en-US" sz="900" dirty="0"/>
          </a:p>
        </p:txBody>
      </p:sp>
      <p:sp>
        <p:nvSpPr>
          <p:cNvPr id="24" name="Text 21"/>
          <p:cNvSpPr txBox="1"/>
          <p:nvPr/>
        </p:nvSpPr>
        <p:spPr>
          <a:xfrm>
            <a:off x="8741435" y="2286000"/>
            <a:ext cx="292608" cy="256032"/>
          </a:xfrm>
          <a:prstGeom prst="rect">
            <a:avLst/>
          </a:prstGeom>
          <a:noFill/>
          <a:ln/>
        </p:spPr>
        <p:txBody>
          <a:bodyPr wrap="square" lIns="0" tIns="0" rIns="0" bIns="0" rtlCol="0" anchor="ctr"/>
          <a:lstStyle/>
          <a:p>
            <a:pPr algn="ctr" indent="0" marL="0">
              <a:buNone/>
            </a:pPr>
            <a:r>
              <a:rPr lang="en-US" sz="1000" dirty="0">
                <a:solidFill>
                  <a:srgbClr val="C3CCDC"/>
                </a:solidFill>
                <a:latin typeface="Calibri" pitchFamily="34" charset="0"/>
                <a:ea typeface="Calibri" pitchFamily="34" charset="-122"/>
                <a:cs typeface="Calibri" pitchFamily="34" charset="-120"/>
              </a:rPr>
              <a:t>▶</a:t>
            </a:r>
            <a:endParaRPr lang="en-US" sz="1000" dirty="0"/>
          </a:p>
        </p:txBody>
      </p:sp>
      <p:sp>
        <p:nvSpPr>
          <p:cNvPr id="25" name="Shape 22"/>
          <p:cNvSpPr/>
          <p:nvPr/>
        </p:nvSpPr>
        <p:spPr>
          <a:xfrm>
            <a:off x="9034043" y="1901952"/>
            <a:ext cx="2499284" cy="1024128"/>
          </a:xfrm>
          <a:prstGeom prst="roundRect">
            <a:avLst>
              <a:gd name="adj" fmla="val 535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26" name="Shape 23"/>
          <p:cNvSpPr/>
          <p:nvPr/>
        </p:nvSpPr>
        <p:spPr>
          <a:xfrm>
            <a:off x="9189491" y="2075688"/>
            <a:ext cx="100584" cy="100584"/>
          </a:xfrm>
          <a:prstGeom prst="ellipse">
            <a:avLst/>
          </a:prstGeom>
          <a:solidFill>
            <a:srgbClr val="4338CA"/>
          </a:solidFill>
          <a:ln w="12700">
            <a:solidFill>
              <a:srgbClr val="333333"/>
            </a:solidFill>
            <a:prstDash val="solid"/>
          </a:ln>
        </p:spPr>
      </p:sp>
      <p:sp>
        <p:nvSpPr>
          <p:cNvPr id="27" name="Text 24"/>
          <p:cNvSpPr txBox="1"/>
          <p:nvPr/>
        </p:nvSpPr>
        <p:spPr>
          <a:xfrm>
            <a:off x="9344939" y="2002536"/>
            <a:ext cx="2042084" cy="182880"/>
          </a:xfrm>
          <a:prstGeom prst="rect">
            <a:avLst/>
          </a:prstGeom>
          <a:noFill/>
          <a:ln/>
        </p:spPr>
        <p:txBody>
          <a:bodyPr wrap="square" lIns="0" tIns="0" rIns="0" bIns="0" rtlCol="0" anchor="ctr"/>
          <a:lstStyle/>
          <a:p>
            <a:pPr indent="0" marL="0">
              <a:buNone/>
            </a:pPr>
            <a:r>
              <a:rPr lang="en-US" sz="800" b="1" dirty="0">
                <a:solidFill>
                  <a:srgbClr val="4338CA"/>
                </a:solidFill>
                <a:latin typeface="Consolas" pitchFamily="34" charset="0"/>
                <a:ea typeface="Consolas" pitchFamily="34" charset="-122"/>
                <a:cs typeface="Consolas" pitchFamily="34" charset="-120"/>
              </a:rPr>
              <a:t>04</a:t>
            </a:r>
            <a:endParaRPr lang="en-US" sz="800" dirty="0"/>
          </a:p>
        </p:txBody>
      </p:sp>
      <p:sp>
        <p:nvSpPr>
          <p:cNvPr id="28" name="Text 25"/>
          <p:cNvSpPr txBox="1"/>
          <p:nvPr/>
        </p:nvSpPr>
        <p:spPr>
          <a:xfrm>
            <a:off x="9189491" y="2212848"/>
            <a:ext cx="2188388" cy="256032"/>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Index FAISS</a:t>
            </a:r>
            <a:endParaRPr lang="en-US" sz="1150" dirty="0"/>
          </a:p>
        </p:txBody>
      </p:sp>
      <p:sp>
        <p:nvSpPr>
          <p:cNvPr id="29" name="Text 26"/>
          <p:cNvSpPr txBox="1"/>
          <p:nvPr/>
        </p:nvSpPr>
        <p:spPr>
          <a:xfrm>
            <a:off x="9189491" y="2468880"/>
            <a:ext cx="2188388" cy="347472"/>
          </a:xfrm>
          <a:prstGeom prst="rect">
            <a:avLst/>
          </a:prstGeom>
          <a:noFill/>
          <a:ln/>
        </p:spPr>
        <p:txBody>
          <a:bodyPr wrap="square" lIns="0" tIns="0" rIns="0" bIns="0" rtlCol="0" anchor="t"/>
          <a:lstStyle/>
          <a:p>
            <a:pPr indent="0" marL="0">
              <a:lnSpc>
                <a:spcPct val="108000"/>
              </a:lnSpc>
              <a:buNone/>
            </a:pPr>
            <a:r>
              <a:rPr lang="en-US" sz="900" dirty="0">
                <a:solidFill>
                  <a:srgbClr val="8794AC"/>
                </a:solidFill>
                <a:latin typeface="Calibri" pitchFamily="34" charset="0"/>
                <a:ea typeface="Calibri" pitchFamily="34" charset="-122"/>
                <a:cs typeface="Calibri" pitchFamily="34" charset="-120"/>
              </a:rPr>
              <a:t>vecteurs normalisés, écrits sur disque</a:t>
            </a:r>
            <a:endParaRPr lang="en-US" sz="900" dirty="0"/>
          </a:p>
        </p:txBody>
      </p:sp>
      <p:sp>
        <p:nvSpPr>
          <p:cNvPr id="30" name="Text 27"/>
          <p:cNvSpPr txBox="1"/>
          <p:nvPr/>
        </p:nvSpPr>
        <p:spPr>
          <a:xfrm>
            <a:off x="658368" y="3127248"/>
            <a:ext cx="10874959"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Chaîne de recherche   —   en ligne, à chaque question, 83 ms</a:t>
            </a:r>
            <a:endParaRPr lang="en-US" sz="1250" dirty="0"/>
          </a:p>
        </p:txBody>
      </p:sp>
      <p:sp>
        <p:nvSpPr>
          <p:cNvPr id="31" name="Shape 28"/>
          <p:cNvSpPr/>
          <p:nvPr/>
        </p:nvSpPr>
        <p:spPr>
          <a:xfrm>
            <a:off x="658368" y="3456432"/>
            <a:ext cx="2499284" cy="1024128"/>
          </a:xfrm>
          <a:prstGeom prst="roundRect">
            <a:avLst>
              <a:gd name="adj" fmla="val 535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32" name="Shape 29"/>
          <p:cNvSpPr/>
          <p:nvPr/>
        </p:nvSpPr>
        <p:spPr>
          <a:xfrm>
            <a:off x="813816" y="3630168"/>
            <a:ext cx="100584" cy="100584"/>
          </a:xfrm>
          <a:prstGeom prst="ellipse">
            <a:avLst/>
          </a:prstGeom>
          <a:solidFill>
            <a:srgbClr val="7C3AED"/>
          </a:solidFill>
          <a:ln w="12700">
            <a:solidFill>
              <a:srgbClr val="333333"/>
            </a:solidFill>
            <a:prstDash val="solid"/>
          </a:ln>
        </p:spPr>
      </p:sp>
      <p:sp>
        <p:nvSpPr>
          <p:cNvPr id="33" name="Text 30"/>
          <p:cNvSpPr txBox="1"/>
          <p:nvPr/>
        </p:nvSpPr>
        <p:spPr>
          <a:xfrm>
            <a:off x="969264" y="3557016"/>
            <a:ext cx="2042084" cy="182880"/>
          </a:xfrm>
          <a:prstGeom prst="rect">
            <a:avLst/>
          </a:prstGeom>
          <a:noFill/>
          <a:ln/>
        </p:spPr>
        <p:txBody>
          <a:bodyPr wrap="square" lIns="0" tIns="0" rIns="0" bIns="0" rtlCol="0" anchor="ctr"/>
          <a:lstStyle/>
          <a:p>
            <a:pPr indent="0" marL="0">
              <a:buNone/>
            </a:pPr>
            <a:r>
              <a:rPr lang="en-US" sz="800" b="1" dirty="0">
                <a:solidFill>
                  <a:srgbClr val="7C3AED"/>
                </a:solidFill>
                <a:latin typeface="Consolas" pitchFamily="34" charset="0"/>
                <a:ea typeface="Consolas" pitchFamily="34" charset="-122"/>
                <a:cs typeface="Consolas" pitchFamily="34" charset="-120"/>
              </a:rPr>
              <a:t>01</a:t>
            </a:r>
            <a:endParaRPr lang="en-US" sz="800" dirty="0"/>
          </a:p>
        </p:txBody>
      </p:sp>
      <p:sp>
        <p:nvSpPr>
          <p:cNvPr id="34" name="Text 31"/>
          <p:cNvSpPr txBox="1"/>
          <p:nvPr/>
        </p:nvSpPr>
        <p:spPr>
          <a:xfrm>
            <a:off x="813816" y="3767328"/>
            <a:ext cx="2188388" cy="256032"/>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Question</a:t>
            </a:r>
            <a:endParaRPr lang="en-US" sz="1150" dirty="0"/>
          </a:p>
        </p:txBody>
      </p:sp>
      <p:sp>
        <p:nvSpPr>
          <p:cNvPr id="35" name="Text 32"/>
          <p:cNvSpPr txBox="1"/>
          <p:nvPr/>
        </p:nvSpPr>
        <p:spPr>
          <a:xfrm>
            <a:off x="813816" y="4023360"/>
            <a:ext cx="2188388" cy="347472"/>
          </a:xfrm>
          <a:prstGeom prst="rect">
            <a:avLst/>
          </a:prstGeom>
          <a:noFill/>
          <a:ln/>
        </p:spPr>
        <p:txBody>
          <a:bodyPr wrap="square" lIns="0" tIns="0" rIns="0" bIns="0" rtlCol="0" anchor="t"/>
          <a:lstStyle/>
          <a:p>
            <a:pPr indent="0" marL="0">
              <a:lnSpc>
                <a:spcPct val="108000"/>
              </a:lnSpc>
              <a:buNone/>
            </a:pPr>
            <a:r>
              <a:rPr lang="en-US" sz="900" dirty="0">
                <a:solidFill>
                  <a:srgbClr val="8794AC"/>
                </a:solidFill>
                <a:latin typeface="Calibri" pitchFamily="34" charset="0"/>
                <a:ea typeface="Calibri" pitchFamily="34" charset="-122"/>
                <a:cs typeface="Calibri" pitchFamily="34" charset="-120"/>
              </a:rPr>
              <a:t>français, arabe ou anglais</a:t>
            </a:r>
            <a:endParaRPr lang="en-US" sz="900" dirty="0"/>
          </a:p>
        </p:txBody>
      </p:sp>
      <p:sp>
        <p:nvSpPr>
          <p:cNvPr id="36" name="Text 33"/>
          <p:cNvSpPr txBox="1"/>
          <p:nvPr/>
        </p:nvSpPr>
        <p:spPr>
          <a:xfrm>
            <a:off x="3157652" y="3840480"/>
            <a:ext cx="292608" cy="256032"/>
          </a:xfrm>
          <a:prstGeom prst="rect">
            <a:avLst/>
          </a:prstGeom>
          <a:noFill/>
          <a:ln/>
        </p:spPr>
        <p:txBody>
          <a:bodyPr wrap="square" lIns="0" tIns="0" rIns="0" bIns="0" rtlCol="0" anchor="ctr"/>
          <a:lstStyle/>
          <a:p>
            <a:pPr algn="ctr" indent="0" marL="0">
              <a:buNone/>
            </a:pPr>
            <a:r>
              <a:rPr lang="en-US" sz="1000" dirty="0">
                <a:solidFill>
                  <a:srgbClr val="C3CCDC"/>
                </a:solidFill>
                <a:latin typeface="Calibri" pitchFamily="34" charset="0"/>
                <a:ea typeface="Calibri" pitchFamily="34" charset="-122"/>
                <a:cs typeface="Calibri" pitchFamily="34" charset="-120"/>
              </a:rPr>
              <a:t>▶</a:t>
            </a:r>
            <a:endParaRPr lang="en-US" sz="1000" dirty="0"/>
          </a:p>
        </p:txBody>
      </p:sp>
      <p:sp>
        <p:nvSpPr>
          <p:cNvPr id="37" name="Shape 34"/>
          <p:cNvSpPr/>
          <p:nvPr/>
        </p:nvSpPr>
        <p:spPr>
          <a:xfrm>
            <a:off x="3450260" y="3456432"/>
            <a:ext cx="2499284" cy="1024128"/>
          </a:xfrm>
          <a:prstGeom prst="roundRect">
            <a:avLst>
              <a:gd name="adj" fmla="val 535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38" name="Shape 35"/>
          <p:cNvSpPr/>
          <p:nvPr/>
        </p:nvSpPr>
        <p:spPr>
          <a:xfrm>
            <a:off x="3605708" y="3630168"/>
            <a:ext cx="100584" cy="100584"/>
          </a:xfrm>
          <a:prstGeom prst="ellipse">
            <a:avLst/>
          </a:prstGeom>
          <a:solidFill>
            <a:srgbClr val="7C3AED"/>
          </a:solidFill>
          <a:ln w="12700">
            <a:solidFill>
              <a:srgbClr val="333333"/>
            </a:solidFill>
            <a:prstDash val="solid"/>
          </a:ln>
        </p:spPr>
      </p:sp>
      <p:sp>
        <p:nvSpPr>
          <p:cNvPr id="39" name="Text 36"/>
          <p:cNvSpPr txBox="1"/>
          <p:nvPr/>
        </p:nvSpPr>
        <p:spPr>
          <a:xfrm>
            <a:off x="3761156" y="3557016"/>
            <a:ext cx="2042084" cy="182880"/>
          </a:xfrm>
          <a:prstGeom prst="rect">
            <a:avLst/>
          </a:prstGeom>
          <a:noFill/>
          <a:ln/>
        </p:spPr>
        <p:txBody>
          <a:bodyPr wrap="square" lIns="0" tIns="0" rIns="0" bIns="0" rtlCol="0" anchor="ctr"/>
          <a:lstStyle/>
          <a:p>
            <a:pPr indent="0" marL="0">
              <a:buNone/>
            </a:pPr>
            <a:r>
              <a:rPr lang="en-US" sz="800" b="1" dirty="0">
                <a:solidFill>
                  <a:srgbClr val="7C3AED"/>
                </a:solidFill>
                <a:latin typeface="Consolas" pitchFamily="34" charset="0"/>
                <a:ea typeface="Consolas" pitchFamily="34" charset="-122"/>
                <a:cs typeface="Consolas" pitchFamily="34" charset="-120"/>
              </a:rPr>
              <a:t>02</a:t>
            </a:r>
            <a:endParaRPr lang="en-US" sz="800" dirty="0"/>
          </a:p>
        </p:txBody>
      </p:sp>
      <p:sp>
        <p:nvSpPr>
          <p:cNvPr id="40" name="Text 37"/>
          <p:cNvSpPr txBox="1"/>
          <p:nvPr/>
        </p:nvSpPr>
        <p:spPr>
          <a:xfrm>
            <a:off x="3605708" y="3767328"/>
            <a:ext cx="2188388" cy="256032"/>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Le même encodeur</a:t>
            </a:r>
            <a:endParaRPr lang="en-US" sz="1150" dirty="0"/>
          </a:p>
        </p:txBody>
      </p:sp>
      <p:sp>
        <p:nvSpPr>
          <p:cNvPr id="41" name="Text 38"/>
          <p:cNvSpPr txBox="1"/>
          <p:nvPr/>
        </p:nvSpPr>
        <p:spPr>
          <a:xfrm>
            <a:off x="3605708" y="4023360"/>
            <a:ext cx="2188388" cy="347472"/>
          </a:xfrm>
          <a:prstGeom prst="rect">
            <a:avLst/>
          </a:prstGeom>
          <a:noFill/>
          <a:ln/>
        </p:spPr>
        <p:txBody>
          <a:bodyPr wrap="square" lIns="0" tIns="0" rIns="0" bIns="0" rtlCol="0" anchor="t"/>
          <a:lstStyle/>
          <a:p>
            <a:pPr indent="0" marL="0">
              <a:lnSpc>
                <a:spcPct val="108000"/>
              </a:lnSpc>
              <a:buNone/>
            </a:pPr>
            <a:r>
              <a:rPr lang="en-US" sz="900" dirty="0">
                <a:solidFill>
                  <a:srgbClr val="8794AC"/>
                </a:solidFill>
                <a:latin typeface="Calibri" pitchFamily="34" charset="0"/>
                <a:ea typeface="Calibri" pitchFamily="34" charset="-122"/>
                <a:cs typeface="Calibri" pitchFamily="34" charset="-120"/>
              </a:rPr>
              <a:t>préfixe query: cette fois</a:t>
            </a:r>
            <a:endParaRPr lang="en-US" sz="900" dirty="0"/>
          </a:p>
        </p:txBody>
      </p:sp>
      <p:sp>
        <p:nvSpPr>
          <p:cNvPr id="42" name="Text 39"/>
          <p:cNvSpPr txBox="1"/>
          <p:nvPr/>
        </p:nvSpPr>
        <p:spPr>
          <a:xfrm>
            <a:off x="5949544" y="3840480"/>
            <a:ext cx="292608" cy="256032"/>
          </a:xfrm>
          <a:prstGeom prst="rect">
            <a:avLst/>
          </a:prstGeom>
          <a:noFill/>
          <a:ln/>
        </p:spPr>
        <p:txBody>
          <a:bodyPr wrap="square" lIns="0" tIns="0" rIns="0" bIns="0" rtlCol="0" anchor="ctr"/>
          <a:lstStyle/>
          <a:p>
            <a:pPr algn="ctr" indent="0" marL="0">
              <a:buNone/>
            </a:pPr>
            <a:r>
              <a:rPr lang="en-US" sz="1000" dirty="0">
                <a:solidFill>
                  <a:srgbClr val="C3CCDC"/>
                </a:solidFill>
                <a:latin typeface="Calibri" pitchFamily="34" charset="0"/>
                <a:ea typeface="Calibri" pitchFamily="34" charset="-122"/>
                <a:cs typeface="Calibri" pitchFamily="34" charset="-120"/>
              </a:rPr>
              <a:t>▶</a:t>
            </a:r>
            <a:endParaRPr lang="en-US" sz="1000" dirty="0"/>
          </a:p>
        </p:txBody>
      </p:sp>
      <p:sp>
        <p:nvSpPr>
          <p:cNvPr id="43" name="Shape 40"/>
          <p:cNvSpPr/>
          <p:nvPr/>
        </p:nvSpPr>
        <p:spPr>
          <a:xfrm>
            <a:off x="6242152" y="3456432"/>
            <a:ext cx="2499284" cy="1024128"/>
          </a:xfrm>
          <a:prstGeom prst="roundRect">
            <a:avLst>
              <a:gd name="adj" fmla="val 535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44" name="Shape 41"/>
          <p:cNvSpPr/>
          <p:nvPr/>
        </p:nvSpPr>
        <p:spPr>
          <a:xfrm>
            <a:off x="6397600" y="3630168"/>
            <a:ext cx="100584" cy="100584"/>
          </a:xfrm>
          <a:prstGeom prst="ellipse">
            <a:avLst/>
          </a:prstGeom>
          <a:solidFill>
            <a:srgbClr val="7C3AED"/>
          </a:solidFill>
          <a:ln w="12700">
            <a:solidFill>
              <a:srgbClr val="333333"/>
            </a:solidFill>
            <a:prstDash val="solid"/>
          </a:ln>
        </p:spPr>
      </p:sp>
      <p:sp>
        <p:nvSpPr>
          <p:cNvPr id="45" name="Text 42"/>
          <p:cNvSpPr txBox="1"/>
          <p:nvPr/>
        </p:nvSpPr>
        <p:spPr>
          <a:xfrm>
            <a:off x="6553048" y="3557016"/>
            <a:ext cx="2042084" cy="182880"/>
          </a:xfrm>
          <a:prstGeom prst="rect">
            <a:avLst/>
          </a:prstGeom>
          <a:noFill/>
          <a:ln/>
        </p:spPr>
        <p:txBody>
          <a:bodyPr wrap="square" lIns="0" tIns="0" rIns="0" bIns="0" rtlCol="0" anchor="ctr"/>
          <a:lstStyle/>
          <a:p>
            <a:pPr indent="0" marL="0">
              <a:buNone/>
            </a:pPr>
            <a:r>
              <a:rPr lang="en-US" sz="800" b="1" dirty="0">
                <a:solidFill>
                  <a:srgbClr val="7C3AED"/>
                </a:solidFill>
                <a:latin typeface="Consolas" pitchFamily="34" charset="0"/>
                <a:ea typeface="Consolas" pitchFamily="34" charset="-122"/>
                <a:cs typeface="Consolas" pitchFamily="34" charset="-120"/>
              </a:rPr>
              <a:t>03</a:t>
            </a:r>
            <a:endParaRPr lang="en-US" sz="800" dirty="0"/>
          </a:p>
        </p:txBody>
      </p:sp>
      <p:sp>
        <p:nvSpPr>
          <p:cNvPr id="46" name="Text 43"/>
          <p:cNvSpPr txBox="1"/>
          <p:nvPr/>
        </p:nvSpPr>
        <p:spPr>
          <a:xfrm>
            <a:off x="6397600" y="3767328"/>
            <a:ext cx="2188388" cy="256032"/>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Plus proches voisins</a:t>
            </a:r>
            <a:endParaRPr lang="en-US" sz="1150" dirty="0"/>
          </a:p>
        </p:txBody>
      </p:sp>
      <p:sp>
        <p:nvSpPr>
          <p:cNvPr id="47" name="Text 44"/>
          <p:cNvSpPr txBox="1"/>
          <p:nvPr/>
        </p:nvSpPr>
        <p:spPr>
          <a:xfrm>
            <a:off x="6397600" y="4023360"/>
            <a:ext cx="2188388" cy="347472"/>
          </a:xfrm>
          <a:prstGeom prst="rect">
            <a:avLst/>
          </a:prstGeom>
          <a:noFill/>
          <a:ln/>
        </p:spPr>
        <p:txBody>
          <a:bodyPr wrap="square" lIns="0" tIns="0" rIns="0" bIns="0" rtlCol="0" anchor="t"/>
          <a:lstStyle/>
          <a:p>
            <a:pPr indent="0" marL="0">
              <a:lnSpc>
                <a:spcPct val="108000"/>
              </a:lnSpc>
              <a:buNone/>
            </a:pPr>
            <a:r>
              <a:rPr lang="en-US" sz="900" dirty="0">
                <a:solidFill>
                  <a:srgbClr val="8794AC"/>
                </a:solidFill>
                <a:latin typeface="Calibri" pitchFamily="34" charset="0"/>
                <a:ea typeface="Calibri" pitchFamily="34" charset="-122"/>
                <a:cs typeface="Calibri" pitchFamily="34" charset="-120"/>
              </a:rPr>
              <a:t>FAISS, ordre de la milliseconde</a:t>
            </a:r>
            <a:endParaRPr lang="en-US" sz="900" dirty="0"/>
          </a:p>
        </p:txBody>
      </p:sp>
      <p:sp>
        <p:nvSpPr>
          <p:cNvPr id="48" name="Text 45"/>
          <p:cNvSpPr txBox="1"/>
          <p:nvPr/>
        </p:nvSpPr>
        <p:spPr>
          <a:xfrm>
            <a:off x="8741435" y="3840480"/>
            <a:ext cx="292608" cy="256032"/>
          </a:xfrm>
          <a:prstGeom prst="rect">
            <a:avLst/>
          </a:prstGeom>
          <a:noFill/>
          <a:ln/>
        </p:spPr>
        <p:txBody>
          <a:bodyPr wrap="square" lIns="0" tIns="0" rIns="0" bIns="0" rtlCol="0" anchor="ctr"/>
          <a:lstStyle/>
          <a:p>
            <a:pPr algn="ctr" indent="0" marL="0">
              <a:buNone/>
            </a:pPr>
            <a:r>
              <a:rPr lang="en-US" sz="1000" dirty="0">
                <a:solidFill>
                  <a:srgbClr val="C3CCDC"/>
                </a:solidFill>
                <a:latin typeface="Calibri" pitchFamily="34" charset="0"/>
                <a:ea typeface="Calibri" pitchFamily="34" charset="-122"/>
                <a:cs typeface="Calibri" pitchFamily="34" charset="-120"/>
              </a:rPr>
              <a:t>▶</a:t>
            </a:r>
            <a:endParaRPr lang="en-US" sz="1000" dirty="0"/>
          </a:p>
        </p:txBody>
      </p:sp>
      <p:sp>
        <p:nvSpPr>
          <p:cNvPr id="49" name="Shape 46"/>
          <p:cNvSpPr/>
          <p:nvPr/>
        </p:nvSpPr>
        <p:spPr>
          <a:xfrm>
            <a:off x="9034043" y="3456432"/>
            <a:ext cx="2499284" cy="1024128"/>
          </a:xfrm>
          <a:prstGeom prst="roundRect">
            <a:avLst>
              <a:gd name="adj" fmla="val 535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50" name="Shape 47"/>
          <p:cNvSpPr/>
          <p:nvPr/>
        </p:nvSpPr>
        <p:spPr>
          <a:xfrm>
            <a:off x="9189491" y="3630168"/>
            <a:ext cx="100584" cy="100584"/>
          </a:xfrm>
          <a:prstGeom prst="ellipse">
            <a:avLst/>
          </a:prstGeom>
          <a:solidFill>
            <a:srgbClr val="7C3AED"/>
          </a:solidFill>
          <a:ln w="12700">
            <a:solidFill>
              <a:srgbClr val="333333"/>
            </a:solidFill>
            <a:prstDash val="solid"/>
          </a:ln>
        </p:spPr>
      </p:sp>
      <p:sp>
        <p:nvSpPr>
          <p:cNvPr id="51" name="Text 48"/>
          <p:cNvSpPr txBox="1"/>
          <p:nvPr/>
        </p:nvSpPr>
        <p:spPr>
          <a:xfrm>
            <a:off x="9344939" y="3557016"/>
            <a:ext cx="2042084" cy="182880"/>
          </a:xfrm>
          <a:prstGeom prst="rect">
            <a:avLst/>
          </a:prstGeom>
          <a:noFill/>
          <a:ln/>
        </p:spPr>
        <p:txBody>
          <a:bodyPr wrap="square" lIns="0" tIns="0" rIns="0" bIns="0" rtlCol="0" anchor="ctr"/>
          <a:lstStyle/>
          <a:p>
            <a:pPr indent="0" marL="0">
              <a:buNone/>
            </a:pPr>
            <a:r>
              <a:rPr lang="en-US" sz="800" b="1" dirty="0">
                <a:solidFill>
                  <a:srgbClr val="7C3AED"/>
                </a:solidFill>
                <a:latin typeface="Consolas" pitchFamily="34" charset="0"/>
                <a:ea typeface="Consolas" pitchFamily="34" charset="-122"/>
                <a:cs typeface="Consolas" pitchFamily="34" charset="-120"/>
              </a:rPr>
              <a:t>04</a:t>
            </a:r>
            <a:endParaRPr lang="en-US" sz="800" dirty="0"/>
          </a:p>
        </p:txBody>
      </p:sp>
      <p:sp>
        <p:nvSpPr>
          <p:cNvPr id="52" name="Text 49"/>
          <p:cNvSpPr txBox="1"/>
          <p:nvPr/>
        </p:nvSpPr>
        <p:spPr>
          <a:xfrm>
            <a:off x="9189491" y="3767328"/>
            <a:ext cx="2188388" cy="256032"/>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Regroupement</a:t>
            </a:r>
            <a:endParaRPr lang="en-US" sz="1150" dirty="0"/>
          </a:p>
        </p:txBody>
      </p:sp>
      <p:sp>
        <p:nvSpPr>
          <p:cNvPr id="53" name="Text 50"/>
          <p:cNvSpPr txBox="1"/>
          <p:nvPr/>
        </p:nvSpPr>
        <p:spPr>
          <a:xfrm>
            <a:off x="9189491" y="4023360"/>
            <a:ext cx="2188388" cy="347472"/>
          </a:xfrm>
          <a:prstGeom prst="rect">
            <a:avLst/>
          </a:prstGeom>
          <a:noFill/>
          <a:ln/>
        </p:spPr>
        <p:txBody>
          <a:bodyPr wrap="square" lIns="0" tIns="0" rIns="0" bIns="0" rtlCol="0" anchor="t"/>
          <a:lstStyle/>
          <a:p>
            <a:pPr indent="0" marL="0">
              <a:lnSpc>
                <a:spcPct val="108000"/>
              </a:lnSpc>
              <a:buNone/>
            </a:pPr>
            <a:r>
              <a:rPr lang="en-US" sz="900" dirty="0">
                <a:solidFill>
                  <a:srgbClr val="8794AC"/>
                </a:solidFill>
                <a:latin typeface="Calibri" pitchFamily="34" charset="0"/>
                <a:ea typeface="Calibri" pitchFamily="34" charset="-122"/>
                <a:cs typeface="Calibri" pitchFamily="34" charset="-120"/>
              </a:rPr>
              <a:t>un article, une seule ligne</a:t>
            </a:r>
            <a:endParaRPr lang="en-US" sz="900" dirty="0"/>
          </a:p>
        </p:txBody>
      </p:sp>
      <p:sp>
        <p:nvSpPr>
          <p:cNvPr id="54" name="Shape 51"/>
          <p:cNvSpPr/>
          <p:nvPr/>
        </p:nvSpPr>
        <p:spPr>
          <a:xfrm>
            <a:off x="658368" y="4736592"/>
            <a:ext cx="10874959" cy="1152144"/>
          </a:xfrm>
          <a:prstGeom prst="roundRect">
            <a:avLst>
              <a:gd name="adj" fmla="val 5556"/>
            </a:avLst>
          </a:prstGeom>
          <a:solidFill>
            <a:srgbClr val="FDF0F3"/>
          </a:solidFill>
          <a:ln w="12700">
            <a:solidFill>
              <a:srgbClr val="BE123C"/>
            </a:solidFill>
            <a:prstDash val="solid"/>
          </a:ln>
          <a:effectLst>
            <a:outerShdw sx="100000" sy="100000" kx="0" ky="0" algn="bl" rotWithShape="0" blurRad="101600" dist="25400" dir="5400000">
              <a:srgbClr val="A3AFC4">
                <a:alpha val="22000"/>
              </a:srgbClr>
            </a:outerShdw>
          </a:effectLst>
        </p:spPr>
      </p:sp>
      <p:sp>
        <p:nvSpPr>
          <p:cNvPr id="55" name="Shape 52"/>
          <p:cNvSpPr/>
          <p:nvPr/>
        </p:nvSpPr>
        <p:spPr>
          <a:xfrm>
            <a:off x="896112" y="4946904"/>
            <a:ext cx="109728" cy="109728"/>
          </a:xfrm>
          <a:prstGeom prst="ellipse">
            <a:avLst/>
          </a:prstGeom>
          <a:solidFill>
            <a:srgbClr val="BE123C"/>
          </a:solidFill>
          <a:ln w="12700">
            <a:solidFill>
              <a:srgbClr val="333333"/>
            </a:solidFill>
            <a:prstDash val="solid"/>
          </a:ln>
        </p:spPr>
      </p:sp>
      <p:sp>
        <p:nvSpPr>
          <p:cNvPr id="56" name="Text 53"/>
          <p:cNvSpPr txBox="1"/>
          <p:nvPr/>
        </p:nvSpPr>
        <p:spPr>
          <a:xfrm>
            <a:off x="1078992" y="4892040"/>
            <a:ext cx="10216591" cy="219456"/>
          </a:xfrm>
          <a:prstGeom prst="rect">
            <a:avLst/>
          </a:prstGeom>
          <a:noFill/>
          <a:ln/>
        </p:spPr>
        <p:txBody>
          <a:bodyPr wrap="square" lIns="0" tIns="0" rIns="0" bIns="0" rtlCol="0" anchor="ctr"/>
          <a:lstStyle/>
          <a:p>
            <a:pPr indent="0" marL="0">
              <a:buNone/>
            </a:pPr>
            <a:r>
              <a:rPr lang="en-US" sz="850" b="1" spc="110" kern="0" dirty="0">
                <a:solidFill>
                  <a:srgbClr val="BE123C"/>
                </a:solidFill>
                <a:latin typeface="Calibri" pitchFamily="34" charset="0"/>
                <a:ea typeface="Calibri" pitchFamily="34" charset="-122"/>
                <a:cs typeface="Calibri" pitchFamily="34" charset="-120"/>
              </a:rPr>
              <a:t>LE PIÈGE NUMÉRO UN DU DOMAINE</a:t>
            </a:r>
            <a:endParaRPr lang="en-US" sz="850" dirty="0"/>
          </a:p>
        </p:txBody>
      </p:sp>
      <p:sp>
        <p:nvSpPr>
          <p:cNvPr id="57" name="Text 54"/>
          <p:cNvSpPr txBox="1"/>
          <p:nvPr/>
        </p:nvSpPr>
        <p:spPr>
          <a:xfrm>
            <a:off x="896112" y="5193792"/>
            <a:ext cx="10399471" cy="548640"/>
          </a:xfrm>
          <a:prstGeom prst="rect">
            <a:avLst/>
          </a:prstGeom>
          <a:noFill/>
          <a:ln/>
        </p:spPr>
        <p:txBody>
          <a:bodyPr wrap="square" lIns="0" tIns="0" rIns="0" bIns="0" rtlCol="0" anchor="t"/>
          <a:lstStyle/>
          <a:p>
            <a:pPr indent="0" marL="0">
              <a:lnSpc>
                <a:spcPct val="124000"/>
              </a:lnSpc>
              <a:buNone/>
            </a:pPr>
            <a:r>
              <a:rPr lang="en-US" sz="1200" dirty="0">
                <a:solidFill>
                  <a:srgbClr val="0F172A"/>
                </a:solidFill>
                <a:latin typeface="Calibri" pitchFamily="34" charset="0"/>
                <a:ea typeface="Calibri" pitchFamily="34" charset="-122"/>
                <a:cs typeface="Calibri" pitchFamily="34" charset="-120"/>
              </a:rPr>
              <a:t>Indexer avec un modèle et chercher avec un autre place les vecteurs dans deux espaces différents : les résultats deviennent aléatoires, sans aucun message d'erreur. Un seul module du projet connaît le modèle — c'est ce qui rend l'erreur impossible.</a:t>
            </a:r>
            <a:endParaRPr lang="en-US" sz="1200" dirty="0"/>
          </a:p>
        </p:txBody>
      </p:sp>
      <p:sp>
        <p:nvSpPr>
          <p:cNvPr id="58" name="Text 55"/>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Architecture</a:t>
            </a:r>
            <a:endParaRPr lang="en-US" sz="900" dirty="0"/>
          </a:p>
        </p:txBody>
      </p:sp>
      <p:sp>
        <p:nvSpPr>
          <p:cNvPr id="59" name="Text 56"/>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04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4338C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4338CA"/>
                </a:solidFill>
                <a:latin typeface="Calibri" pitchFamily="34" charset="0"/>
                <a:ea typeface="Calibri" pitchFamily="34" charset="-122"/>
                <a:cs typeface="Calibri" pitchFamily="34" charset="-120"/>
              </a:rPr>
              <a:t>CHOIX TECHNIQUES</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Trois décisions, et leurs justifications</a:t>
            </a:r>
            <a:endParaRPr lang="en-US" sz="3300" dirty="0"/>
          </a:p>
        </p:txBody>
      </p:sp>
      <p:sp>
        <p:nvSpPr>
          <p:cNvPr id="6" name="Shape 3"/>
          <p:cNvSpPr/>
          <p:nvPr/>
        </p:nvSpPr>
        <p:spPr>
          <a:xfrm>
            <a:off x="658368" y="1783080"/>
            <a:ext cx="3502152" cy="2487168"/>
          </a:xfrm>
          <a:prstGeom prst="roundRect">
            <a:avLst>
              <a:gd name="adj" fmla="val 2574"/>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7" name="Shape 4"/>
          <p:cNvSpPr/>
          <p:nvPr/>
        </p:nvSpPr>
        <p:spPr>
          <a:xfrm>
            <a:off x="896112" y="1997964"/>
            <a:ext cx="105156" cy="105156"/>
          </a:xfrm>
          <a:prstGeom prst="ellipse">
            <a:avLst/>
          </a:prstGeom>
          <a:solidFill>
            <a:srgbClr val="7C3AED"/>
          </a:solidFill>
          <a:ln w="12700">
            <a:solidFill>
              <a:srgbClr val="333333"/>
            </a:solidFill>
            <a:prstDash val="solid"/>
          </a:ln>
        </p:spPr>
      </p:sp>
      <p:sp>
        <p:nvSpPr>
          <p:cNvPr id="8" name="Text 5"/>
          <p:cNvSpPr txBox="1"/>
          <p:nvPr/>
        </p:nvSpPr>
        <p:spPr>
          <a:xfrm>
            <a:off x="1078992" y="1947672"/>
            <a:ext cx="2843784" cy="201168"/>
          </a:xfrm>
          <a:prstGeom prst="rect">
            <a:avLst/>
          </a:prstGeom>
          <a:noFill/>
          <a:ln/>
        </p:spPr>
        <p:txBody>
          <a:bodyPr wrap="square" lIns="0" tIns="0" rIns="0" bIns="0" rtlCol="0" anchor="ctr"/>
          <a:lstStyle/>
          <a:p>
            <a:pPr indent="0" marL="0">
              <a:buNone/>
            </a:pPr>
            <a:r>
              <a:rPr lang="en-US" sz="850" b="1" spc="110" kern="0" dirty="0">
                <a:solidFill>
                  <a:srgbClr val="7C3AED"/>
                </a:solidFill>
                <a:latin typeface="Calibri" pitchFamily="34" charset="0"/>
                <a:ea typeface="Calibri" pitchFamily="34" charset="-122"/>
                <a:cs typeface="Calibri" pitchFamily="34" charset="-120"/>
              </a:rPr>
              <a:t>LE MODÈLE</a:t>
            </a:r>
            <a:endParaRPr lang="en-US" sz="850" dirty="0"/>
          </a:p>
        </p:txBody>
      </p:sp>
      <p:sp>
        <p:nvSpPr>
          <p:cNvPr id="9" name="Text 6"/>
          <p:cNvSpPr txBox="1"/>
          <p:nvPr/>
        </p:nvSpPr>
        <p:spPr>
          <a:xfrm>
            <a:off x="896112" y="2221992"/>
            <a:ext cx="3026664" cy="256032"/>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multilingual-e5-small</a:t>
            </a:r>
            <a:endParaRPr lang="en-US" sz="1400" dirty="0"/>
          </a:p>
        </p:txBody>
      </p:sp>
      <p:sp>
        <p:nvSpPr>
          <p:cNvPr id="10" name="Text 7"/>
          <p:cNvSpPr txBox="1"/>
          <p:nvPr/>
        </p:nvSpPr>
        <p:spPr>
          <a:xfrm>
            <a:off x="896112" y="2551176"/>
            <a:ext cx="3026664" cy="1554480"/>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Entraîné sur des paires de phrases traduites en une centaine de langues : les trois formulations d'une même idée tombent au même endroit.</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Ce n'est pas de la traduction — c'est un espace partagé.</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118 M de paramètres : il tourne sur un CPU.</a:t>
            </a:r>
            <a:endParaRPr lang="en-US" sz="1100" dirty="0"/>
          </a:p>
        </p:txBody>
      </p:sp>
      <p:sp>
        <p:nvSpPr>
          <p:cNvPr id="11" name="Shape 8"/>
          <p:cNvSpPr/>
          <p:nvPr/>
        </p:nvSpPr>
        <p:spPr>
          <a:xfrm>
            <a:off x="4343400" y="1783080"/>
            <a:ext cx="3502152" cy="2487168"/>
          </a:xfrm>
          <a:prstGeom prst="roundRect">
            <a:avLst>
              <a:gd name="adj" fmla="val 2574"/>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2" name="Shape 9"/>
          <p:cNvSpPr/>
          <p:nvPr/>
        </p:nvSpPr>
        <p:spPr>
          <a:xfrm>
            <a:off x="4581144" y="1997964"/>
            <a:ext cx="105156" cy="105156"/>
          </a:xfrm>
          <a:prstGeom prst="ellipse">
            <a:avLst/>
          </a:prstGeom>
          <a:solidFill>
            <a:srgbClr val="4338CA"/>
          </a:solidFill>
          <a:ln w="12700">
            <a:solidFill>
              <a:srgbClr val="333333"/>
            </a:solidFill>
            <a:prstDash val="solid"/>
          </a:ln>
        </p:spPr>
      </p:sp>
      <p:sp>
        <p:nvSpPr>
          <p:cNvPr id="13" name="Text 10"/>
          <p:cNvSpPr txBox="1"/>
          <p:nvPr/>
        </p:nvSpPr>
        <p:spPr>
          <a:xfrm>
            <a:off x="4764024" y="1947672"/>
            <a:ext cx="2843784" cy="201168"/>
          </a:xfrm>
          <a:prstGeom prst="rect">
            <a:avLst/>
          </a:prstGeom>
          <a:noFill/>
          <a:ln/>
        </p:spPr>
        <p:txBody>
          <a:bodyPr wrap="square" lIns="0" tIns="0" rIns="0" bIns="0" rtlCol="0" anchor="ctr"/>
          <a:lstStyle/>
          <a:p>
            <a:pPr indent="0" marL="0">
              <a:buNone/>
            </a:pPr>
            <a:r>
              <a:rPr lang="en-US" sz="850" b="1" spc="110" kern="0" dirty="0">
                <a:solidFill>
                  <a:srgbClr val="4338CA"/>
                </a:solidFill>
                <a:latin typeface="Calibri" pitchFamily="34" charset="0"/>
                <a:ea typeface="Calibri" pitchFamily="34" charset="-122"/>
                <a:cs typeface="Calibri" pitchFamily="34" charset="-120"/>
              </a:rPr>
              <a:t>L'INDEX</a:t>
            </a:r>
            <a:endParaRPr lang="en-US" sz="850" dirty="0"/>
          </a:p>
        </p:txBody>
      </p:sp>
      <p:sp>
        <p:nvSpPr>
          <p:cNvPr id="14" name="Text 11"/>
          <p:cNvSpPr txBox="1"/>
          <p:nvPr/>
        </p:nvSpPr>
        <p:spPr>
          <a:xfrm>
            <a:off x="4581144" y="2221992"/>
            <a:ext cx="3026664" cy="256032"/>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FAISS, comparaison exacte</a:t>
            </a:r>
            <a:endParaRPr lang="en-US" sz="1400" dirty="0"/>
          </a:p>
        </p:txBody>
      </p:sp>
      <p:sp>
        <p:nvSpPr>
          <p:cNvPr id="15" name="Text 12"/>
          <p:cNvSpPr txBox="1"/>
          <p:nvPr/>
        </p:nvSpPr>
        <p:spPr>
          <a:xfrm>
            <a:off x="4581144" y="2551176"/>
            <a:ext cx="3026664" cy="1554480"/>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Tous les vecteurs sont normalisés à une longueur de 1. Le produit scalaire vaut alors exactement la similarité cosinus.</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On mesure donc un angle — le sens — et non une longueur, qui ne refléterait que la taille du texte.</a:t>
            </a:r>
            <a:endParaRPr lang="en-US" sz="1100" dirty="0"/>
          </a:p>
        </p:txBody>
      </p:sp>
      <p:sp>
        <p:nvSpPr>
          <p:cNvPr id="16" name="Shape 13"/>
          <p:cNvSpPr/>
          <p:nvPr/>
        </p:nvSpPr>
        <p:spPr>
          <a:xfrm>
            <a:off x="8028432" y="1783080"/>
            <a:ext cx="3502152" cy="2487168"/>
          </a:xfrm>
          <a:prstGeom prst="roundRect">
            <a:avLst>
              <a:gd name="adj" fmla="val 2574"/>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7" name="Shape 14"/>
          <p:cNvSpPr/>
          <p:nvPr/>
        </p:nvSpPr>
        <p:spPr>
          <a:xfrm>
            <a:off x="8266176" y="1997964"/>
            <a:ext cx="105156" cy="105156"/>
          </a:xfrm>
          <a:prstGeom prst="ellipse">
            <a:avLst/>
          </a:prstGeom>
          <a:solidFill>
            <a:srgbClr val="BE123C"/>
          </a:solidFill>
          <a:ln w="12700">
            <a:solidFill>
              <a:srgbClr val="333333"/>
            </a:solidFill>
            <a:prstDash val="solid"/>
          </a:ln>
        </p:spPr>
      </p:sp>
      <p:sp>
        <p:nvSpPr>
          <p:cNvPr id="18" name="Text 15"/>
          <p:cNvSpPr txBox="1"/>
          <p:nvPr/>
        </p:nvSpPr>
        <p:spPr>
          <a:xfrm>
            <a:off x="8449056" y="1947672"/>
            <a:ext cx="2843784" cy="201168"/>
          </a:xfrm>
          <a:prstGeom prst="rect">
            <a:avLst/>
          </a:prstGeom>
          <a:noFill/>
          <a:ln/>
        </p:spPr>
        <p:txBody>
          <a:bodyPr wrap="square" lIns="0" tIns="0" rIns="0" bIns="0" rtlCol="0" anchor="ctr"/>
          <a:lstStyle/>
          <a:p>
            <a:pPr indent="0" marL="0">
              <a:buNone/>
            </a:pPr>
            <a:r>
              <a:rPr lang="en-US" sz="850" b="1" spc="110" kern="0" dirty="0">
                <a:solidFill>
                  <a:srgbClr val="BE123C"/>
                </a:solidFill>
                <a:latin typeface="Calibri" pitchFamily="34" charset="0"/>
                <a:ea typeface="Calibri" pitchFamily="34" charset="-122"/>
                <a:cs typeface="Calibri" pitchFamily="34" charset="-120"/>
              </a:rPr>
              <a:t>LA DÉCISION MÉTHODOLOGIQUE</a:t>
            </a:r>
            <a:endParaRPr lang="en-US" sz="850" dirty="0"/>
          </a:p>
        </p:txBody>
      </p:sp>
      <p:sp>
        <p:nvSpPr>
          <p:cNvPr id="19" name="Text 16"/>
          <p:cNvSpPr txBox="1"/>
          <p:nvPr/>
        </p:nvSpPr>
        <p:spPr>
          <a:xfrm>
            <a:off x="8266176" y="2221992"/>
            <a:ext cx="3026664" cy="256032"/>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Le titre n'est pas indexé</a:t>
            </a:r>
            <a:endParaRPr lang="en-US" sz="1400" dirty="0"/>
          </a:p>
        </p:txBody>
      </p:sp>
      <p:sp>
        <p:nvSpPr>
          <p:cNvPr id="20" name="Text 17"/>
          <p:cNvSpPr txBox="1"/>
          <p:nvPr/>
        </p:nvSpPr>
        <p:spPr>
          <a:xfrm>
            <a:off x="8266176" y="2551176"/>
            <a:ext cx="3026664" cy="1554480"/>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L'évaluation utilise le titre comme requête. S'il figurait aussi dans le texte indexé, BM25 le retrouverait par correspondance exacte.</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Ses scores seraient artificiellement parfaits : c'est une fuite de données.</a:t>
            </a:r>
            <a:endParaRPr lang="en-US" sz="1100" dirty="0"/>
          </a:p>
        </p:txBody>
      </p:sp>
      <p:sp>
        <p:nvSpPr>
          <p:cNvPr id="21" name="Shape 18"/>
          <p:cNvSpPr/>
          <p:nvPr/>
        </p:nvSpPr>
        <p:spPr>
          <a:xfrm>
            <a:off x="658368" y="4498848"/>
            <a:ext cx="10874959" cy="1371600"/>
          </a:xfrm>
          <a:prstGeom prst="roundRect">
            <a:avLst>
              <a:gd name="adj" fmla="val 4667"/>
            </a:avLst>
          </a:prstGeom>
          <a:solidFill>
            <a:srgbClr val="F4EFFE"/>
          </a:solidFill>
          <a:ln w="12700">
            <a:solidFill>
              <a:srgbClr val="7C3AED"/>
            </a:solidFill>
            <a:prstDash val="solid"/>
          </a:ln>
          <a:effectLst>
            <a:outerShdw sx="100000" sy="100000" kx="0" ky="0" algn="bl" rotWithShape="0" blurRad="101600" dist="25400" dir="5400000">
              <a:srgbClr val="A3AFC4">
                <a:alpha val="22000"/>
              </a:srgbClr>
            </a:outerShdw>
          </a:effectLst>
        </p:spPr>
      </p:sp>
      <p:sp>
        <p:nvSpPr>
          <p:cNvPr id="22" name="Shape 19"/>
          <p:cNvSpPr/>
          <p:nvPr/>
        </p:nvSpPr>
        <p:spPr>
          <a:xfrm>
            <a:off x="896112" y="4709160"/>
            <a:ext cx="109728" cy="109728"/>
          </a:xfrm>
          <a:prstGeom prst="ellipse">
            <a:avLst/>
          </a:prstGeom>
          <a:solidFill>
            <a:srgbClr val="7C3AED"/>
          </a:solidFill>
          <a:ln w="12700">
            <a:solidFill>
              <a:srgbClr val="333333"/>
            </a:solidFill>
            <a:prstDash val="solid"/>
          </a:ln>
        </p:spPr>
      </p:sp>
      <p:sp>
        <p:nvSpPr>
          <p:cNvPr id="23" name="Text 20"/>
          <p:cNvSpPr txBox="1"/>
          <p:nvPr/>
        </p:nvSpPr>
        <p:spPr>
          <a:xfrm>
            <a:off x="1078992" y="4654296"/>
            <a:ext cx="10216591" cy="219456"/>
          </a:xfrm>
          <a:prstGeom prst="rect">
            <a:avLst/>
          </a:prstGeom>
          <a:noFill/>
          <a:ln/>
        </p:spPr>
        <p:txBody>
          <a:bodyPr wrap="square" lIns="0" tIns="0" rIns="0" bIns="0" rtlCol="0" anchor="ctr"/>
          <a:lstStyle/>
          <a:p>
            <a:pPr indent="0" marL="0">
              <a:buNone/>
            </a:pPr>
            <a:r>
              <a:rPr lang="en-US" sz="850" b="1" spc="110" kern="0" dirty="0">
                <a:solidFill>
                  <a:srgbClr val="7C3AED"/>
                </a:solidFill>
                <a:latin typeface="Calibri" pitchFamily="34" charset="0"/>
                <a:ea typeface="Calibri" pitchFamily="34" charset="-122"/>
                <a:cs typeface="Calibri" pitchFamily="34" charset="-120"/>
              </a:rPr>
              <a:t>LE DÉTAIL QUI SÉPARE UN MOTEUR CORRECT D'UN MOTEUR SILENCIEUSEMENT CASSÉ</a:t>
            </a:r>
            <a:endParaRPr lang="en-US" sz="850" dirty="0"/>
          </a:p>
        </p:txBody>
      </p:sp>
      <p:sp>
        <p:nvSpPr>
          <p:cNvPr id="24" name="Text 21"/>
          <p:cNvSpPr txBox="1"/>
          <p:nvPr/>
        </p:nvSpPr>
        <p:spPr>
          <a:xfrm>
            <a:off x="896112" y="4956048"/>
            <a:ext cx="10399471" cy="768096"/>
          </a:xfrm>
          <a:prstGeom prst="rect">
            <a:avLst/>
          </a:prstGeom>
          <a:noFill/>
          <a:ln/>
        </p:spPr>
        <p:txBody>
          <a:bodyPr wrap="square" lIns="0" tIns="0" rIns="0" bIns="0" rtlCol="0" anchor="t"/>
          <a:lstStyle/>
          <a:p>
            <a:pPr indent="0" marL="0">
              <a:lnSpc>
                <a:spcPct val="124000"/>
              </a:lnSpc>
              <a:buNone/>
            </a:pPr>
            <a:r>
              <a:rPr lang="en-US" sz="1250" dirty="0">
                <a:solidFill>
                  <a:srgbClr val="0F172A"/>
                </a:solidFill>
                <a:latin typeface="Calibri" pitchFamily="34" charset="0"/>
                <a:ea typeface="Calibri" pitchFamily="34" charset="-122"/>
                <a:cs typeface="Calibri" pitchFamily="34" charset="-120"/>
              </a:rPr>
              <a:t>La famille E5 exige les préfixes « query: » devant une question et « passage: » devant un document. Les oublier dégrade nettement la qualité — sans provoquer la moindre erreur visible.</a:t>
            </a:r>
            <a:endParaRPr lang="en-US" sz="1250" dirty="0"/>
          </a:p>
        </p:txBody>
      </p:sp>
      <p:sp>
        <p:nvSpPr>
          <p:cNvPr id="25" name="Text 22"/>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Choix techniques</a:t>
            </a:r>
            <a:endParaRPr lang="en-US" sz="900" dirty="0"/>
          </a:p>
        </p:txBody>
      </p:sp>
      <p:sp>
        <p:nvSpPr>
          <p:cNvPr id="26" name="Text 23"/>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05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4338C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4338CA"/>
                </a:solidFill>
                <a:latin typeface="Calibri" pitchFamily="34" charset="0"/>
                <a:ea typeface="Calibri" pitchFamily="34" charset="-122"/>
                <a:cs typeface="Calibri" pitchFamily="34" charset="-120"/>
              </a:rPr>
              <a:t>LES MOTEURS</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Trois moteurs, un seul index</a:t>
            </a:r>
            <a:endParaRPr lang="en-US" sz="3300" dirty="0"/>
          </a:p>
        </p:txBody>
      </p:sp>
      <p:sp>
        <p:nvSpPr>
          <p:cNvPr id="6" name="Text 3"/>
          <p:cNvSpPr txBox="1"/>
          <p:nvPr/>
        </p:nvSpPr>
        <p:spPr>
          <a:xfrm>
            <a:off x="658368" y="1481328"/>
            <a:ext cx="9692640" cy="292608"/>
          </a:xfrm>
          <a:prstGeom prst="rect">
            <a:avLst/>
          </a:prstGeom>
          <a:noFill/>
          <a:ln/>
        </p:spPr>
        <p:txBody>
          <a:bodyPr wrap="square" lIns="0" tIns="0" rIns="0" bIns="0" rtlCol="0" anchor="ctr"/>
          <a:lstStyle/>
          <a:p>
            <a:pPr indent="0" marL="0">
              <a:buNone/>
            </a:pPr>
            <a:r>
              <a:rPr lang="en-US" sz="1300" dirty="0">
                <a:solidFill>
                  <a:srgbClr val="46536B"/>
                </a:solidFill>
                <a:latin typeface="Calibri" pitchFamily="34" charset="0"/>
                <a:ea typeface="Calibri" pitchFamily="34" charset="-122"/>
                <a:cs typeface="Calibri" pitchFamily="34" charset="-120"/>
              </a:rPr>
              <a:t>Ce qui les sépare est uniquement la façon de classer — jamais ce qui a été indexé.</a:t>
            </a:r>
            <a:endParaRPr lang="en-US" sz="1300" dirty="0"/>
          </a:p>
        </p:txBody>
      </p:sp>
      <p:sp>
        <p:nvSpPr>
          <p:cNvPr id="7" name="Shape 4"/>
          <p:cNvSpPr/>
          <p:nvPr/>
        </p:nvSpPr>
        <p:spPr>
          <a:xfrm>
            <a:off x="658368" y="1965960"/>
            <a:ext cx="3502152" cy="2286000"/>
          </a:xfrm>
          <a:prstGeom prst="roundRect">
            <a:avLst>
              <a:gd name="adj" fmla="val 2800"/>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8" name="Shape 5"/>
          <p:cNvSpPr/>
          <p:nvPr/>
        </p:nvSpPr>
        <p:spPr>
          <a:xfrm>
            <a:off x="896112" y="2180844"/>
            <a:ext cx="105156" cy="105156"/>
          </a:xfrm>
          <a:prstGeom prst="ellipse">
            <a:avLst/>
          </a:prstGeom>
          <a:solidFill>
            <a:srgbClr val="7C3AED"/>
          </a:solidFill>
          <a:ln w="12700">
            <a:solidFill>
              <a:srgbClr val="333333"/>
            </a:solidFill>
            <a:prstDash val="solid"/>
          </a:ln>
        </p:spPr>
      </p:sp>
      <p:sp>
        <p:nvSpPr>
          <p:cNvPr id="9" name="Text 6"/>
          <p:cNvSpPr txBox="1"/>
          <p:nvPr/>
        </p:nvSpPr>
        <p:spPr>
          <a:xfrm>
            <a:off x="1078992" y="2130552"/>
            <a:ext cx="2843784" cy="201168"/>
          </a:xfrm>
          <a:prstGeom prst="rect">
            <a:avLst/>
          </a:prstGeom>
          <a:noFill/>
          <a:ln/>
        </p:spPr>
        <p:txBody>
          <a:bodyPr wrap="square" lIns="0" tIns="0" rIns="0" bIns="0" rtlCol="0" anchor="ctr"/>
          <a:lstStyle/>
          <a:p>
            <a:pPr indent="0" marL="0">
              <a:buNone/>
            </a:pPr>
            <a:r>
              <a:rPr lang="en-US" sz="850" b="1" spc="110" kern="0" dirty="0">
                <a:solidFill>
                  <a:srgbClr val="7C3AED"/>
                </a:solidFill>
                <a:latin typeface="Calibri" pitchFamily="34" charset="0"/>
                <a:ea typeface="Calibri" pitchFamily="34" charset="-122"/>
                <a:cs typeface="Calibri" pitchFamily="34" charset="-120"/>
              </a:rPr>
              <a:t>SÉMANTIQUE</a:t>
            </a:r>
            <a:endParaRPr lang="en-US" sz="850" dirty="0"/>
          </a:p>
        </p:txBody>
      </p:sp>
      <p:sp>
        <p:nvSpPr>
          <p:cNvPr id="10" name="Text 7"/>
          <p:cNvSpPr txBox="1"/>
          <p:nvPr/>
        </p:nvSpPr>
        <p:spPr>
          <a:xfrm>
            <a:off x="896112" y="2404872"/>
            <a:ext cx="3026664" cy="256032"/>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Sentence-BERT + FAISS</a:t>
            </a:r>
            <a:endParaRPr lang="en-US" sz="1400" dirty="0"/>
          </a:p>
        </p:txBody>
      </p:sp>
      <p:sp>
        <p:nvSpPr>
          <p:cNvPr id="11" name="Text 8"/>
          <p:cNvSpPr txBox="1"/>
          <p:nvPr/>
        </p:nvSpPr>
        <p:spPr>
          <a:xfrm>
            <a:off x="896112" y="2734056"/>
            <a:ext cx="3026664" cy="1353312"/>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Encode question et documents dans un même espace de 384 dimensions, puis mesure des angles.</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Trouve sans partager un seul mot, y compris dans une autre langue.</a:t>
            </a:r>
            <a:endParaRPr lang="en-US" sz="1100" dirty="0"/>
          </a:p>
        </p:txBody>
      </p:sp>
      <p:sp>
        <p:nvSpPr>
          <p:cNvPr id="12" name="Shape 9"/>
          <p:cNvSpPr/>
          <p:nvPr/>
        </p:nvSpPr>
        <p:spPr>
          <a:xfrm>
            <a:off x="4343400" y="1965960"/>
            <a:ext cx="3502152" cy="2286000"/>
          </a:xfrm>
          <a:prstGeom prst="roundRect">
            <a:avLst>
              <a:gd name="adj" fmla="val 2800"/>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3" name="Shape 10"/>
          <p:cNvSpPr/>
          <p:nvPr/>
        </p:nvSpPr>
        <p:spPr>
          <a:xfrm>
            <a:off x="4581144" y="2180844"/>
            <a:ext cx="105156" cy="105156"/>
          </a:xfrm>
          <a:prstGeom prst="ellipse">
            <a:avLst/>
          </a:prstGeom>
          <a:solidFill>
            <a:srgbClr val="C2740A"/>
          </a:solidFill>
          <a:ln w="12700">
            <a:solidFill>
              <a:srgbClr val="333333"/>
            </a:solidFill>
            <a:prstDash val="solid"/>
          </a:ln>
        </p:spPr>
      </p:sp>
      <p:sp>
        <p:nvSpPr>
          <p:cNvPr id="14" name="Text 11"/>
          <p:cNvSpPr txBox="1"/>
          <p:nvPr/>
        </p:nvSpPr>
        <p:spPr>
          <a:xfrm>
            <a:off x="4764024" y="2130552"/>
            <a:ext cx="2843784" cy="201168"/>
          </a:xfrm>
          <a:prstGeom prst="rect">
            <a:avLst/>
          </a:prstGeom>
          <a:noFill/>
          <a:ln/>
        </p:spPr>
        <p:txBody>
          <a:bodyPr wrap="square" lIns="0" tIns="0" rIns="0" bIns="0" rtlCol="0" anchor="ctr"/>
          <a:lstStyle/>
          <a:p>
            <a:pPr indent="0" marL="0">
              <a:buNone/>
            </a:pPr>
            <a:r>
              <a:rPr lang="en-US" sz="850" b="1" spc="110" kern="0" dirty="0">
                <a:solidFill>
                  <a:srgbClr val="C2740A"/>
                </a:solidFill>
                <a:latin typeface="Calibri" pitchFamily="34" charset="0"/>
                <a:ea typeface="Calibri" pitchFamily="34" charset="-122"/>
                <a:cs typeface="Calibri" pitchFamily="34" charset="-120"/>
              </a:rPr>
              <a:t>LEXICAL</a:t>
            </a:r>
            <a:endParaRPr lang="en-US" sz="850" dirty="0"/>
          </a:p>
        </p:txBody>
      </p:sp>
      <p:sp>
        <p:nvSpPr>
          <p:cNvPr id="15" name="Text 12"/>
          <p:cNvSpPr txBox="1"/>
          <p:nvPr/>
        </p:nvSpPr>
        <p:spPr>
          <a:xfrm>
            <a:off x="4581144" y="2404872"/>
            <a:ext cx="3026664" cy="256032"/>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BM25 Okapi</a:t>
            </a:r>
            <a:endParaRPr lang="en-US" sz="1400" dirty="0"/>
          </a:p>
        </p:txBody>
      </p:sp>
      <p:sp>
        <p:nvSpPr>
          <p:cNvPr id="16" name="Text 13"/>
          <p:cNvSpPr txBox="1"/>
          <p:nvPr/>
        </p:nvSpPr>
        <p:spPr>
          <a:xfrm>
            <a:off x="4581144" y="2734056"/>
            <a:ext cx="3026664" cy="1353312"/>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Pondère les mots partagés : un terme rare compte plus, un document long est pénalisé.</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Rapide et gratuit. Liste vide si aucun mot ne correspond.</a:t>
            </a:r>
            <a:endParaRPr lang="en-US" sz="1100" dirty="0"/>
          </a:p>
        </p:txBody>
      </p:sp>
      <p:sp>
        <p:nvSpPr>
          <p:cNvPr id="17" name="Shape 14"/>
          <p:cNvSpPr/>
          <p:nvPr/>
        </p:nvSpPr>
        <p:spPr>
          <a:xfrm>
            <a:off x="8028432" y="1965960"/>
            <a:ext cx="3502152" cy="2286000"/>
          </a:xfrm>
          <a:prstGeom prst="roundRect">
            <a:avLst>
              <a:gd name="adj" fmla="val 2800"/>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8" name="Shape 15"/>
          <p:cNvSpPr/>
          <p:nvPr/>
        </p:nvSpPr>
        <p:spPr>
          <a:xfrm>
            <a:off x="8266176" y="2180844"/>
            <a:ext cx="105156" cy="105156"/>
          </a:xfrm>
          <a:prstGeom prst="ellipse">
            <a:avLst/>
          </a:prstGeom>
          <a:solidFill>
            <a:srgbClr val="047857"/>
          </a:solidFill>
          <a:ln w="12700">
            <a:solidFill>
              <a:srgbClr val="333333"/>
            </a:solidFill>
            <a:prstDash val="solid"/>
          </a:ln>
        </p:spPr>
      </p:sp>
      <p:sp>
        <p:nvSpPr>
          <p:cNvPr id="19" name="Text 16"/>
          <p:cNvSpPr txBox="1"/>
          <p:nvPr/>
        </p:nvSpPr>
        <p:spPr>
          <a:xfrm>
            <a:off x="8449056" y="2130552"/>
            <a:ext cx="2843784" cy="201168"/>
          </a:xfrm>
          <a:prstGeom prst="rect">
            <a:avLst/>
          </a:prstGeom>
          <a:noFill/>
          <a:ln/>
        </p:spPr>
        <p:txBody>
          <a:bodyPr wrap="square" lIns="0" tIns="0" rIns="0" bIns="0" rtlCol="0" anchor="ctr"/>
          <a:lstStyle/>
          <a:p>
            <a:pPr indent="0" marL="0">
              <a:buNone/>
            </a:pPr>
            <a:r>
              <a:rPr lang="en-US" sz="850" b="1" spc="110" kern="0" dirty="0">
                <a:solidFill>
                  <a:srgbClr val="047857"/>
                </a:solidFill>
                <a:latin typeface="Calibri" pitchFamily="34" charset="0"/>
                <a:ea typeface="Calibri" pitchFamily="34" charset="-122"/>
                <a:cs typeface="Calibri" pitchFamily="34" charset="-120"/>
              </a:rPr>
              <a:t>HYBRIDE</a:t>
            </a:r>
            <a:endParaRPr lang="en-US" sz="850" dirty="0"/>
          </a:p>
        </p:txBody>
      </p:sp>
      <p:sp>
        <p:nvSpPr>
          <p:cNvPr id="20" name="Text 17"/>
          <p:cNvSpPr txBox="1"/>
          <p:nvPr/>
        </p:nvSpPr>
        <p:spPr>
          <a:xfrm>
            <a:off x="8266176" y="2404872"/>
            <a:ext cx="3026664" cy="256032"/>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Fusion RRF</a:t>
            </a:r>
            <a:endParaRPr lang="en-US" sz="1400" dirty="0"/>
          </a:p>
        </p:txBody>
      </p:sp>
      <p:sp>
        <p:nvSpPr>
          <p:cNvPr id="21" name="Text 18"/>
          <p:cNvSpPr txBox="1"/>
          <p:nvPr/>
        </p:nvSpPr>
        <p:spPr>
          <a:xfrm>
            <a:off x="8266176" y="2734056"/>
            <a:ext cx="3026664" cy="1353312"/>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Fusionne les deux classements en n'utilisant que les rangs.</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Un document bien classé par les deux passe devant un document premier chez un seul.</a:t>
            </a:r>
            <a:endParaRPr lang="en-US" sz="1100" dirty="0"/>
          </a:p>
        </p:txBody>
      </p:sp>
      <p:sp>
        <p:nvSpPr>
          <p:cNvPr id="22" name="Shape 19"/>
          <p:cNvSpPr/>
          <p:nvPr/>
        </p:nvSpPr>
        <p:spPr>
          <a:xfrm>
            <a:off x="658368" y="4434840"/>
            <a:ext cx="6583680" cy="1417320"/>
          </a:xfrm>
          <a:prstGeom prst="roundRect">
            <a:avLst>
              <a:gd name="adj" fmla="val 4516"/>
            </a:avLst>
          </a:prstGeom>
          <a:solidFill>
            <a:srgbClr val="EBFAF3"/>
          </a:solidFill>
          <a:ln w="12700">
            <a:solidFill>
              <a:srgbClr val="047857"/>
            </a:solidFill>
            <a:prstDash val="solid"/>
          </a:ln>
          <a:effectLst>
            <a:outerShdw sx="100000" sy="100000" kx="0" ky="0" algn="bl" rotWithShape="0" blurRad="101600" dist="25400" dir="5400000">
              <a:srgbClr val="A3AFC4">
                <a:alpha val="22000"/>
              </a:srgbClr>
            </a:outerShdw>
          </a:effectLst>
        </p:spPr>
      </p:sp>
      <p:sp>
        <p:nvSpPr>
          <p:cNvPr id="23" name="Shape 20"/>
          <p:cNvSpPr/>
          <p:nvPr/>
        </p:nvSpPr>
        <p:spPr>
          <a:xfrm>
            <a:off x="896112" y="4645152"/>
            <a:ext cx="109728" cy="109728"/>
          </a:xfrm>
          <a:prstGeom prst="ellipse">
            <a:avLst/>
          </a:prstGeom>
          <a:solidFill>
            <a:srgbClr val="047857"/>
          </a:solidFill>
          <a:ln w="12700">
            <a:solidFill>
              <a:srgbClr val="333333"/>
            </a:solidFill>
            <a:prstDash val="solid"/>
          </a:ln>
        </p:spPr>
      </p:sp>
      <p:sp>
        <p:nvSpPr>
          <p:cNvPr id="24" name="Text 21"/>
          <p:cNvSpPr txBox="1"/>
          <p:nvPr/>
        </p:nvSpPr>
        <p:spPr>
          <a:xfrm>
            <a:off x="1078992" y="4590288"/>
            <a:ext cx="5925312" cy="219456"/>
          </a:xfrm>
          <a:prstGeom prst="rect">
            <a:avLst/>
          </a:prstGeom>
          <a:noFill/>
          <a:ln/>
        </p:spPr>
        <p:txBody>
          <a:bodyPr wrap="square" lIns="0" tIns="0" rIns="0" bIns="0" rtlCol="0" anchor="ctr"/>
          <a:lstStyle/>
          <a:p>
            <a:pPr indent="0" marL="0">
              <a:buNone/>
            </a:pPr>
            <a:r>
              <a:rPr lang="en-US" sz="850" b="1" spc="110" kern="0" dirty="0">
                <a:solidFill>
                  <a:srgbClr val="047857"/>
                </a:solidFill>
                <a:latin typeface="Calibri" pitchFamily="34" charset="0"/>
                <a:ea typeface="Calibri" pitchFamily="34" charset="-122"/>
                <a:cs typeface="Calibri" pitchFamily="34" charset="-120"/>
              </a:rPr>
              <a:t>POURQUOI FUSIONNER LES RANGS ET NON LES SCORES</a:t>
            </a:r>
            <a:endParaRPr lang="en-US" sz="850" dirty="0"/>
          </a:p>
        </p:txBody>
      </p:sp>
      <p:sp>
        <p:nvSpPr>
          <p:cNvPr id="25" name="Text 22"/>
          <p:cNvSpPr txBox="1"/>
          <p:nvPr/>
        </p:nvSpPr>
        <p:spPr>
          <a:xfrm>
            <a:off x="896112" y="4892040"/>
            <a:ext cx="6108192" cy="813816"/>
          </a:xfrm>
          <a:prstGeom prst="rect">
            <a:avLst/>
          </a:prstGeom>
          <a:noFill/>
          <a:ln/>
        </p:spPr>
        <p:txBody>
          <a:bodyPr wrap="square" lIns="0" tIns="0" rIns="0" bIns="0" rtlCol="0" anchor="t"/>
          <a:lstStyle/>
          <a:p>
            <a:pPr indent="0" marL="0">
              <a:lnSpc>
                <a:spcPct val="124000"/>
              </a:lnSpc>
              <a:buNone/>
            </a:pPr>
            <a:r>
              <a:rPr lang="en-US" sz="1150" dirty="0">
                <a:solidFill>
                  <a:srgbClr val="0F172A"/>
                </a:solidFill>
                <a:latin typeface="Calibri" pitchFamily="34" charset="0"/>
                <a:ea typeface="Calibri" pitchFamily="34" charset="-122"/>
                <a:cs typeface="Calibri" pitchFamily="34" charset="-120"/>
              </a:rPr>
              <a:t>Un score BM25 vaut entre 0 et 40 sans borne ; un cosinus entre −1 et 1. Les additionner laisserait BM25 décider seul.</a:t>
            </a:r>
            <a:endParaRPr lang="en-US" sz="1150" dirty="0"/>
          </a:p>
          <a:p>
            <a:pPr indent="0" marL="0">
              <a:lnSpc>
                <a:spcPct val="124000"/>
              </a:lnSpc>
              <a:buNone/>
            </a:pPr>
            <a:r>
              <a:rPr lang="en-US" sz="1150" dirty="0">
                <a:solidFill>
                  <a:srgbClr val="0F172A"/>
                </a:solidFill>
                <a:latin typeface="Calibri" pitchFamily="34" charset="0"/>
                <a:ea typeface="Calibri" pitchFamily="34" charset="-122"/>
                <a:cs typeface="Calibri" pitchFamily="34" charset="-120"/>
              </a:rPr>
              <a:t>score(d) = Σ 1 / (60 + rang) — seuls les rangs interviennent.</a:t>
            </a:r>
            <a:endParaRPr lang="en-US" sz="1150" dirty="0"/>
          </a:p>
        </p:txBody>
      </p:sp>
      <p:sp>
        <p:nvSpPr>
          <p:cNvPr id="26" name="Shape 23"/>
          <p:cNvSpPr/>
          <p:nvPr/>
        </p:nvSpPr>
        <p:spPr>
          <a:xfrm>
            <a:off x="7653528" y="4434840"/>
            <a:ext cx="3877056" cy="1417320"/>
          </a:xfrm>
          <a:prstGeom prst="roundRect">
            <a:avLst>
              <a:gd name="adj" fmla="val 4516"/>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27" name="Shape 24"/>
          <p:cNvSpPr/>
          <p:nvPr/>
        </p:nvSpPr>
        <p:spPr>
          <a:xfrm>
            <a:off x="7891272" y="4649724"/>
            <a:ext cx="105156" cy="105156"/>
          </a:xfrm>
          <a:prstGeom prst="ellipse">
            <a:avLst/>
          </a:prstGeom>
          <a:solidFill>
            <a:srgbClr val="4338CA"/>
          </a:solidFill>
          <a:ln w="12700">
            <a:solidFill>
              <a:srgbClr val="333333"/>
            </a:solidFill>
            <a:prstDash val="solid"/>
          </a:ln>
        </p:spPr>
      </p:sp>
      <p:sp>
        <p:nvSpPr>
          <p:cNvPr id="28" name="Text 25"/>
          <p:cNvSpPr txBox="1"/>
          <p:nvPr/>
        </p:nvSpPr>
        <p:spPr>
          <a:xfrm>
            <a:off x="8074152" y="4599432"/>
            <a:ext cx="3218688" cy="201168"/>
          </a:xfrm>
          <a:prstGeom prst="rect">
            <a:avLst/>
          </a:prstGeom>
          <a:noFill/>
          <a:ln/>
        </p:spPr>
        <p:txBody>
          <a:bodyPr wrap="square" lIns="0" tIns="0" rIns="0" bIns="0" rtlCol="0" anchor="ctr"/>
          <a:lstStyle/>
          <a:p>
            <a:pPr indent="0" marL="0">
              <a:buNone/>
            </a:pPr>
            <a:r>
              <a:rPr lang="en-US" sz="850" b="1" spc="110" kern="0" dirty="0">
                <a:solidFill>
                  <a:srgbClr val="4338CA"/>
                </a:solidFill>
                <a:latin typeface="Calibri" pitchFamily="34" charset="0"/>
                <a:ea typeface="Calibri" pitchFamily="34" charset="-122"/>
                <a:cs typeface="Calibri" pitchFamily="34" charset="-120"/>
              </a:rPr>
              <a:t>CONSÉQUENCE DE CONCEPTION</a:t>
            </a:r>
            <a:endParaRPr lang="en-US" sz="850" dirty="0"/>
          </a:p>
        </p:txBody>
      </p:sp>
      <p:sp>
        <p:nvSpPr>
          <p:cNvPr id="29" name="Text 26"/>
          <p:cNvSpPr txBox="1"/>
          <p:nvPr/>
        </p:nvSpPr>
        <p:spPr>
          <a:xfrm>
            <a:off x="7891272" y="4873752"/>
            <a:ext cx="3401568" cy="813816"/>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Les trois exposent la même interface. L'API, l'interface et l'évaluation les utilisent sans une ligne de code spécifique à l'un d'eux.</a:t>
            </a:r>
            <a:endParaRPr lang="en-US" sz="1100" dirty="0"/>
          </a:p>
        </p:txBody>
      </p:sp>
      <p:sp>
        <p:nvSpPr>
          <p:cNvPr id="30" name="Text 27"/>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Les trois moteurs</a:t>
            </a:r>
            <a:endParaRPr lang="en-US" sz="900" dirty="0"/>
          </a:p>
        </p:txBody>
      </p:sp>
      <p:sp>
        <p:nvSpPr>
          <p:cNvPr id="31" name="Text 28"/>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06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4338C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4338CA"/>
                </a:solidFill>
                <a:latin typeface="Calibri" pitchFamily="34" charset="0"/>
                <a:ea typeface="Calibri" pitchFamily="34" charset="-122"/>
                <a:cs typeface="Calibri" pitchFamily="34" charset="-120"/>
              </a:rPr>
              <a:t>L'APPLICATION</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Une API, une interface, aucun couplage</a:t>
            </a:r>
            <a:endParaRPr lang="en-US" sz="3300" dirty="0"/>
          </a:p>
        </p:txBody>
      </p:sp>
      <p:sp>
        <p:nvSpPr>
          <p:cNvPr id="6" name="Shape 3"/>
          <p:cNvSpPr/>
          <p:nvPr/>
        </p:nvSpPr>
        <p:spPr>
          <a:xfrm>
            <a:off x="658368" y="1572768"/>
            <a:ext cx="3429914" cy="932688"/>
          </a:xfrm>
          <a:prstGeom prst="roundRect">
            <a:avLst>
              <a:gd name="adj" fmla="val 5882"/>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7" name="Shape 4"/>
          <p:cNvSpPr/>
          <p:nvPr/>
        </p:nvSpPr>
        <p:spPr>
          <a:xfrm>
            <a:off x="813816" y="1746504"/>
            <a:ext cx="100584" cy="100584"/>
          </a:xfrm>
          <a:prstGeom prst="ellipse">
            <a:avLst/>
          </a:prstGeom>
          <a:solidFill>
            <a:srgbClr val="4338CA"/>
          </a:solidFill>
          <a:ln w="12700">
            <a:solidFill>
              <a:srgbClr val="333333"/>
            </a:solidFill>
            <a:prstDash val="solid"/>
          </a:ln>
        </p:spPr>
      </p:sp>
      <p:sp>
        <p:nvSpPr>
          <p:cNvPr id="8" name="Text 5"/>
          <p:cNvSpPr txBox="1"/>
          <p:nvPr/>
        </p:nvSpPr>
        <p:spPr>
          <a:xfrm>
            <a:off x="969264" y="1673352"/>
            <a:ext cx="2972714" cy="182880"/>
          </a:xfrm>
          <a:prstGeom prst="rect">
            <a:avLst/>
          </a:prstGeom>
          <a:noFill/>
          <a:ln/>
        </p:spPr>
        <p:txBody>
          <a:bodyPr wrap="square" lIns="0" tIns="0" rIns="0" bIns="0" rtlCol="0" anchor="ctr"/>
          <a:lstStyle/>
          <a:p>
            <a:pPr indent="0" marL="0">
              <a:buNone/>
            </a:pPr>
            <a:r>
              <a:rPr lang="en-US" sz="800" b="1" dirty="0">
                <a:solidFill>
                  <a:srgbClr val="4338CA"/>
                </a:solidFill>
                <a:latin typeface="Consolas" pitchFamily="34" charset="0"/>
                <a:ea typeface="Consolas" pitchFamily="34" charset="-122"/>
                <a:cs typeface="Consolas" pitchFamily="34" charset="-120"/>
              </a:rPr>
              <a:t>moteur</a:t>
            </a:r>
            <a:endParaRPr lang="en-US" sz="800" dirty="0"/>
          </a:p>
        </p:txBody>
      </p:sp>
      <p:sp>
        <p:nvSpPr>
          <p:cNvPr id="9" name="Text 6"/>
          <p:cNvSpPr txBox="1"/>
          <p:nvPr/>
        </p:nvSpPr>
        <p:spPr>
          <a:xfrm>
            <a:off x="813816" y="1883664"/>
            <a:ext cx="3119018" cy="256032"/>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Bibliothèque Python</a:t>
            </a:r>
            <a:endParaRPr lang="en-US" sz="1150" dirty="0"/>
          </a:p>
        </p:txBody>
      </p:sp>
      <p:sp>
        <p:nvSpPr>
          <p:cNvPr id="10" name="Text 7"/>
          <p:cNvSpPr txBox="1"/>
          <p:nvPr/>
        </p:nvSpPr>
        <p:spPr>
          <a:xfrm>
            <a:off x="813816" y="2139696"/>
            <a:ext cx="3119018" cy="256032"/>
          </a:xfrm>
          <a:prstGeom prst="rect">
            <a:avLst/>
          </a:prstGeom>
          <a:noFill/>
          <a:ln/>
        </p:spPr>
        <p:txBody>
          <a:bodyPr wrap="square" lIns="0" tIns="0" rIns="0" bIns="0" rtlCol="0" anchor="t"/>
          <a:lstStyle/>
          <a:p>
            <a:pPr indent="0" marL="0">
              <a:lnSpc>
                <a:spcPct val="108000"/>
              </a:lnSpc>
              <a:buNone/>
            </a:pPr>
            <a:r>
              <a:rPr lang="en-US" sz="900" dirty="0">
                <a:solidFill>
                  <a:srgbClr val="8794AC"/>
                </a:solidFill>
                <a:latin typeface="Calibri" pitchFamily="34" charset="0"/>
                <a:ea typeface="Calibri" pitchFamily="34" charset="-122"/>
                <a:cs typeface="Calibri" pitchFamily="34" charset="-120"/>
              </a:rPr>
              <a:t>src/ — indexer et chercher</a:t>
            </a:r>
            <a:endParaRPr lang="en-US" sz="900" dirty="0"/>
          </a:p>
        </p:txBody>
      </p:sp>
      <p:sp>
        <p:nvSpPr>
          <p:cNvPr id="11" name="Text 8"/>
          <p:cNvSpPr txBox="1"/>
          <p:nvPr/>
        </p:nvSpPr>
        <p:spPr>
          <a:xfrm>
            <a:off x="4088282" y="1911096"/>
            <a:ext cx="292608" cy="256032"/>
          </a:xfrm>
          <a:prstGeom prst="rect">
            <a:avLst/>
          </a:prstGeom>
          <a:noFill/>
          <a:ln/>
        </p:spPr>
        <p:txBody>
          <a:bodyPr wrap="square" lIns="0" tIns="0" rIns="0" bIns="0" rtlCol="0" anchor="ctr"/>
          <a:lstStyle/>
          <a:p>
            <a:pPr algn="ctr" indent="0" marL="0">
              <a:buNone/>
            </a:pPr>
            <a:r>
              <a:rPr lang="en-US" sz="1000" dirty="0">
                <a:solidFill>
                  <a:srgbClr val="C3CCDC"/>
                </a:solidFill>
                <a:latin typeface="Calibri" pitchFamily="34" charset="0"/>
                <a:ea typeface="Calibri" pitchFamily="34" charset="-122"/>
                <a:cs typeface="Calibri" pitchFamily="34" charset="-120"/>
              </a:rPr>
              <a:t>▶</a:t>
            </a:r>
            <a:endParaRPr lang="en-US" sz="1000" dirty="0"/>
          </a:p>
        </p:txBody>
      </p:sp>
      <p:sp>
        <p:nvSpPr>
          <p:cNvPr id="12" name="Shape 9"/>
          <p:cNvSpPr/>
          <p:nvPr/>
        </p:nvSpPr>
        <p:spPr>
          <a:xfrm>
            <a:off x="4380890" y="1572768"/>
            <a:ext cx="3429914" cy="932688"/>
          </a:xfrm>
          <a:prstGeom prst="roundRect">
            <a:avLst>
              <a:gd name="adj" fmla="val 5882"/>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3" name="Shape 10"/>
          <p:cNvSpPr/>
          <p:nvPr/>
        </p:nvSpPr>
        <p:spPr>
          <a:xfrm>
            <a:off x="4536338" y="1746504"/>
            <a:ext cx="100584" cy="100584"/>
          </a:xfrm>
          <a:prstGeom prst="ellipse">
            <a:avLst/>
          </a:prstGeom>
          <a:solidFill>
            <a:srgbClr val="4338CA"/>
          </a:solidFill>
          <a:ln w="12700">
            <a:solidFill>
              <a:srgbClr val="333333"/>
            </a:solidFill>
            <a:prstDash val="solid"/>
          </a:ln>
        </p:spPr>
      </p:sp>
      <p:sp>
        <p:nvSpPr>
          <p:cNvPr id="14" name="Text 11"/>
          <p:cNvSpPr txBox="1"/>
          <p:nvPr/>
        </p:nvSpPr>
        <p:spPr>
          <a:xfrm>
            <a:off x="4691786" y="1673352"/>
            <a:ext cx="2972714" cy="182880"/>
          </a:xfrm>
          <a:prstGeom prst="rect">
            <a:avLst/>
          </a:prstGeom>
          <a:noFill/>
          <a:ln/>
        </p:spPr>
        <p:txBody>
          <a:bodyPr wrap="square" lIns="0" tIns="0" rIns="0" bIns="0" rtlCol="0" anchor="ctr"/>
          <a:lstStyle/>
          <a:p>
            <a:pPr indent="0" marL="0">
              <a:buNone/>
            </a:pPr>
            <a:r>
              <a:rPr lang="en-US" sz="800" b="1" dirty="0">
                <a:solidFill>
                  <a:srgbClr val="4338CA"/>
                </a:solidFill>
                <a:latin typeface="Consolas" pitchFamily="34" charset="0"/>
                <a:ea typeface="Consolas" pitchFamily="34" charset="-122"/>
                <a:cs typeface="Consolas" pitchFamily="34" charset="-120"/>
              </a:rPr>
              <a:t>service</a:t>
            </a:r>
            <a:endParaRPr lang="en-US" sz="800" dirty="0"/>
          </a:p>
        </p:txBody>
      </p:sp>
      <p:sp>
        <p:nvSpPr>
          <p:cNvPr id="15" name="Text 12"/>
          <p:cNvSpPr txBox="1"/>
          <p:nvPr/>
        </p:nvSpPr>
        <p:spPr>
          <a:xfrm>
            <a:off x="4536338" y="1883664"/>
            <a:ext cx="3119018" cy="256032"/>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FastAPI</a:t>
            </a:r>
            <a:endParaRPr lang="en-US" sz="1150" dirty="0"/>
          </a:p>
        </p:txBody>
      </p:sp>
      <p:sp>
        <p:nvSpPr>
          <p:cNvPr id="16" name="Text 13"/>
          <p:cNvSpPr txBox="1"/>
          <p:nvPr/>
        </p:nvSpPr>
        <p:spPr>
          <a:xfrm>
            <a:off x="4536338" y="2139696"/>
            <a:ext cx="3119018" cy="256032"/>
          </a:xfrm>
          <a:prstGeom prst="rect">
            <a:avLst/>
          </a:prstGeom>
          <a:noFill/>
          <a:ln/>
        </p:spPr>
        <p:txBody>
          <a:bodyPr wrap="square" lIns="0" tIns="0" rIns="0" bIns="0" rtlCol="0" anchor="t"/>
          <a:lstStyle/>
          <a:p>
            <a:pPr indent="0" marL="0">
              <a:lnSpc>
                <a:spcPct val="108000"/>
              </a:lnSpc>
              <a:buNone/>
            </a:pPr>
            <a:r>
              <a:rPr lang="en-US" sz="900" dirty="0">
                <a:solidFill>
                  <a:srgbClr val="8794AC"/>
                </a:solidFill>
                <a:latin typeface="Calibri" pitchFamily="34" charset="0"/>
                <a:ea typeface="Calibri" pitchFamily="34" charset="-122"/>
                <a:cs typeface="Calibri" pitchFamily="34" charset="-120"/>
              </a:rPr>
              <a:t>index chargé une seule fois</a:t>
            </a:r>
            <a:endParaRPr lang="en-US" sz="900" dirty="0"/>
          </a:p>
        </p:txBody>
      </p:sp>
      <p:sp>
        <p:nvSpPr>
          <p:cNvPr id="17" name="Text 14"/>
          <p:cNvSpPr txBox="1"/>
          <p:nvPr/>
        </p:nvSpPr>
        <p:spPr>
          <a:xfrm>
            <a:off x="7810805" y="1911096"/>
            <a:ext cx="292608" cy="256032"/>
          </a:xfrm>
          <a:prstGeom prst="rect">
            <a:avLst/>
          </a:prstGeom>
          <a:noFill/>
          <a:ln/>
        </p:spPr>
        <p:txBody>
          <a:bodyPr wrap="square" lIns="0" tIns="0" rIns="0" bIns="0" rtlCol="0" anchor="ctr"/>
          <a:lstStyle/>
          <a:p>
            <a:pPr algn="ctr" indent="0" marL="0">
              <a:buNone/>
            </a:pPr>
            <a:r>
              <a:rPr lang="en-US" sz="1000" dirty="0">
                <a:solidFill>
                  <a:srgbClr val="C3CCDC"/>
                </a:solidFill>
                <a:latin typeface="Calibri" pitchFamily="34" charset="0"/>
                <a:ea typeface="Calibri" pitchFamily="34" charset="-122"/>
                <a:cs typeface="Calibri" pitchFamily="34" charset="-120"/>
              </a:rPr>
              <a:t>▶</a:t>
            </a:r>
            <a:endParaRPr lang="en-US" sz="1000" dirty="0"/>
          </a:p>
        </p:txBody>
      </p:sp>
      <p:sp>
        <p:nvSpPr>
          <p:cNvPr id="18" name="Shape 15"/>
          <p:cNvSpPr/>
          <p:nvPr/>
        </p:nvSpPr>
        <p:spPr>
          <a:xfrm>
            <a:off x="8103413" y="1572768"/>
            <a:ext cx="3429914" cy="932688"/>
          </a:xfrm>
          <a:prstGeom prst="roundRect">
            <a:avLst>
              <a:gd name="adj" fmla="val 5882"/>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9" name="Shape 16"/>
          <p:cNvSpPr/>
          <p:nvPr/>
        </p:nvSpPr>
        <p:spPr>
          <a:xfrm>
            <a:off x="8258861" y="1746504"/>
            <a:ext cx="100584" cy="100584"/>
          </a:xfrm>
          <a:prstGeom prst="ellipse">
            <a:avLst/>
          </a:prstGeom>
          <a:solidFill>
            <a:srgbClr val="4338CA"/>
          </a:solidFill>
          <a:ln w="12700">
            <a:solidFill>
              <a:srgbClr val="333333"/>
            </a:solidFill>
            <a:prstDash val="solid"/>
          </a:ln>
        </p:spPr>
      </p:sp>
      <p:sp>
        <p:nvSpPr>
          <p:cNvPr id="20" name="Text 17"/>
          <p:cNvSpPr txBox="1"/>
          <p:nvPr/>
        </p:nvSpPr>
        <p:spPr>
          <a:xfrm>
            <a:off x="8414309" y="1673352"/>
            <a:ext cx="2972714" cy="182880"/>
          </a:xfrm>
          <a:prstGeom prst="rect">
            <a:avLst/>
          </a:prstGeom>
          <a:noFill/>
          <a:ln/>
        </p:spPr>
        <p:txBody>
          <a:bodyPr wrap="square" lIns="0" tIns="0" rIns="0" bIns="0" rtlCol="0" anchor="ctr"/>
          <a:lstStyle/>
          <a:p>
            <a:pPr indent="0" marL="0">
              <a:buNone/>
            </a:pPr>
            <a:r>
              <a:rPr lang="en-US" sz="800" b="1" dirty="0">
                <a:solidFill>
                  <a:srgbClr val="4338CA"/>
                </a:solidFill>
                <a:latin typeface="Consolas" pitchFamily="34" charset="0"/>
                <a:ea typeface="Consolas" pitchFamily="34" charset="-122"/>
                <a:cs typeface="Consolas" pitchFamily="34" charset="-120"/>
              </a:rPr>
              <a:t>client</a:t>
            </a:r>
            <a:endParaRPr lang="en-US" sz="800" dirty="0"/>
          </a:p>
        </p:txBody>
      </p:sp>
      <p:sp>
        <p:nvSpPr>
          <p:cNvPr id="21" name="Text 18"/>
          <p:cNvSpPr txBox="1"/>
          <p:nvPr/>
        </p:nvSpPr>
        <p:spPr>
          <a:xfrm>
            <a:off x="8258861" y="1883664"/>
            <a:ext cx="3119018" cy="256032"/>
          </a:xfrm>
          <a:prstGeom prst="rect">
            <a:avLst/>
          </a:prstGeom>
          <a:noFill/>
          <a:ln/>
        </p:spPr>
        <p:txBody>
          <a:bodyPr wrap="square" lIns="0" tIns="0" rIns="0" bIns="0" rtlCol="0" anchor="t"/>
          <a:lstStyle/>
          <a:p>
            <a:pPr indent="0" marL="0">
              <a:buNone/>
            </a:pPr>
            <a:r>
              <a:rPr lang="en-US" sz="1150" b="1" dirty="0">
                <a:solidFill>
                  <a:srgbClr val="0F172A"/>
                </a:solidFill>
                <a:latin typeface="Calibri" pitchFamily="34" charset="0"/>
                <a:ea typeface="Calibri" pitchFamily="34" charset="-122"/>
                <a:cs typeface="Calibri" pitchFamily="34" charset="-120"/>
              </a:rPr>
              <a:t>Streamlit</a:t>
            </a:r>
            <a:endParaRPr lang="en-US" sz="1150" dirty="0"/>
          </a:p>
        </p:txBody>
      </p:sp>
      <p:sp>
        <p:nvSpPr>
          <p:cNvPr id="22" name="Text 19"/>
          <p:cNvSpPr txBox="1"/>
          <p:nvPr/>
        </p:nvSpPr>
        <p:spPr>
          <a:xfrm>
            <a:off x="8258861" y="2139696"/>
            <a:ext cx="3119018" cy="256032"/>
          </a:xfrm>
          <a:prstGeom prst="rect">
            <a:avLst/>
          </a:prstGeom>
          <a:noFill/>
          <a:ln/>
        </p:spPr>
        <p:txBody>
          <a:bodyPr wrap="square" lIns="0" tIns="0" rIns="0" bIns="0" rtlCol="0" anchor="t"/>
          <a:lstStyle/>
          <a:p>
            <a:pPr indent="0" marL="0">
              <a:lnSpc>
                <a:spcPct val="108000"/>
              </a:lnSpc>
              <a:buNone/>
            </a:pPr>
            <a:r>
              <a:rPr lang="en-US" sz="900" dirty="0">
                <a:solidFill>
                  <a:srgbClr val="8794AC"/>
                </a:solidFill>
                <a:latin typeface="Calibri" pitchFamily="34" charset="0"/>
                <a:ea typeface="Calibri" pitchFamily="34" charset="-122"/>
                <a:cs typeface="Calibri" pitchFamily="34" charset="-120"/>
              </a:rPr>
              <a:t>n'appelle que des routes HTTP</a:t>
            </a:r>
            <a:endParaRPr lang="en-US" sz="900" dirty="0"/>
          </a:p>
        </p:txBody>
      </p:sp>
      <p:sp>
        <p:nvSpPr>
          <p:cNvPr id="23" name="Text 20"/>
          <p:cNvSpPr txBox="1"/>
          <p:nvPr/>
        </p:nvSpPr>
        <p:spPr>
          <a:xfrm>
            <a:off x="658368" y="2743200"/>
            <a:ext cx="10874959"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Cinq vues, dans l'ordre d'une soutenance</a:t>
            </a:r>
            <a:endParaRPr lang="en-US" sz="1250" dirty="0"/>
          </a:p>
        </p:txBody>
      </p:sp>
      <p:sp>
        <p:nvSpPr>
          <p:cNvPr id="24" name="Shape 21"/>
          <p:cNvSpPr/>
          <p:nvPr/>
        </p:nvSpPr>
        <p:spPr>
          <a:xfrm>
            <a:off x="658368" y="3072384"/>
            <a:ext cx="1999427" cy="1207008"/>
          </a:xfrm>
          <a:prstGeom prst="roundRect">
            <a:avLst>
              <a:gd name="adj" fmla="val 5303"/>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25" name="Shape 22"/>
          <p:cNvSpPr/>
          <p:nvPr/>
        </p:nvSpPr>
        <p:spPr>
          <a:xfrm>
            <a:off x="896112" y="3287268"/>
            <a:ext cx="105156" cy="105156"/>
          </a:xfrm>
          <a:prstGeom prst="ellipse">
            <a:avLst/>
          </a:prstGeom>
          <a:solidFill>
            <a:srgbClr val="7C3AED"/>
          </a:solidFill>
          <a:ln w="12700">
            <a:solidFill>
              <a:srgbClr val="333333"/>
            </a:solidFill>
            <a:prstDash val="solid"/>
          </a:ln>
        </p:spPr>
      </p:sp>
      <p:sp>
        <p:nvSpPr>
          <p:cNvPr id="26" name="Text 23"/>
          <p:cNvSpPr txBox="1"/>
          <p:nvPr/>
        </p:nvSpPr>
        <p:spPr>
          <a:xfrm>
            <a:off x="1078992" y="3236976"/>
            <a:ext cx="1341059" cy="201168"/>
          </a:xfrm>
          <a:prstGeom prst="rect">
            <a:avLst/>
          </a:prstGeom>
          <a:noFill/>
          <a:ln/>
        </p:spPr>
        <p:txBody>
          <a:bodyPr wrap="square" lIns="0" tIns="0" rIns="0" bIns="0" rtlCol="0" anchor="ctr"/>
          <a:lstStyle/>
          <a:p>
            <a:pPr indent="0" marL="0">
              <a:buNone/>
            </a:pPr>
            <a:r>
              <a:rPr lang="en-US" sz="850" b="1" spc="110" kern="0" dirty="0">
                <a:solidFill>
                  <a:srgbClr val="7C3AED"/>
                </a:solidFill>
                <a:latin typeface="Calibri" pitchFamily="34" charset="0"/>
                <a:ea typeface="Calibri" pitchFamily="34" charset="-122"/>
                <a:cs typeface="Calibri" pitchFamily="34" charset="-120"/>
              </a:rPr>
              <a:t>01</a:t>
            </a:r>
            <a:endParaRPr lang="en-US" sz="850" dirty="0"/>
          </a:p>
        </p:txBody>
      </p:sp>
      <p:sp>
        <p:nvSpPr>
          <p:cNvPr id="27" name="Text 24"/>
          <p:cNvSpPr txBox="1"/>
          <p:nvPr/>
        </p:nvSpPr>
        <p:spPr>
          <a:xfrm>
            <a:off x="896112" y="3511296"/>
            <a:ext cx="1523939" cy="237744"/>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Recherche</a:t>
            </a:r>
            <a:endParaRPr lang="en-US" sz="1250" dirty="0"/>
          </a:p>
        </p:txBody>
      </p:sp>
      <p:sp>
        <p:nvSpPr>
          <p:cNvPr id="28" name="Text 25"/>
          <p:cNvSpPr txBox="1"/>
          <p:nvPr/>
        </p:nvSpPr>
        <p:spPr>
          <a:xfrm>
            <a:off x="896112" y="3822192"/>
            <a:ext cx="1523939" cy="292608"/>
          </a:xfrm>
          <a:prstGeom prst="rect">
            <a:avLst/>
          </a:prstGeom>
          <a:noFill/>
          <a:ln/>
        </p:spPr>
        <p:txBody>
          <a:bodyPr wrap="square" lIns="0" tIns="0" rIns="0" bIns="0" rtlCol="0" anchor="t"/>
          <a:lstStyle/>
          <a:p>
            <a:pPr indent="0" marL="0">
              <a:lnSpc>
                <a:spcPct val="120000"/>
              </a:lnSpc>
              <a:buNone/>
            </a:pPr>
            <a:r>
              <a:rPr lang="en-US" sz="950" dirty="0">
                <a:solidFill>
                  <a:srgbClr val="46536B"/>
                </a:solidFill>
                <a:latin typeface="Calibri" pitchFamily="34" charset="0"/>
                <a:ea typeface="Calibri" pitchFamily="34" charset="-122"/>
                <a:cs typeface="Calibri" pitchFamily="34" charset="-120"/>
              </a:rPr>
              <a:t>poser une question, filtrer, lire les résultats justifiés</a:t>
            </a:r>
            <a:endParaRPr lang="en-US" sz="950" dirty="0"/>
          </a:p>
        </p:txBody>
      </p:sp>
      <p:sp>
        <p:nvSpPr>
          <p:cNvPr id="29" name="Shape 26"/>
          <p:cNvSpPr/>
          <p:nvPr/>
        </p:nvSpPr>
        <p:spPr>
          <a:xfrm>
            <a:off x="2877251" y="3072384"/>
            <a:ext cx="1999427" cy="1207008"/>
          </a:xfrm>
          <a:prstGeom prst="roundRect">
            <a:avLst>
              <a:gd name="adj" fmla="val 5303"/>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30" name="Shape 27"/>
          <p:cNvSpPr/>
          <p:nvPr/>
        </p:nvSpPr>
        <p:spPr>
          <a:xfrm>
            <a:off x="3114995" y="3287268"/>
            <a:ext cx="105156" cy="105156"/>
          </a:xfrm>
          <a:prstGeom prst="ellipse">
            <a:avLst/>
          </a:prstGeom>
          <a:solidFill>
            <a:srgbClr val="C2740A"/>
          </a:solidFill>
          <a:ln w="12700">
            <a:solidFill>
              <a:srgbClr val="333333"/>
            </a:solidFill>
            <a:prstDash val="solid"/>
          </a:ln>
        </p:spPr>
      </p:sp>
      <p:sp>
        <p:nvSpPr>
          <p:cNvPr id="31" name="Text 28"/>
          <p:cNvSpPr txBox="1"/>
          <p:nvPr/>
        </p:nvSpPr>
        <p:spPr>
          <a:xfrm>
            <a:off x="3297875" y="3236976"/>
            <a:ext cx="1341059" cy="201168"/>
          </a:xfrm>
          <a:prstGeom prst="rect">
            <a:avLst/>
          </a:prstGeom>
          <a:noFill/>
          <a:ln/>
        </p:spPr>
        <p:txBody>
          <a:bodyPr wrap="square" lIns="0" tIns="0" rIns="0" bIns="0" rtlCol="0" anchor="ctr"/>
          <a:lstStyle/>
          <a:p>
            <a:pPr indent="0" marL="0">
              <a:buNone/>
            </a:pPr>
            <a:r>
              <a:rPr lang="en-US" sz="850" b="1" spc="110" kern="0" dirty="0">
                <a:solidFill>
                  <a:srgbClr val="C2740A"/>
                </a:solidFill>
                <a:latin typeface="Calibri" pitchFamily="34" charset="0"/>
                <a:ea typeface="Calibri" pitchFamily="34" charset="-122"/>
                <a:cs typeface="Calibri" pitchFamily="34" charset="-120"/>
              </a:rPr>
              <a:t>02</a:t>
            </a:r>
            <a:endParaRPr lang="en-US" sz="850" dirty="0"/>
          </a:p>
        </p:txBody>
      </p:sp>
      <p:sp>
        <p:nvSpPr>
          <p:cNvPr id="32" name="Text 29"/>
          <p:cNvSpPr txBox="1"/>
          <p:nvPr/>
        </p:nvSpPr>
        <p:spPr>
          <a:xfrm>
            <a:off x="3114995" y="3511296"/>
            <a:ext cx="1523939" cy="237744"/>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Duel</a:t>
            </a:r>
            <a:endParaRPr lang="en-US" sz="1250" dirty="0"/>
          </a:p>
        </p:txBody>
      </p:sp>
      <p:sp>
        <p:nvSpPr>
          <p:cNvPr id="33" name="Text 30"/>
          <p:cNvSpPr txBox="1"/>
          <p:nvPr/>
        </p:nvSpPr>
        <p:spPr>
          <a:xfrm>
            <a:off x="3114995" y="3822192"/>
            <a:ext cx="1523939" cy="292608"/>
          </a:xfrm>
          <a:prstGeom prst="rect">
            <a:avLst/>
          </a:prstGeom>
          <a:noFill/>
          <a:ln/>
        </p:spPr>
        <p:txBody>
          <a:bodyPr wrap="square" lIns="0" tIns="0" rIns="0" bIns="0" rtlCol="0" anchor="t"/>
          <a:lstStyle/>
          <a:p>
            <a:pPr indent="0" marL="0">
              <a:lnSpc>
                <a:spcPct val="120000"/>
              </a:lnSpc>
              <a:buNone/>
            </a:pPr>
            <a:r>
              <a:rPr lang="en-US" sz="950" dirty="0">
                <a:solidFill>
                  <a:srgbClr val="46536B"/>
                </a:solidFill>
                <a:latin typeface="Calibri" pitchFamily="34" charset="0"/>
                <a:ea typeface="Calibri" pitchFamily="34" charset="-122"/>
                <a:cs typeface="Calibri" pitchFamily="34" charset="-120"/>
              </a:rPr>
              <a:t>ce que chaque moteur est seul à trouver</a:t>
            </a:r>
            <a:endParaRPr lang="en-US" sz="950" dirty="0"/>
          </a:p>
        </p:txBody>
      </p:sp>
      <p:sp>
        <p:nvSpPr>
          <p:cNvPr id="34" name="Shape 31"/>
          <p:cNvSpPr/>
          <p:nvPr/>
        </p:nvSpPr>
        <p:spPr>
          <a:xfrm>
            <a:off x="5096134" y="3072384"/>
            <a:ext cx="1999427" cy="1207008"/>
          </a:xfrm>
          <a:prstGeom prst="roundRect">
            <a:avLst>
              <a:gd name="adj" fmla="val 5303"/>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35" name="Shape 32"/>
          <p:cNvSpPr/>
          <p:nvPr/>
        </p:nvSpPr>
        <p:spPr>
          <a:xfrm>
            <a:off x="5333878" y="3287268"/>
            <a:ext cx="105156" cy="105156"/>
          </a:xfrm>
          <a:prstGeom prst="ellipse">
            <a:avLst/>
          </a:prstGeom>
          <a:solidFill>
            <a:srgbClr val="047857"/>
          </a:solidFill>
          <a:ln w="12700">
            <a:solidFill>
              <a:srgbClr val="333333"/>
            </a:solidFill>
            <a:prstDash val="solid"/>
          </a:ln>
        </p:spPr>
      </p:sp>
      <p:sp>
        <p:nvSpPr>
          <p:cNvPr id="36" name="Text 33"/>
          <p:cNvSpPr txBox="1"/>
          <p:nvPr/>
        </p:nvSpPr>
        <p:spPr>
          <a:xfrm>
            <a:off x="5516758" y="3236976"/>
            <a:ext cx="1341059" cy="201168"/>
          </a:xfrm>
          <a:prstGeom prst="rect">
            <a:avLst/>
          </a:prstGeom>
          <a:noFill/>
          <a:ln/>
        </p:spPr>
        <p:txBody>
          <a:bodyPr wrap="square" lIns="0" tIns="0" rIns="0" bIns="0" rtlCol="0" anchor="ctr"/>
          <a:lstStyle/>
          <a:p>
            <a:pPr indent="0" marL="0">
              <a:buNone/>
            </a:pPr>
            <a:r>
              <a:rPr lang="en-US" sz="850" b="1" spc="110" kern="0" dirty="0">
                <a:solidFill>
                  <a:srgbClr val="047857"/>
                </a:solidFill>
                <a:latin typeface="Calibri" pitchFamily="34" charset="0"/>
                <a:ea typeface="Calibri" pitchFamily="34" charset="-122"/>
                <a:cs typeface="Calibri" pitchFamily="34" charset="-120"/>
              </a:rPr>
              <a:t>03</a:t>
            </a:r>
            <a:endParaRPr lang="en-US" sz="850" dirty="0"/>
          </a:p>
        </p:txBody>
      </p:sp>
      <p:sp>
        <p:nvSpPr>
          <p:cNvPr id="37" name="Text 34"/>
          <p:cNvSpPr txBox="1"/>
          <p:nvPr/>
        </p:nvSpPr>
        <p:spPr>
          <a:xfrm>
            <a:off x="5333878" y="3511296"/>
            <a:ext cx="1523939" cy="237744"/>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Démonstration</a:t>
            </a:r>
            <a:endParaRPr lang="en-US" sz="1250" dirty="0"/>
          </a:p>
        </p:txBody>
      </p:sp>
      <p:sp>
        <p:nvSpPr>
          <p:cNvPr id="38" name="Text 35"/>
          <p:cNvSpPr txBox="1"/>
          <p:nvPr/>
        </p:nvSpPr>
        <p:spPr>
          <a:xfrm>
            <a:off x="5333878" y="3822192"/>
            <a:ext cx="1523939" cy="292608"/>
          </a:xfrm>
          <a:prstGeom prst="rect">
            <a:avLst/>
          </a:prstGeom>
          <a:noFill/>
          <a:ln/>
        </p:spPr>
        <p:txBody>
          <a:bodyPr wrap="square" lIns="0" tIns="0" rIns="0" bIns="0" rtlCol="0" anchor="t"/>
          <a:lstStyle/>
          <a:p>
            <a:pPr indent="0" marL="0">
              <a:lnSpc>
                <a:spcPct val="120000"/>
              </a:lnSpc>
              <a:buNone/>
            </a:pPr>
            <a:r>
              <a:rPr lang="en-US" sz="950" dirty="0">
                <a:solidFill>
                  <a:srgbClr val="46536B"/>
                </a:solidFill>
                <a:latin typeface="Calibri" pitchFamily="34" charset="0"/>
                <a:ea typeface="Calibri" pitchFamily="34" charset="-122"/>
                <a:cs typeface="Calibri" pitchFamily="34" charset="-120"/>
              </a:rPr>
              <a:t>le scénario multilingue déroulé</a:t>
            </a:r>
            <a:endParaRPr lang="en-US" sz="950" dirty="0"/>
          </a:p>
        </p:txBody>
      </p:sp>
      <p:sp>
        <p:nvSpPr>
          <p:cNvPr id="39" name="Shape 36"/>
          <p:cNvSpPr/>
          <p:nvPr/>
        </p:nvSpPr>
        <p:spPr>
          <a:xfrm>
            <a:off x="7315017" y="3072384"/>
            <a:ext cx="1999427" cy="1207008"/>
          </a:xfrm>
          <a:prstGeom prst="roundRect">
            <a:avLst>
              <a:gd name="adj" fmla="val 5303"/>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40" name="Shape 37"/>
          <p:cNvSpPr/>
          <p:nvPr/>
        </p:nvSpPr>
        <p:spPr>
          <a:xfrm>
            <a:off x="7552761" y="3287268"/>
            <a:ext cx="105156" cy="105156"/>
          </a:xfrm>
          <a:prstGeom prst="ellipse">
            <a:avLst/>
          </a:prstGeom>
          <a:solidFill>
            <a:srgbClr val="4338CA"/>
          </a:solidFill>
          <a:ln w="12700">
            <a:solidFill>
              <a:srgbClr val="333333"/>
            </a:solidFill>
            <a:prstDash val="solid"/>
          </a:ln>
        </p:spPr>
      </p:sp>
      <p:sp>
        <p:nvSpPr>
          <p:cNvPr id="41" name="Text 38"/>
          <p:cNvSpPr txBox="1"/>
          <p:nvPr/>
        </p:nvSpPr>
        <p:spPr>
          <a:xfrm>
            <a:off x="7735641" y="3236976"/>
            <a:ext cx="1341059" cy="201168"/>
          </a:xfrm>
          <a:prstGeom prst="rect">
            <a:avLst/>
          </a:prstGeom>
          <a:noFill/>
          <a:ln/>
        </p:spPr>
        <p:txBody>
          <a:bodyPr wrap="square" lIns="0" tIns="0" rIns="0" bIns="0" rtlCol="0" anchor="ctr"/>
          <a:lstStyle/>
          <a:p>
            <a:pPr indent="0" marL="0">
              <a:buNone/>
            </a:pPr>
            <a:r>
              <a:rPr lang="en-US" sz="850" b="1" spc="110" kern="0" dirty="0">
                <a:solidFill>
                  <a:srgbClr val="4338CA"/>
                </a:solidFill>
                <a:latin typeface="Calibri" pitchFamily="34" charset="0"/>
                <a:ea typeface="Calibri" pitchFamily="34" charset="-122"/>
                <a:cs typeface="Calibri" pitchFamily="34" charset="-120"/>
              </a:rPr>
              <a:t>04</a:t>
            </a:r>
            <a:endParaRPr lang="en-US" sz="850" dirty="0"/>
          </a:p>
        </p:txBody>
      </p:sp>
      <p:sp>
        <p:nvSpPr>
          <p:cNvPr id="42" name="Text 39"/>
          <p:cNvSpPr txBox="1"/>
          <p:nvPr/>
        </p:nvSpPr>
        <p:spPr>
          <a:xfrm>
            <a:off x="7552761" y="3511296"/>
            <a:ext cx="1523939" cy="237744"/>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Évaluation</a:t>
            </a:r>
            <a:endParaRPr lang="en-US" sz="1250" dirty="0"/>
          </a:p>
        </p:txBody>
      </p:sp>
      <p:sp>
        <p:nvSpPr>
          <p:cNvPr id="43" name="Text 40"/>
          <p:cNvSpPr txBox="1"/>
          <p:nvPr/>
        </p:nvSpPr>
        <p:spPr>
          <a:xfrm>
            <a:off x="7552761" y="3822192"/>
            <a:ext cx="1523939" cy="292608"/>
          </a:xfrm>
          <a:prstGeom prst="rect">
            <a:avLst/>
          </a:prstGeom>
          <a:noFill/>
          <a:ln/>
        </p:spPr>
        <p:txBody>
          <a:bodyPr wrap="square" lIns="0" tIns="0" rIns="0" bIns="0" rtlCol="0" anchor="t"/>
          <a:lstStyle/>
          <a:p>
            <a:pPr indent="0" marL="0">
              <a:lnSpc>
                <a:spcPct val="120000"/>
              </a:lnSpc>
              <a:buNone/>
            </a:pPr>
            <a:r>
              <a:rPr lang="en-US" sz="950" dirty="0">
                <a:solidFill>
                  <a:srgbClr val="46536B"/>
                </a:solidFill>
                <a:latin typeface="Calibri" pitchFamily="34" charset="0"/>
                <a:ea typeface="Calibri" pitchFamily="34" charset="-122"/>
                <a:cs typeface="Calibri" pitchFamily="34" charset="-120"/>
              </a:rPr>
              <a:t>les mesures, en graphiques</a:t>
            </a:r>
            <a:endParaRPr lang="en-US" sz="950" dirty="0"/>
          </a:p>
        </p:txBody>
      </p:sp>
      <p:sp>
        <p:nvSpPr>
          <p:cNvPr id="44" name="Shape 41"/>
          <p:cNvSpPr/>
          <p:nvPr/>
        </p:nvSpPr>
        <p:spPr>
          <a:xfrm>
            <a:off x="9533900" y="3072384"/>
            <a:ext cx="1999427" cy="1207008"/>
          </a:xfrm>
          <a:prstGeom prst="roundRect">
            <a:avLst>
              <a:gd name="adj" fmla="val 5303"/>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45" name="Shape 42"/>
          <p:cNvSpPr/>
          <p:nvPr/>
        </p:nvSpPr>
        <p:spPr>
          <a:xfrm>
            <a:off x="9771644" y="3287268"/>
            <a:ext cx="105156" cy="105156"/>
          </a:xfrm>
          <a:prstGeom prst="ellipse">
            <a:avLst/>
          </a:prstGeom>
          <a:solidFill>
            <a:srgbClr val="4338CA"/>
          </a:solidFill>
          <a:ln w="12700">
            <a:solidFill>
              <a:srgbClr val="333333"/>
            </a:solidFill>
            <a:prstDash val="solid"/>
          </a:ln>
        </p:spPr>
      </p:sp>
      <p:sp>
        <p:nvSpPr>
          <p:cNvPr id="46" name="Text 43"/>
          <p:cNvSpPr txBox="1"/>
          <p:nvPr/>
        </p:nvSpPr>
        <p:spPr>
          <a:xfrm>
            <a:off x="9954524" y="3236976"/>
            <a:ext cx="1341059" cy="201168"/>
          </a:xfrm>
          <a:prstGeom prst="rect">
            <a:avLst/>
          </a:prstGeom>
          <a:noFill/>
          <a:ln/>
        </p:spPr>
        <p:txBody>
          <a:bodyPr wrap="square" lIns="0" tIns="0" rIns="0" bIns="0" rtlCol="0" anchor="ctr"/>
          <a:lstStyle/>
          <a:p>
            <a:pPr indent="0" marL="0">
              <a:buNone/>
            </a:pPr>
            <a:r>
              <a:rPr lang="en-US" sz="850" b="1" spc="110" kern="0" dirty="0">
                <a:solidFill>
                  <a:srgbClr val="4338CA"/>
                </a:solidFill>
                <a:latin typeface="Calibri" pitchFamily="34" charset="0"/>
                <a:ea typeface="Calibri" pitchFamily="34" charset="-122"/>
                <a:cs typeface="Calibri" pitchFamily="34" charset="-120"/>
              </a:rPr>
              <a:t>05</a:t>
            </a:r>
            <a:endParaRPr lang="en-US" sz="850" dirty="0"/>
          </a:p>
        </p:txBody>
      </p:sp>
      <p:sp>
        <p:nvSpPr>
          <p:cNvPr id="47" name="Text 44"/>
          <p:cNvSpPr txBox="1"/>
          <p:nvPr/>
        </p:nvSpPr>
        <p:spPr>
          <a:xfrm>
            <a:off x="9771644" y="3511296"/>
            <a:ext cx="1523939" cy="237744"/>
          </a:xfrm>
          <a:prstGeom prst="rect">
            <a:avLst/>
          </a:prstGeom>
          <a:noFill/>
          <a:ln/>
        </p:spPr>
        <p:txBody>
          <a:bodyPr wrap="square" lIns="0" tIns="0" rIns="0" bIns="0" rtlCol="0" anchor="t"/>
          <a:lstStyle/>
          <a:p>
            <a:pPr indent="0" marL="0">
              <a:buNone/>
            </a:pPr>
            <a:r>
              <a:rPr lang="en-US" sz="1250" b="1" dirty="0">
                <a:solidFill>
                  <a:srgbClr val="0F172A"/>
                </a:solidFill>
                <a:latin typeface="Calibri" pitchFamily="34" charset="0"/>
                <a:ea typeface="Calibri" pitchFamily="34" charset="-122"/>
                <a:cs typeface="Calibri" pitchFamily="34" charset="-120"/>
              </a:rPr>
              <a:t>Architecture</a:t>
            </a:r>
            <a:endParaRPr lang="en-US" sz="1250" dirty="0"/>
          </a:p>
        </p:txBody>
      </p:sp>
      <p:sp>
        <p:nvSpPr>
          <p:cNvPr id="48" name="Text 45"/>
          <p:cNvSpPr txBox="1"/>
          <p:nvPr/>
        </p:nvSpPr>
        <p:spPr>
          <a:xfrm>
            <a:off x="9771644" y="3822192"/>
            <a:ext cx="1523939" cy="292608"/>
          </a:xfrm>
          <a:prstGeom prst="rect">
            <a:avLst/>
          </a:prstGeom>
          <a:noFill/>
          <a:ln/>
        </p:spPr>
        <p:txBody>
          <a:bodyPr wrap="square" lIns="0" tIns="0" rIns="0" bIns="0" rtlCol="0" anchor="t"/>
          <a:lstStyle/>
          <a:p>
            <a:pPr indent="0" marL="0">
              <a:lnSpc>
                <a:spcPct val="120000"/>
              </a:lnSpc>
              <a:buNone/>
            </a:pPr>
            <a:r>
              <a:rPr lang="en-US" sz="950" dirty="0">
                <a:solidFill>
                  <a:srgbClr val="46536B"/>
                </a:solidFill>
                <a:latin typeface="Calibri" pitchFamily="34" charset="0"/>
                <a:ea typeface="Calibri" pitchFamily="34" charset="-122"/>
                <a:cs typeface="Calibri" pitchFamily="34" charset="-120"/>
              </a:rPr>
              <a:t>les deux chaînes de traitement</a:t>
            </a:r>
            <a:endParaRPr lang="en-US" sz="950" dirty="0"/>
          </a:p>
        </p:txBody>
      </p:sp>
      <p:sp>
        <p:nvSpPr>
          <p:cNvPr id="49" name="Shape 46"/>
          <p:cNvSpPr/>
          <p:nvPr/>
        </p:nvSpPr>
        <p:spPr>
          <a:xfrm>
            <a:off x="658368" y="4480560"/>
            <a:ext cx="6583680" cy="1371600"/>
          </a:xfrm>
          <a:prstGeom prst="roundRect">
            <a:avLst>
              <a:gd name="adj" fmla="val 4667"/>
            </a:avLst>
          </a:prstGeom>
          <a:solidFill>
            <a:srgbClr val="F4EFFE"/>
          </a:solidFill>
          <a:ln w="12700">
            <a:solidFill>
              <a:srgbClr val="7C3AED"/>
            </a:solidFill>
            <a:prstDash val="solid"/>
          </a:ln>
          <a:effectLst>
            <a:outerShdw sx="100000" sy="100000" kx="0" ky="0" algn="bl" rotWithShape="0" blurRad="101600" dist="25400" dir="5400000">
              <a:srgbClr val="A3AFC4">
                <a:alpha val="22000"/>
              </a:srgbClr>
            </a:outerShdw>
          </a:effectLst>
        </p:spPr>
      </p:sp>
      <p:sp>
        <p:nvSpPr>
          <p:cNvPr id="50" name="Shape 47"/>
          <p:cNvSpPr/>
          <p:nvPr/>
        </p:nvSpPr>
        <p:spPr>
          <a:xfrm>
            <a:off x="896112" y="4690872"/>
            <a:ext cx="109728" cy="109728"/>
          </a:xfrm>
          <a:prstGeom prst="ellipse">
            <a:avLst/>
          </a:prstGeom>
          <a:solidFill>
            <a:srgbClr val="7C3AED"/>
          </a:solidFill>
          <a:ln w="12700">
            <a:solidFill>
              <a:srgbClr val="333333"/>
            </a:solidFill>
            <a:prstDash val="solid"/>
          </a:ln>
        </p:spPr>
      </p:sp>
      <p:sp>
        <p:nvSpPr>
          <p:cNvPr id="51" name="Text 48"/>
          <p:cNvSpPr txBox="1"/>
          <p:nvPr/>
        </p:nvSpPr>
        <p:spPr>
          <a:xfrm>
            <a:off x="1078992" y="4636008"/>
            <a:ext cx="5925312" cy="219456"/>
          </a:xfrm>
          <a:prstGeom prst="rect">
            <a:avLst/>
          </a:prstGeom>
          <a:noFill/>
          <a:ln/>
        </p:spPr>
        <p:txBody>
          <a:bodyPr wrap="square" lIns="0" tIns="0" rIns="0" bIns="0" rtlCol="0" anchor="ctr"/>
          <a:lstStyle/>
          <a:p>
            <a:pPr indent="0" marL="0">
              <a:buNone/>
            </a:pPr>
            <a:r>
              <a:rPr lang="en-US" sz="850" b="1" spc="110" kern="0" dirty="0">
                <a:solidFill>
                  <a:srgbClr val="7C3AED"/>
                </a:solidFill>
                <a:latin typeface="Calibri" pitchFamily="34" charset="0"/>
                <a:ea typeface="Calibri" pitchFamily="34" charset="-122"/>
                <a:cs typeface="Calibri" pitchFamily="34" charset="-120"/>
              </a:rPr>
              <a:t>CHAQUE RÉSULTAT PORTE SA JUSTIFICATION</a:t>
            </a:r>
            <a:endParaRPr lang="en-US" sz="850" dirty="0"/>
          </a:p>
        </p:txBody>
      </p:sp>
      <p:sp>
        <p:nvSpPr>
          <p:cNvPr id="52" name="Text 49"/>
          <p:cNvSpPr txBox="1"/>
          <p:nvPr/>
        </p:nvSpPr>
        <p:spPr>
          <a:xfrm>
            <a:off x="896112" y="4937760"/>
            <a:ext cx="6108192" cy="768096"/>
          </a:xfrm>
          <a:prstGeom prst="rect">
            <a:avLst/>
          </a:prstGeom>
          <a:noFill/>
          <a:ln/>
        </p:spPr>
        <p:txBody>
          <a:bodyPr wrap="square" lIns="0" tIns="0" rIns="0" bIns="0" rtlCol="0" anchor="t"/>
          <a:lstStyle/>
          <a:p>
            <a:pPr indent="0" marL="0">
              <a:lnSpc>
                <a:spcPct val="124000"/>
              </a:lnSpc>
              <a:buNone/>
            </a:pPr>
            <a:r>
              <a:rPr lang="en-US" sz="1150" dirty="0">
                <a:solidFill>
                  <a:srgbClr val="0F172A"/>
                </a:solidFill>
                <a:latin typeface="Calibri" pitchFamily="34" charset="0"/>
                <a:ea typeface="Calibri" pitchFamily="34" charset="-122"/>
                <a:cs typeface="Calibri" pitchFamily="34" charset="-120"/>
              </a:rPr>
              <a:t>Les mots partagés sont surlignés. La phrase du résumé la plus proche de la question est mise en évidence : le modèle désigne lui-même ce qui a déclenché le rapprochement.</a:t>
            </a:r>
            <a:endParaRPr lang="en-US" sz="1150" dirty="0"/>
          </a:p>
        </p:txBody>
      </p:sp>
      <p:sp>
        <p:nvSpPr>
          <p:cNvPr id="53" name="Shape 50"/>
          <p:cNvSpPr/>
          <p:nvPr/>
        </p:nvSpPr>
        <p:spPr>
          <a:xfrm>
            <a:off x="7653528" y="4480560"/>
            <a:ext cx="3877056" cy="1371600"/>
          </a:xfrm>
          <a:prstGeom prst="roundRect">
            <a:avLst>
              <a:gd name="adj" fmla="val 4667"/>
            </a:avLst>
          </a:prstGeom>
          <a:solidFill>
            <a:srgbClr val="FDF0F3"/>
          </a:solidFill>
          <a:ln w="12700">
            <a:solidFill>
              <a:srgbClr val="BE123C"/>
            </a:solidFill>
            <a:prstDash val="solid"/>
          </a:ln>
          <a:effectLst>
            <a:outerShdw sx="100000" sy="100000" kx="0" ky="0" algn="bl" rotWithShape="0" blurRad="101600" dist="25400" dir="5400000">
              <a:srgbClr val="A3AFC4">
                <a:alpha val="22000"/>
              </a:srgbClr>
            </a:outerShdw>
          </a:effectLst>
        </p:spPr>
      </p:sp>
      <p:sp>
        <p:nvSpPr>
          <p:cNvPr id="54" name="Shape 51"/>
          <p:cNvSpPr/>
          <p:nvPr/>
        </p:nvSpPr>
        <p:spPr>
          <a:xfrm>
            <a:off x="7891272" y="4690872"/>
            <a:ext cx="109728" cy="109728"/>
          </a:xfrm>
          <a:prstGeom prst="ellipse">
            <a:avLst/>
          </a:prstGeom>
          <a:solidFill>
            <a:srgbClr val="BE123C"/>
          </a:solidFill>
          <a:ln w="12700">
            <a:solidFill>
              <a:srgbClr val="333333"/>
            </a:solidFill>
            <a:prstDash val="solid"/>
          </a:ln>
        </p:spPr>
      </p:sp>
      <p:sp>
        <p:nvSpPr>
          <p:cNvPr id="55" name="Text 52"/>
          <p:cNvSpPr txBox="1"/>
          <p:nvPr/>
        </p:nvSpPr>
        <p:spPr>
          <a:xfrm>
            <a:off x="8074152" y="4636008"/>
            <a:ext cx="3218688" cy="219456"/>
          </a:xfrm>
          <a:prstGeom prst="rect">
            <a:avLst/>
          </a:prstGeom>
          <a:noFill/>
          <a:ln/>
        </p:spPr>
        <p:txBody>
          <a:bodyPr wrap="square" lIns="0" tIns="0" rIns="0" bIns="0" rtlCol="0" anchor="ctr"/>
          <a:lstStyle/>
          <a:p>
            <a:pPr indent="0" marL="0">
              <a:buNone/>
            </a:pPr>
            <a:r>
              <a:rPr lang="en-US" sz="850" b="1" spc="110" kern="0" dirty="0">
                <a:solidFill>
                  <a:srgbClr val="BE123C"/>
                </a:solidFill>
                <a:latin typeface="Calibri" pitchFamily="34" charset="0"/>
                <a:ea typeface="Calibri" pitchFamily="34" charset="-122"/>
                <a:cs typeface="Calibri" pitchFamily="34" charset="-120"/>
              </a:rPr>
              <a:t>ET LE COÛT EST ASSUMÉ</a:t>
            </a:r>
            <a:endParaRPr lang="en-US" sz="850" dirty="0"/>
          </a:p>
        </p:txBody>
      </p:sp>
      <p:sp>
        <p:nvSpPr>
          <p:cNvPr id="56" name="Text 53"/>
          <p:cNvSpPr txBox="1"/>
          <p:nvPr/>
        </p:nvSpPr>
        <p:spPr>
          <a:xfrm>
            <a:off x="7891272" y="4937760"/>
            <a:ext cx="3401568" cy="768096"/>
          </a:xfrm>
          <a:prstGeom prst="rect">
            <a:avLst/>
          </a:prstGeom>
          <a:noFill/>
          <a:ln/>
        </p:spPr>
        <p:txBody>
          <a:bodyPr wrap="square" lIns="0" tIns="0" rIns="0" bIns="0" rtlCol="0" anchor="t"/>
          <a:lstStyle/>
          <a:p>
            <a:pPr indent="0" marL="0">
              <a:lnSpc>
                <a:spcPct val="124000"/>
              </a:lnSpc>
              <a:buNone/>
            </a:pPr>
            <a:r>
              <a:rPr lang="en-US" sz="1100" dirty="0">
                <a:solidFill>
                  <a:srgbClr val="0F172A"/>
                </a:solidFill>
                <a:latin typeface="Calibri" pitchFamily="34" charset="0"/>
                <a:ea typeface="Calibri" pitchFamily="34" charset="-122"/>
                <a:cs typeface="Calibri" pitchFamily="34" charset="-120"/>
              </a:rPr>
              <a:t>L'explicabilité coûte environ 9× la recherche sur CPU. D'où le plafond : elle n'est calculée que pour les 5 premiers résultats.</a:t>
            </a:r>
            <a:endParaRPr lang="en-US" sz="1100" dirty="0"/>
          </a:p>
        </p:txBody>
      </p:sp>
      <p:sp>
        <p:nvSpPr>
          <p:cNvPr id="57" name="Text 54"/>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L'application</a:t>
            </a:r>
            <a:endParaRPr lang="en-US" sz="900" dirty="0"/>
          </a:p>
        </p:txBody>
      </p:sp>
      <p:sp>
        <p:nvSpPr>
          <p:cNvPr id="58" name="Text 55"/>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07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4338C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4338CA"/>
                </a:solidFill>
                <a:latin typeface="Calibri" pitchFamily="34" charset="0"/>
                <a:ea typeface="Calibri" pitchFamily="34" charset="-122"/>
                <a:cs typeface="Calibri" pitchFamily="34" charset="-120"/>
              </a:rPr>
              <a:t>ÉVALUATION</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Trois protocoles, aucune annotation manuelle</a:t>
            </a:r>
            <a:endParaRPr lang="en-US" sz="3300" dirty="0"/>
          </a:p>
        </p:txBody>
      </p:sp>
      <p:sp>
        <p:nvSpPr>
          <p:cNvPr id="6" name="Text 3"/>
          <p:cNvSpPr txBox="1"/>
          <p:nvPr/>
        </p:nvSpPr>
        <p:spPr>
          <a:xfrm>
            <a:off x="658368" y="1481328"/>
            <a:ext cx="9692640" cy="292608"/>
          </a:xfrm>
          <a:prstGeom prst="rect">
            <a:avLst/>
          </a:prstGeom>
          <a:noFill/>
          <a:ln/>
        </p:spPr>
        <p:txBody>
          <a:bodyPr wrap="square" lIns="0" tIns="0" rIns="0" bIns="0" rtlCol="0" anchor="ctr"/>
          <a:lstStyle/>
          <a:p>
            <a:pPr indent="0" marL="0">
              <a:buNone/>
            </a:pPr>
            <a:r>
              <a:rPr lang="en-US" sz="1300" dirty="0">
                <a:solidFill>
                  <a:srgbClr val="46536B"/>
                </a:solidFill>
                <a:latin typeface="Calibri" pitchFamily="34" charset="0"/>
                <a:ea typeface="Calibri" pitchFamily="34" charset="-122"/>
                <a:cs typeface="Calibri" pitchFamily="34" charset="-120"/>
              </a:rPr>
              <a:t>Une démonstration réussie peut toujours être une coïncidence. Ces protocoles mesurent ce que les moteurs retrouvent réellement.</a:t>
            </a:r>
            <a:endParaRPr lang="en-US" sz="1300" dirty="0"/>
          </a:p>
        </p:txBody>
      </p:sp>
      <p:sp>
        <p:nvSpPr>
          <p:cNvPr id="7" name="Shape 4"/>
          <p:cNvSpPr/>
          <p:nvPr/>
        </p:nvSpPr>
        <p:spPr>
          <a:xfrm>
            <a:off x="658368" y="1965960"/>
            <a:ext cx="3502152" cy="2606040"/>
          </a:xfrm>
          <a:prstGeom prst="roundRect">
            <a:avLst>
              <a:gd name="adj" fmla="val 2456"/>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8" name="Shape 5"/>
          <p:cNvSpPr/>
          <p:nvPr/>
        </p:nvSpPr>
        <p:spPr>
          <a:xfrm>
            <a:off x="896112" y="2180844"/>
            <a:ext cx="105156" cy="105156"/>
          </a:xfrm>
          <a:prstGeom prst="ellipse">
            <a:avLst/>
          </a:prstGeom>
          <a:solidFill>
            <a:srgbClr val="4338CA"/>
          </a:solidFill>
          <a:ln w="12700">
            <a:solidFill>
              <a:srgbClr val="333333"/>
            </a:solidFill>
            <a:prstDash val="solid"/>
          </a:ln>
        </p:spPr>
      </p:sp>
      <p:sp>
        <p:nvSpPr>
          <p:cNvPr id="9" name="Text 6"/>
          <p:cNvSpPr txBox="1"/>
          <p:nvPr/>
        </p:nvSpPr>
        <p:spPr>
          <a:xfrm>
            <a:off x="1078992" y="2130552"/>
            <a:ext cx="2843784" cy="201168"/>
          </a:xfrm>
          <a:prstGeom prst="rect">
            <a:avLst/>
          </a:prstGeom>
          <a:noFill/>
          <a:ln/>
        </p:spPr>
        <p:txBody>
          <a:bodyPr wrap="square" lIns="0" tIns="0" rIns="0" bIns="0" rtlCol="0" anchor="ctr"/>
          <a:lstStyle/>
          <a:p>
            <a:pPr indent="0" marL="0">
              <a:buNone/>
            </a:pPr>
            <a:r>
              <a:rPr lang="en-US" sz="850" b="1" spc="110" kern="0" dirty="0">
                <a:solidFill>
                  <a:srgbClr val="4338CA"/>
                </a:solidFill>
                <a:latin typeface="Calibri" pitchFamily="34" charset="0"/>
                <a:ea typeface="Calibri" pitchFamily="34" charset="-122"/>
                <a:cs typeface="Calibri" pitchFamily="34" charset="-120"/>
              </a:rPr>
              <a:t>PROTOCOLE 1 · 500 REQUÊTES</a:t>
            </a:r>
            <a:endParaRPr lang="en-US" sz="850" dirty="0"/>
          </a:p>
        </p:txBody>
      </p:sp>
      <p:sp>
        <p:nvSpPr>
          <p:cNvPr id="10" name="Text 7"/>
          <p:cNvSpPr txBox="1"/>
          <p:nvPr/>
        </p:nvSpPr>
        <p:spPr>
          <a:xfrm>
            <a:off x="896112" y="2404872"/>
            <a:ext cx="3026664" cy="256032"/>
          </a:xfrm>
          <a:prstGeom prst="rect">
            <a:avLst/>
          </a:prstGeom>
          <a:noFill/>
          <a:ln/>
        </p:spPr>
        <p:txBody>
          <a:bodyPr wrap="square" lIns="0" tIns="0" rIns="0" bIns="0" rtlCol="0" anchor="t"/>
          <a:lstStyle/>
          <a:p>
            <a:pPr indent="0" marL="0">
              <a:buNone/>
            </a:pPr>
            <a:r>
              <a:rPr lang="en-US" sz="1450" b="1" dirty="0">
                <a:solidFill>
                  <a:srgbClr val="0F172A"/>
                </a:solidFill>
                <a:latin typeface="Calibri" pitchFamily="34" charset="0"/>
                <a:ea typeface="Calibri" pitchFamily="34" charset="-122"/>
                <a:cs typeface="Calibri" pitchFamily="34" charset="-120"/>
              </a:rPr>
              <a:t>Titre vers résumé</a:t>
            </a:r>
            <a:endParaRPr lang="en-US" sz="1450" dirty="0"/>
          </a:p>
        </p:txBody>
      </p:sp>
      <p:sp>
        <p:nvSpPr>
          <p:cNvPr id="11" name="Text 8"/>
          <p:cNvSpPr txBox="1"/>
          <p:nvPr/>
        </p:nvSpPr>
        <p:spPr>
          <a:xfrm>
            <a:off x="896112" y="2734056"/>
            <a:ext cx="3026664" cy="1673352"/>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Le titre d'un article tiré au sort sert de requête ; le bon résultat est connu d'avance — c'est l'article lui-même.</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500 requêtes annotées sans le moindre travail manuel.</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Recall@1, @5, @10 · MRR@10 · nDCG@10</a:t>
            </a:r>
            <a:endParaRPr lang="en-US" sz="1100" dirty="0"/>
          </a:p>
        </p:txBody>
      </p:sp>
      <p:sp>
        <p:nvSpPr>
          <p:cNvPr id="12" name="Shape 9"/>
          <p:cNvSpPr/>
          <p:nvPr/>
        </p:nvSpPr>
        <p:spPr>
          <a:xfrm>
            <a:off x="4343400" y="1965960"/>
            <a:ext cx="3502152" cy="2606040"/>
          </a:xfrm>
          <a:prstGeom prst="roundRect">
            <a:avLst>
              <a:gd name="adj" fmla="val 2456"/>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3" name="Shape 10"/>
          <p:cNvSpPr/>
          <p:nvPr/>
        </p:nvSpPr>
        <p:spPr>
          <a:xfrm>
            <a:off x="4581144" y="2180844"/>
            <a:ext cx="105156" cy="105156"/>
          </a:xfrm>
          <a:prstGeom prst="ellipse">
            <a:avLst/>
          </a:prstGeom>
          <a:solidFill>
            <a:srgbClr val="7C3AED"/>
          </a:solidFill>
          <a:ln w="12700">
            <a:solidFill>
              <a:srgbClr val="333333"/>
            </a:solidFill>
            <a:prstDash val="solid"/>
          </a:ln>
        </p:spPr>
      </p:sp>
      <p:sp>
        <p:nvSpPr>
          <p:cNvPr id="14" name="Text 11"/>
          <p:cNvSpPr txBox="1"/>
          <p:nvPr/>
        </p:nvSpPr>
        <p:spPr>
          <a:xfrm>
            <a:off x="4764024" y="2130552"/>
            <a:ext cx="2843784" cy="201168"/>
          </a:xfrm>
          <a:prstGeom prst="rect">
            <a:avLst/>
          </a:prstGeom>
          <a:noFill/>
          <a:ln/>
        </p:spPr>
        <p:txBody>
          <a:bodyPr wrap="square" lIns="0" tIns="0" rIns="0" bIns="0" rtlCol="0" anchor="ctr"/>
          <a:lstStyle/>
          <a:p>
            <a:pPr indent="0" marL="0">
              <a:buNone/>
            </a:pPr>
            <a:r>
              <a:rPr lang="en-US" sz="850" b="1" spc="110" kern="0" dirty="0">
                <a:solidFill>
                  <a:srgbClr val="7C3AED"/>
                </a:solidFill>
                <a:latin typeface="Calibri" pitchFamily="34" charset="0"/>
                <a:ea typeface="Calibri" pitchFamily="34" charset="-122"/>
                <a:cs typeface="Calibri" pitchFamily="34" charset="-120"/>
              </a:rPr>
              <a:t>PROTOCOLE 2 · 20 TRIPLETS</a:t>
            </a:r>
            <a:endParaRPr lang="en-US" sz="850" dirty="0"/>
          </a:p>
        </p:txBody>
      </p:sp>
      <p:sp>
        <p:nvSpPr>
          <p:cNvPr id="15" name="Text 12"/>
          <p:cNvSpPr txBox="1"/>
          <p:nvPr/>
        </p:nvSpPr>
        <p:spPr>
          <a:xfrm>
            <a:off x="4581144" y="2404872"/>
            <a:ext cx="3026664" cy="256032"/>
          </a:xfrm>
          <a:prstGeom prst="rect">
            <a:avLst/>
          </a:prstGeom>
          <a:noFill/>
          <a:ln/>
        </p:spPr>
        <p:txBody>
          <a:bodyPr wrap="square" lIns="0" tIns="0" rIns="0" bIns="0" rtlCol="0" anchor="t"/>
          <a:lstStyle/>
          <a:p>
            <a:pPr indent="0" marL="0">
              <a:buNone/>
            </a:pPr>
            <a:r>
              <a:rPr lang="en-US" sz="1450" b="1" dirty="0">
                <a:solidFill>
                  <a:srgbClr val="0F172A"/>
                </a:solidFill>
                <a:latin typeface="Calibri" pitchFamily="34" charset="0"/>
                <a:ea typeface="Calibri" pitchFamily="34" charset="-122"/>
                <a:cs typeface="Calibri" pitchFamily="34" charset="-120"/>
              </a:rPr>
              <a:t>Cohérence multilingue</a:t>
            </a:r>
            <a:endParaRPr lang="en-US" sz="1450" dirty="0"/>
          </a:p>
        </p:txBody>
      </p:sp>
      <p:sp>
        <p:nvSpPr>
          <p:cNvPr id="16" name="Text 13"/>
          <p:cNvSpPr txBox="1"/>
          <p:nvPr/>
        </p:nvSpPr>
        <p:spPr>
          <a:xfrm>
            <a:off x="4581144" y="2734056"/>
            <a:ext cx="3026664" cy="1673352"/>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La même question en français, en arabe et en anglais. Si l'espace vectoriel est indépendant de la langue, les trois doivent renvoyer les mêmes articles.</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Attaque directement l'argument central du projet.</a:t>
            </a:r>
            <a:endParaRPr lang="en-US" sz="1100" dirty="0"/>
          </a:p>
        </p:txBody>
      </p:sp>
      <p:sp>
        <p:nvSpPr>
          <p:cNvPr id="17" name="Shape 14"/>
          <p:cNvSpPr/>
          <p:nvPr/>
        </p:nvSpPr>
        <p:spPr>
          <a:xfrm>
            <a:off x="8028432" y="1965960"/>
            <a:ext cx="3502152" cy="2606040"/>
          </a:xfrm>
          <a:prstGeom prst="roundRect">
            <a:avLst>
              <a:gd name="adj" fmla="val 2456"/>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8" name="Shape 15"/>
          <p:cNvSpPr/>
          <p:nvPr/>
        </p:nvSpPr>
        <p:spPr>
          <a:xfrm>
            <a:off x="8266176" y="2180844"/>
            <a:ext cx="105156" cy="105156"/>
          </a:xfrm>
          <a:prstGeom prst="ellipse">
            <a:avLst/>
          </a:prstGeom>
          <a:solidFill>
            <a:srgbClr val="C2740A"/>
          </a:solidFill>
          <a:ln w="12700">
            <a:solidFill>
              <a:srgbClr val="333333"/>
            </a:solidFill>
            <a:prstDash val="solid"/>
          </a:ln>
        </p:spPr>
      </p:sp>
      <p:sp>
        <p:nvSpPr>
          <p:cNvPr id="19" name="Text 16"/>
          <p:cNvSpPr txBox="1"/>
          <p:nvPr/>
        </p:nvSpPr>
        <p:spPr>
          <a:xfrm>
            <a:off x="8449056" y="2130552"/>
            <a:ext cx="2843784" cy="201168"/>
          </a:xfrm>
          <a:prstGeom prst="rect">
            <a:avLst/>
          </a:prstGeom>
          <a:noFill/>
          <a:ln/>
        </p:spPr>
        <p:txBody>
          <a:bodyPr wrap="square" lIns="0" tIns="0" rIns="0" bIns="0" rtlCol="0" anchor="ctr"/>
          <a:lstStyle/>
          <a:p>
            <a:pPr indent="0" marL="0">
              <a:buNone/>
            </a:pPr>
            <a:r>
              <a:rPr lang="en-US" sz="850" b="1" spc="110" kern="0" dirty="0">
                <a:solidFill>
                  <a:srgbClr val="C2740A"/>
                </a:solidFill>
                <a:latin typeface="Calibri" pitchFamily="34" charset="0"/>
                <a:ea typeface="Calibri" pitchFamily="34" charset="-122"/>
                <a:cs typeface="Calibri" pitchFamily="34" charset="-120"/>
              </a:rPr>
              <a:t>PROTOCOLE 3</a:t>
            </a:r>
            <a:endParaRPr lang="en-US" sz="850" dirty="0"/>
          </a:p>
        </p:txBody>
      </p:sp>
      <p:sp>
        <p:nvSpPr>
          <p:cNvPr id="20" name="Text 17"/>
          <p:cNvSpPr txBox="1"/>
          <p:nvPr/>
        </p:nvSpPr>
        <p:spPr>
          <a:xfrm>
            <a:off x="8266176" y="2404872"/>
            <a:ext cx="3026664" cy="256032"/>
          </a:xfrm>
          <a:prstGeom prst="rect">
            <a:avLst/>
          </a:prstGeom>
          <a:noFill/>
          <a:ln/>
        </p:spPr>
        <p:txBody>
          <a:bodyPr wrap="square" lIns="0" tIns="0" rIns="0" bIns="0" rtlCol="0" anchor="t"/>
          <a:lstStyle/>
          <a:p>
            <a:pPr indent="0" marL="0">
              <a:buNone/>
            </a:pPr>
            <a:r>
              <a:rPr lang="en-US" sz="1450" b="1" dirty="0">
                <a:solidFill>
                  <a:srgbClr val="0F172A"/>
                </a:solidFill>
                <a:latin typeface="Calibri" pitchFamily="34" charset="0"/>
                <a:ea typeface="Calibri" pitchFamily="34" charset="-122"/>
                <a:cs typeface="Calibri" pitchFamily="34" charset="-120"/>
              </a:rPr>
              <a:t>Coût</a:t>
            </a:r>
            <a:endParaRPr lang="en-US" sz="1450" dirty="0"/>
          </a:p>
        </p:txBody>
      </p:sp>
      <p:sp>
        <p:nvSpPr>
          <p:cNvPr id="21" name="Text 18"/>
          <p:cNvSpPr txBox="1"/>
          <p:nvPr/>
        </p:nvSpPr>
        <p:spPr>
          <a:xfrm>
            <a:off x="8266176" y="2734056"/>
            <a:ext cx="3026664" cy="1673352"/>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Latence médiane et 95e centile, durée de construction, taille de l'index, index exact contre index approximatif.</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Un moteur inutilisable en production n'est pas un bon moteur.</a:t>
            </a:r>
            <a:endParaRPr lang="en-US" sz="1100" dirty="0"/>
          </a:p>
        </p:txBody>
      </p:sp>
      <p:sp>
        <p:nvSpPr>
          <p:cNvPr id="22" name="Shape 19"/>
          <p:cNvSpPr/>
          <p:nvPr/>
        </p:nvSpPr>
        <p:spPr>
          <a:xfrm>
            <a:off x="658368" y="4754880"/>
            <a:ext cx="10874959" cy="1097280"/>
          </a:xfrm>
          <a:prstGeom prst="roundRect">
            <a:avLst>
              <a:gd name="adj" fmla="val 5833"/>
            </a:avLst>
          </a:prstGeom>
          <a:solidFill>
            <a:srgbClr val="EBFAF3"/>
          </a:solidFill>
          <a:ln w="12700">
            <a:solidFill>
              <a:srgbClr val="047857"/>
            </a:solidFill>
            <a:prstDash val="solid"/>
          </a:ln>
          <a:effectLst>
            <a:outerShdw sx="100000" sy="100000" kx="0" ky="0" algn="bl" rotWithShape="0" blurRad="101600" dist="25400" dir="5400000">
              <a:srgbClr val="A3AFC4">
                <a:alpha val="22000"/>
              </a:srgbClr>
            </a:outerShdw>
          </a:effectLst>
        </p:spPr>
      </p:sp>
      <p:sp>
        <p:nvSpPr>
          <p:cNvPr id="23" name="Shape 20"/>
          <p:cNvSpPr/>
          <p:nvPr/>
        </p:nvSpPr>
        <p:spPr>
          <a:xfrm>
            <a:off x="896112" y="4965192"/>
            <a:ext cx="109728" cy="109728"/>
          </a:xfrm>
          <a:prstGeom prst="ellipse">
            <a:avLst/>
          </a:prstGeom>
          <a:solidFill>
            <a:srgbClr val="047857"/>
          </a:solidFill>
          <a:ln w="12700">
            <a:solidFill>
              <a:srgbClr val="333333"/>
            </a:solidFill>
            <a:prstDash val="solid"/>
          </a:ln>
        </p:spPr>
      </p:sp>
      <p:sp>
        <p:nvSpPr>
          <p:cNvPr id="24" name="Text 21"/>
          <p:cNvSpPr txBox="1"/>
          <p:nvPr/>
        </p:nvSpPr>
        <p:spPr>
          <a:xfrm>
            <a:off x="1078992" y="4910328"/>
            <a:ext cx="10216591" cy="219456"/>
          </a:xfrm>
          <a:prstGeom prst="rect">
            <a:avLst/>
          </a:prstGeom>
          <a:noFill/>
          <a:ln/>
        </p:spPr>
        <p:txBody>
          <a:bodyPr wrap="square" lIns="0" tIns="0" rIns="0" bIns="0" rtlCol="0" anchor="ctr"/>
          <a:lstStyle/>
          <a:p>
            <a:pPr indent="0" marL="0">
              <a:buNone/>
            </a:pPr>
            <a:r>
              <a:rPr lang="en-US" sz="850" b="1" spc="110" kern="0" dirty="0">
                <a:solidFill>
                  <a:srgbClr val="047857"/>
                </a:solidFill>
                <a:latin typeface="Calibri" pitchFamily="34" charset="0"/>
                <a:ea typeface="Calibri" pitchFamily="34" charset="-122"/>
                <a:cs typeface="Calibri" pitchFamily="34" charset="-120"/>
              </a:rPr>
              <a:t>REPRODUCTIBILITÉ</a:t>
            </a:r>
            <a:endParaRPr lang="en-US" sz="850" dirty="0"/>
          </a:p>
        </p:txBody>
      </p:sp>
      <p:sp>
        <p:nvSpPr>
          <p:cNvPr id="25" name="Text 22"/>
          <p:cNvSpPr txBox="1"/>
          <p:nvPr/>
        </p:nvSpPr>
        <p:spPr>
          <a:xfrm>
            <a:off x="896112" y="5212080"/>
            <a:ext cx="10399471" cy="493776"/>
          </a:xfrm>
          <a:prstGeom prst="rect">
            <a:avLst/>
          </a:prstGeom>
          <a:noFill/>
          <a:ln/>
        </p:spPr>
        <p:txBody>
          <a:bodyPr wrap="square" lIns="0" tIns="0" rIns="0" bIns="0" rtlCol="0" anchor="t"/>
          <a:lstStyle/>
          <a:p>
            <a:pPr indent="0" marL="0">
              <a:lnSpc>
                <a:spcPct val="124000"/>
              </a:lnSpc>
              <a:buNone/>
            </a:pPr>
            <a:r>
              <a:rPr lang="en-US" sz="1200" dirty="0">
                <a:solidFill>
                  <a:srgbClr val="0F172A"/>
                </a:solidFill>
                <a:latin typeface="Calibri" pitchFamily="34" charset="0"/>
                <a:ea typeface="Calibri" pitchFamily="34" charset="-122"/>
                <a:cs typeface="Calibri" pitchFamily="34" charset="-120"/>
              </a:rPr>
              <a:t>Tous les chiffres qui suivent sont régénérables par une commande. Les graines aléatoires sont fixées ; l'interface lit le fichier produit et ne recalcule jamais rien.</a:t>
            </a:r>
            <a:endParaRPr lang="en-US" sz="1200" dirty="0"/>
          </a:p>
        </p:txBody>
      </p:sp>
      <p:sp>
        <p:nvSpPr>
          <p:cNvPr id="26" name="Text 23"/>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Protocole d'évaluation</a:t>
            </a:r>
            <a:endParaRPr lang="en-US" sz="900" dirty="0"/>
          </a:p>
        </p:txBody>
      </p:sp>
      <p:sp>
        <p:nvSpPr>
          <p:cNvPr id="27" name="Text 24"/>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08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C2740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C2740A"/>
                </a:solidFill>
                <a:latin typeface="Calibri" pitchFamily="34" charset="0"/>
                <a:ea typeface="Calibri" pitchFamily="34" charset="-122"/>
                <a:cs typeface="Calibri" pitchFamily="34" charset="-120"/>
              </a:rPr>
              <a:t>RÉSULTAT 1 · PROTOCOLE TITRE → RÉSUMÉ</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Sur son terrain, </a:t>
            </a:r>
            <a:pPr indent="0" marL="0">
              <a:buNone/>
            </a:pPr>
            <a:r>
              <a:rPr lang="en-US" sz="3300" b="1" dirty="0">
                <a:solidFill>
                  <a:srgbClr val="C2740A"/>
                </a:solidFill>
                <a:latin typeface="Calibri" pitchFamily="34" charset="0"/>
                <a:ea typeface="Calibri" pitchFamily="34" charset="-122"/>
                <a:cs typeface="Calibri" pitchFamily="34" charset="-120"/>
              </a:rPr>
              <a:t>BM25 gagne</a:t>
            </a:r>
            <a:endParaRPr lang="en-US" sz="3300" dirty="0"/>
          </a:p>
        </p:txBody>
      </p:sp>
      <p:sp>
        <p:nvSpPr>
          <p:cNvPr id="6" name="Shape 3"/>
          <p:cNvSpPr/>
          <p:nvPr/>
        </p:nvSpPr>
        <p:spPr>
          <a:xfrm>
            <a:off x="658368" y="1783080"/>
            <a:ext cx="6583680" cy="3931920"/>
          </a:xfrm>
          <a:prstGeom prst="roundRect">
            <a:avLst>
              <a:gd name="adj" fmla="val 1628"/>
            </a:avLst>
          </a:prstGeom>
          <a:solidFill>
            <a:srgbClr val="FFFFFF"/>
          </a:solidFill>
          <a:ln w="12700">
            <a:solidFill>
              <a:srgbClr val="DFE5EF"/>
            </a:solidFill>
            <a:prstDash val="solid"/>
          </a:ln>
          <a:effectLst>
            <a:outerShdw sx="100000" sy="100000" kx="0" ky="0" algn="bl" rotWithShape="0" blurRad="101600" dist="25400" dir="5400000">
              <a:srgbClr val="A3AFC4">
                <a:alpha val="22000"/>
              </a:srgbClr>
            </a:outerShdw>
          </a:effectLst>
        </p:spPr>
      </p:sp>
      <p:graphicFrame>
        <p:nvGraphicFramePr>
          <p:cNvPr id="7" name="Chart 0" descr=""/>
          <p:cNvGraphicFramePr/>
          <p:nvPr/>
        </p:nvGraphicFramePr>
        <p:xfrm>
          <a:off x="786384" y="1892808"/>
          <a:ext cx="6327648" cy="3712464"/>
        </p:xfrm>
        <a:graphic xmlns:a="http://schemas.openxmlformats.org/drawingml/2006/main">
          <a:graphicData uri="http://schemas.openxmlformats.org/drawingml/2006/chart">
            <c:chart xmlns:c="http://schemas.openxmlformats.org/drawingml/2006/chart" r:id="rId2"/>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53528" y="1783080"/>
          <a:ext cx="3877056" cy="914400"/>
        </p:xfrm>
        <a:graphic>
          <a:graphicData uri="http://schemas.openxmlformats.org/drawingml/2006/table">
            <a:tbl>
              <a:tblPr/>
              <a:tblGrid>
                <a:gridCol w="1572768"/>
                <a:gridCol w="768096"/>
                <a:gridCol w="768096"/>
                <a:gridCol w="768096"/>
              </a:tblGrid>
              <a:tr h="365760">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Moteur</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R@1</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R@10</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MRR</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7C3AED"/>
                          </a:solidFill>
                          <a:latin typeface="Calibri" pitchFamily="34" charset="0"/>
                          <a:ea typeface="Calibri" pitchFamily="34" charset="-122"/>
                          <a:cs typeface="Calibri" pitchFamily="34" charset="-120"/>
                        </a:rPr>
                        <a:t>Sémantique</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0,896</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0,964</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0,922</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C2740A"/>
                          </a:solidFill>
                          <a:latin typeface="Calibri" pitchFamily="34" charset="0"/>
                          <a:ea typeface="Calibri" pitchFamily="34" charset="-122"/>
                          <a:cs typeface="Calibri" pitchFamily="34" charset="-120"/>
                        </a:rPr>
                        <a:t>BM25</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6F7FB"/>
                    </a:solidFill>
                  </a:tcPr>
                </a:tc>
                <a:tc>
                  <a:txBody>
                    <a:bodyPr/>
                    <a:lstStyle/>
                    <a:p>
                      <a:pPr algn="r" indent="0" marL="0">
                        <a:buNone/>
                      </a:pPr>
                      <a:r>
                        <a:rPr lang="en-US" sz="1100" b="1" dirty="0">
                          <a:solidFill>
                            <a:srgbClr val="0F172A"/>
                          </a:solidFill>
                          <a:latin typeface="Consolas" pitchFamily="34" charset="0"/>
                          <a:ea typeface="Consolas" pitchFamily="34" charset="-122"/>
                          <a:cs typeface="Consolas" pitchFamily="34" charset="-120"/>
                        </a:rPr>
                        <a:t>0,930</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6F7FB"/>
                    </a:solidFill>
                  </a:tcPr>
                </a:tc>
                <a:tc>
                  <a:txBody>
                    <a:bodyPr/>
                    <a:lstStyle/>
                    <a:p>
                      <a:pPr algn="r" indent="0" marL="0">
                        <a:buNone/>
                      </a:pPr>
                      <a:r>
                        <a:rPr lang="en-US" sz="1100" b="1" dirty="0">
                          <a:solidFill>
                            <a:srgbClr val="0F172A"/>
                          </a:solidFill>
                          <a:latin typeface="Consolas" pitchFamily="34" charset="0"/>
                          <a:ea typeface="Consolas" pitchFamily="34" charset="-122"/>
                          <a:cs typeface="Consolas" pitchFamily="34" charset="-120"/>
                        </a:rPr>
                        <a:t>0,990</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6F7FB"/>
                    </a:solidFill>
                  </a:tcPr>
                </a:tc>
                <a:tc>
                  <a:txBody>
                    <a:bodyPr/>
                    <a:lstStyle/>
                    <a:p>
                      <a:pPr algn="r" indent="0" marL="0">
                        <a:buNone/>
                      </a:pPr>
                      <a:r>
                        <a:rPr lang="en-US" sz="1100" b="1" dirty="0">
                          <a:solidFill>
                            <a:srgbClr val="0F172A"/>
                          </a:solidFill>
                          <a:latin typeface="Consolas" pitchFamily="34" charset="0"/>
                          <a:ea typeface="Consolas" pitchFamily="34" charset="-122"/>
                          <a:cs typeface="Consolas" pitchFamily="34" charset="-120"/>
                        </a:rPr>
                        <a:t>0,953</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6F7FB"/>
                    </a:solidFill>
                  </a:tcPr>
                </a:tc>
              </a:tr>
            </a:tbl>
          </a:graphicData>
        </a:graphic>
      </p:graphicFrame>
      <p:sp>
        <p:nvSpPr>
          <p:cNvPr id="9" name="Shape 4"/>
          <p:cNvSpPr/>
          <p:nvPr/>
        </p:nvSpPr>
        <p:spPr>
          <a:xfrm>
            <a:off x="7653528" y="3108960"/>
            <a:ext cx="3877056" cy="2651760"/>
          </a:xfrm>
          <a:prstGeom prst="roundRect">
            <a:avLst>
              <a:gd name="adj" fmla="val 2414"/>
            </a:avLst>
          </a:prstGeom>
          <a:solidFill>
            <a:srgbClr val="FDF6E9"/>
          </a:solidFill>
          <a:ln w="12700">
            <a:solidFill>
              <a:srgbClr val="C2740A"/>
            </a:solidFill>
            <a:prstDash val="solid"/>
          </a:ln>
          <a:effectLst>
            <a:outerShdw sx="100000" sy="100000" kx="0" ky="0" algn="bl" rotWithShape="0" blurRad="101600" dist="25400" dir="5400000">
              <a:srgbClr val="A3AFC4">
                <a:alpha val="22000"/>
              </a:srgbClr>
            </a:outerShdw>
          </a:effectLst>
        </p:spPr>
      </p:sp>
      <p:sp>
        <p:nvSpPr>
          <p:cNvPr id="10" name="Shape 5"/>
          <p:cNvSpPr/>
          <p:nvPr/>
        </p:nvSpPr>
        <p:spPr>
          <a:xfrm>
            <a:off x="7891272" y="3319272"/>
            <a:ext cx="109728" cy="109728"/>
          </a:xfrm>
          <a:prstGeom prst="ellipse">
            <a:avLst/>
          </a:prstGeom>
          <a:solidFill>
            <a:srgbClr val="C2740A"/>
          </a:solidFill>
          <a:ln w="12700">
            <a:solidFill>
              <a:srgbClr val="333333"/>
            </a:solidFill>
            <a:prstDash val="solid"/>
          </a:ln>
        </p:spPr>
      </p:sp>
      <p:sp>
        <p:nvSpPr>
          <p:cNvPr id="11" name="Text 6"/>
          <p:cNvSpPr txBox="1"/>
          <p:nvPr/>
        </p:nvSpPr>
        <p:spPr>
          <a:xfrm>
            <a:off x="8074152" y="3264408"/>
            <a:ext cx="3218688" cy="219456"/>
          </a:xfrm>
          <a:prstGeom prst="rect">
            <a:avLst/>
          </a:prstGeom>
          <a:noFill/>
          <a:ln/>
        </p:spPr>
        <p:txBody>
          <a:bodyPr wrap="square" lIns="0" tIns="0" rIns="0" bIns="0" rtlCol="0" anchor="ctr"/>
          <a:lstStyle/>
          <a:p>
            <a:pPr indent="0" marL="0">
              <a:buNone/>
            </a:pPr>
            <a:r>
              <a:rPr lang="en-US" sz="850" b="1" spc="110" kern="0" dirty="0">
                <a:solidFill>
                  <a:srgbClr val="C2740A"/>
                </a:solidFill>
                <a:latin typeface="Calibri" pitchFamily="34" charset="0"/>
                <a:ea typeface="Calibri" pitchFamily="34" charset="-122"/>
                <a:cs typeface="Calibri" pitchFamily="34" charset="-120"/>
              </a:rPr>
              <a:t>POURQUOI C'EST NORMAL</a:t>
            </a:r>
            <a:endParaRPr lang="en-US" sz="850" dirty="0"/>
          </a:p>
        </p:txBody>
      </p:sp>
      <p:sp>
        <p:nvSpPr>
          <p:cNvPr id="12" name="Text 7"/>
          <p:cNvSpPr txBox="1"/>
          <p:nvPr/>
        </p:nvSpPr>
        <p:spPr>
          <a:xfrm>
            <a:off x="7891272" y="3566160"/>
            <a:ext cx="3401568" cy="2048256"/>
          </a:xfrm>
          <a:prstGeom prst="rect">
            <a:avLst/>
          </a:prstGeom>
          <a:noFill/>
          <a:ln/>
        </p:spPr>
        <p:txBody>
          <a:bodyPr wrap="square" lIns="0" tIns="0" rIns="0" bIns="0" rtlCol="0" anchor="t"/>
          <a:lstStyle/>
          <a:p>
            <a:pPr indent="0" marL="0">
              <a:lnSpc>
                <a:spcPct val="124000"/>
              </a:lnSpc>
              <a:buNone/>
            </a:pPr>
            <a:r>
              <a:rPr lang="en-US" sz="1200" dirty="0">
                <a:solidFill>
                  <a:srgbClr val="0F172A"/>
                </a:solidFill>
                <a:latin typeface="Calibri" pitchFamily="34" charset="0"/>
                <a:ea typeface="Calibri" pitchFamily="34" charset="-122"/>
                <a:cs typeface="Calibri" pitchFamily="34" charset="-120"/>
              </a:rPr>
              <a:t>Un titre partage avec son résumé des termes techniques rares — un nom de méthode, un acronyme. Faire correspondre des termes rares est précisément ce que BM25 fait le mieux.</a:t>
            </a:r>
            <a:endParaRPr lang="en-US" sz="1200" dirty="0"/>
          </a:p>
          <a:p>
            <a:pPr indent="0" marL="0">
              <a:lnSpc>
                <a:spcPct val="124000"/>
              </a:lnSpc>
              <a:buNone/>
            </a:pPr>
            <a:endParaRPr lang="en-US" sz="1200" dirty="0"/>
          </a:p>
          <a:p>
            <a:pPr indent="0" marL="0">
              <a:lnSpc>
                <a:spcPct val="124000"/>
              </a:lnSpc>
              <a:buNone/>
            </a:pPr>
            <a:r>
              <a:rPr lang="en-US" sz="1200" dirty="0">
                <a:solidFill>
                  <a:srgbClr val="0F172A"/>
                </a:solidFill>
                <a:latin typeface="Calibri" pitchFamily="34" charset="0"/>
                <a:ea typeface="Calibri" pitchFamily="34" charset="-122"/>
                <a:cs typeface="Calibri" pitchFamily="34" charset="-120"/>
              </a:rPr>
              <a:t>Ce n'est pas un défaut d'implémentation : c'est son terrain de jeu naturel.</a:t>
            </a:r>
            <a:endParaRPr lang="en-US" sz="1200" dirty="0"/>
          </a:p>
        </p:txBody>
      </p:sp>
      <p:sp>
        <p:nvSpPr>
          <p:cNvPr id="13" name="Text 8"/>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Résultat 1 — BM25 gagne</a:t>
            </a:r>
            <a:endParaRPr lang="en-US" sz="900" dirty="0"/>
          </a:p>
        </p:txBody>
      </p:sp>
      <p:sp>
        <p:nvSpPr>
          <p:cNvPr id="14" name="Text 9"/>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09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BE123C"/>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BE123C"/>
                </a:solidFill>
                <a:latin typeface="Calibri" pitchFamily="34" charset="0"/>
                <a:ea typeface="Calibri" pitchFamily="34" charset="-122"/>
                <a:cs typeface="Calibri" pitchFamily="34" charset="-120"/>
              </a:rPr>
              <a:t>RÉSULTAT 2 · CRITIQUE DU PROTOCOLE</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Ce protocole ne mesure pas le sens</a:t>
            </a:r>
            <a:endParaRPr lang="en-US" sz="3300" dirty="0"/>
          </a:p>
        </p:txBody>
      </p:sp>
      <p:sp>
        <p:nvSpPr>
          <p:cNvPr id="6" name="Shape 3"/>
          <p:cNvSpPr/>
          <p:nvPr/>
        </p:nvSpPr>
        <p:spPr>
          <a:xfrm>
            <a:off x="658368" y="1783080"/>
            <a:ext cx="6583680" cy="3931920"/>
          </a:xfrm>
          <a:prstGeom prst="roundRect">
            <a:avLst>
              <a:gd name="adj" fmla="val 1628"/>
            </a:avLst>
          </a:prstGeom>
          <a:solidFill>
            <a:srgbClr val="FFFFFF"/>
          </a:solidFill>
          <a:ln w="12700">
            <a:solidFill>
              <a:srgbClr val="DFE5EF"/>
            </a:solidFill>
            <a:prstDash val="solid"/>
          </a:ln>
          <a:effectLst>
            <a:outerShdw sx="100000" sy="100000" kx="0" ky="0" algn="bl" rotWithShape="0" blurRad="101600" dist="25400" dir="5400000">
              <a:srgbClr val="A3AFC4">
                <a:alpha val="22000"/>
              </a:srgbClr>
            </a:outerShdw>
          </a:effectLst>
        </p:spPr>
      </p:sp>
      <p:graphicFrame>
        <p:nvGraphicFramePr>
          <p:cNvPr id="7" name="Chart 0" descr=""/>
          <p:cNvGraphicFramePr/>
          <p:nvPr/>
        </p:nvGraphicFramePr>
        <p:xfrm>
          <a:off x="786384" y="1892808"/>
          <a:ext cx="6327648" cy="3712464"/>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653528" y="1783080"/>
            <a:ext cx="3877056" cy="2286000"/>
          </a:xfrm>
          <a:prstGeom prst="roundRect">
            <a:avLst>
              <a:gd name="adj" fmla="val 2800"/>
            </a:avLst>
          </a:prstGeom>
          <a:solidFill>
            <a:srgbClr val="FDF0F3"/>
          </a:solidFill>
          <a:ln w="12700">
            <a:solidFill>
              <a:srgbClr val="BE123C"/>
            </a:solidFill>
            <a:prstDash val="solid"/>
          </a:ln>
          <a:effectLst>
            <a:outerShdw sx="100000" sy="100000" kx="0" ky="0" algn="bl" rotWithShape="0" blurRad="101600" dist="25400" dir="5400000">
              <a:srgbClr val="A3AFC4">
                <a:alpha val="22000"/>
              </a:srgbClr>
            </a:outerShdw>
          </a:effectLst>
        </p:spPr>
      </p:sp>
      <p:sp>
        <p:nvSpPr>
          <p:cNvPr id="9" name="Shape 5"/>
          <p:cNvSpPr/>
          <p:nvPr/>
        </p:nvSpPr>
        <p:spPr>
          <a:xfrm>
            <a:off x="7891272" y="1993392"/>
            <a:ext cx="109728" cy="109728"/>
          </a:xfrm>
          <a:prstGeom prst="ellipse">
            <a:avLst/>
          </a:prstGeom>
          <a:solidFill>
            <a:srgbClr val="BE123C"/>
          </a:solidFill>
          <a:ln w="12700">
            <a:solidFill>
              <a:srgbClr val="333333"/>
            </a:solidFill>
            <a:prstDash val="solid"/>
          </a:ln>
        </p:spPr>
      </p:sp>
      <p:sp>
        <p:nvSpPr>
          <p:cNvPr id="10" name="Text 6"/>
          <p:cNvSpPr txBox="1"/>
          <p:nvPr/>
        </p:nvSpPr>
        <p:spPr>
          <a:xfrm>
            <a:off x="8074152" y="1938528"/>
            <a:ext cx="3218688" cy="219456"/>
          </a:xfrm>
          <a:prstGeom prst="rect">
            <a:avLst/>
          </a:prstGeom>
          <a:noFill/>
          <a:ln/>
        </p:spPr>
        <p:txBody>
          <a:bodyPr wrap="square" lIns="0" tIns="0" rIns="0" bIns="0" rtlCol="0" anchor="ctr"/>
          <a:lstStyle/>
          <a:p>
            <a:pPr indent="0" marL="0">
              <a:buNone/>
            </a:pPr>
            <a:r>
              <a:rPr lang="en-US" sz="850" b="1" spc="110" kern="0" dirty="0">
                <a:solidFill>
                  <a:srgbClr val="BE123C"/>
                </a:solidFill>
                <a:latin typeface="Calibri" pitchFamily="34" charset="0"/>
                <a:ea typeface="Calibri" pitchFamily="34" charset="-122"/>
                <a:cs typeface="Calibri" pitchFamily="34" charset="-120"/>
              </a:rPr>
              <a:t>L'OBSERVATION QUI COMPTE</a:t>
            </a:r>
            <a:endParaRPr lang="en-US" sz="850" dirty="0"/>
          </a:p>
        </p:txBody>
      </p:sp>
      <p:sp>
        <p:nvSpPr>
          <p:cNvPr id="11" name="Text 7"/>
          <p:cNvSpPr txBox="1"/>
          <p:nvPr/>
        </p:nvSpPr>
        <p:spPr>
          <a:xfrm>
            <a:off x="7891272" y="2240280"/>
            <a:ext cx="3401568" cy="1682496"/>
          </a:xfrm>
          <a:prstGeom prst="rect">
            <a:avLst/>
          </a:prstGeom>
          <a:noFill/>
          <a:ln/>
        </p:spPr>
        <p:txBody>
          <a:bodyPr wrap="square" lIns="0" tIns="0" rIns="0" bIns="0" rtlCol="0" anchor="t"/>
          <a:lstStyle/>
          <a:p>
            <a:pPr indent="0" marL="0">
              <a:lnSpc>
                <a:spcPct val="124000"/>
              </a:lnSpc>
              <a:buNone/>
            </a:pPr>
            <a:r>
              <a:rPr lang="en-US" sz="1250" dirty="0">
                <a:solidFill>
                  <a:srgbClr val="0F172A"/>
                </a:solidFill>
                <a:latin typeface="Calibri" pitchFamily="34" charset="0"/>
                <a:ea typeface="Calibri" pitchFamily="34" charset="-122"/>
                <a:cs typeface="Calibri" pitchFamily="34" charset="-120"/>
              </a:rPr>
              <a:t>Même le tiers le plus difficile partage encore 63 % de son vocabulaire avec le bon document.</a:t>
            </a:r>
            <a:endParaRPr lang="en-US" sz="1250" dirty="0"/>
          </a:p>
          <a:p>
            <a:pPr indent="0" marL="0">
              <a:lnSpc>
                <a:spcPct val="124000"/>
              </a:lnSpc>
              <a:buNone/>
            </a:pPr>
            <a:endParaRPr lang="en-US" sz="1250" dirty="0"/>
          </a:p>
          <a:p>
            <a:pPr indent="0" marL="0">
              <a:lnSpc>
                <a:spcPct val="124000"/>
              </a:lnSpc>
              <a:buNone/>
            </a:pPr>
            <a:r>
              <a:rPr lang="en-US" sz="1250" dirty="0">
                <a:solidFill>
                  <a:srgbClr val="0F172A"/>
                </a:solidFill>
                <a:latin typeface="Calibri" pitchFamily="34" charset="0"/>
                <a:ea typeface="Calibri" pitchFamily="34" charset="-122"/>
                <a:cs typeface="Calibri" pitchFamily="34" charset="-120"/>
              </a:rPr>
              <a:t>Ce protocole ne descend jamais dans le régime où la correspondance de mots cesse de fonctionner.</a:t>
            </a:r>
            <a:endParaRPr lang="en-US" sz="1250" dirty="0"/>
          </a:p>
        </p:txBody>
      </p:sp>
      <p:sp>
        <p:nvSpPr>
          <p:cNvPr id="12" name="Shape 8"/>
          <p:cNvSpPr/>
          <p:nvPr/>
        </p:nvSpPr>
        <p:spPr>
          <a:xfrm>
            <a:off x="7653528" y="4206240"/>
            <a:ext cx="3877056" cy="1554480"/>
          </a:xfrm>
          <a:prstGeom prst="roundRect">
            <a:avLst>
              <a:gd name="adj" fmla="val 4118"/>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3" name="Text 9"/>
          <p:cNvSpPr txBox="1"/>
          <p:nvPr/>
        </p:nvSpPr>
        <p:spPr>
          <a:xfrm>
            <a:off x="7891272" y="4389120"/>
            <a:ext cx="3401568" cy="1207008"/>
          </a:xfrm>
          <a:prstGeom prst="rect">
            <a:avLst/>
          </a:prstGeom>
          <a:noFill/>
          <a:ln/>
        </p:spPr>
        <p:txBody>
          <a:bodyPr wrap="square" lIns="0" tIns="0" rIns="0" bIns="0" rtlCol="0" anchor="t"/>
          <a:lstStyle/>
          <a:p>
            <a:pPr indent="0" marL="0">
              <a:lnSpc>
                <a:spcPct val="120000"/>
              </a:lnSpc>
              <a:buNone/>
            </a:pPr>
            <a:r>
              <a:rPr lang="en-US" sz="1150" dirty="0">
                <a:solidFill>
                  <a:srgbClr val="46536B"/>
                </a:solidFill>
                <a:latin typeface="Calibri" pitchFamily="34" charset="0"/>
                <a:ea typeface="Calibri" pitchFamily="34" charset="-122"/>
                <a:cs typeface="Calibri" pitchFamily="34" charset="-120"/>
              </a:rPr>
              <a:t>Le reconnaître vaut mieux que de présenter les chiffres précédents comme une validation du moteur sémantique — et cela justifie le protocole suivant.</a:t>
            </a:r>
            <a:endParaRPr lang="en-US" sz="1150" dirty="0"/>
          </a:p>
        </p:txBody>
      </p:sp>
      <p:sp>
        <p:nvSpPr>
          <p:cNvPr id="14" name="Text 10"/>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Résultat 2 — la limite du protocole</a:t>
            </a:r>
            <a:endParaRPr lang="en-US" sz="900" dirty="0"/>
          </a:p>
        </p:txBody>
      </p:sp>
      <p:sp>
        <p:nvSpPr>
          <p:cNvPr id="15" name="Text 11"/>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7C3AED"/>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7C3AED"/>
                </a:solidFill>
                <a:latin typeface="Calibri" pitchFamily="34" charset="0"/>
                <a:ea typeface="Calibri" pitchFamily="34" charset="-122"/>
                <a:cs typeface="Calibri" pitchFamily="34" charset="-120"/>
              </a:rPr>
              <a:t>RÉSULTAT 3 · COHÉRENCE MULTILINGUE</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Le résultat qui justifie le projet</a:t>
            </a:r>
            <a:endParaRPr lang="en-US" sz="3300" dirty="0"/>
          </a:p>
        </p:txBody>
      </p:sp>
      <p:sp>
        <p:nvSpPr>
          <p:cNvPr id="6" name="Shape 3"/>
          <p:cNvSpPr/>
          <p:nvPr/>
        </p:nvSpPr>
        <p:spPr>
          <a:xfrm>
            <a:off x="658368" y="1783080"/>
            <a:ext cx="5943600" cy="3931920"/>
          </a:xfrm>
          <a:prstGeom prst="roundRect">
            <a:avLst>
              <a:gd name="adj" fmla="val 1628"/>
            </a:avLst>
          </a:prstGeom>
          <a:solidFill>
            <a:srgbClr val="FFFFFF"/>
          </a:solidFill>
          <a:ln w="12700">
            <a:solidFill>
              <a:srgbClr val="DFE5EF"/>
            </a:solidFill>
            <a:prstDash val="solid"/>
          </a:ln>
          <a:effectLst>
            <a:outerShdw sx="100000" sy="100000" kx="0" ky="0" algn="bl" rotWithShape="0" blurRad="101600" dist="25400" dir="5400000">
              <a:srgbClr val="A3AFC4">
                <a:alpha val="22000"/>
              </a:srgbClr>
            </a:outerShdw>
          </a:effectLst>
        </p:spPr>
      </p:sp>
      <p:graphicFrame>
        <p:nvGraphicFramePr>
          <p:cNvPr id="7" name="Chart 0" descr=""/>
          <p:cNvGraphicFramePr/>
          <p:nvPr/>
        </p:nvGraphicFramePr>
        <p:xfrm>
          <a:off x="786384" y="1892808"/>
          <a:ext cx="5687568" cy="3712464"/>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013448" y="1783080"/>
            <a:ext cx="2240280" cy="1188720"/>
          </a:xfrm>
          <a:prstGeom prst="roundRect">
            <a:avLst>
              <a:gd name="adj" fmla="val 5385"/>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9" name="Text 5"/>
          <p:cNvSpPr txBox="1"/>
          <p:nvPr/>
        </p:nvSpPr>
        <p:spPr>
          <a:xfrm>
            <a:off x="7214616" y="1901952"/>
            <a:ext cx="1837944" cy="457200"/>
          </a:xfrm>
          <a:prstGeom prst="rect">
            <a:avLst/>
          </a:prstGeom>
          <a:noFill/>
          <a:ln/>
        </p:spPr>
        <p:txBody>
          <a:bodyPr wrap="square" lIns="0" tIns="0" rIns="0" bIns="0" rtlCol="0" anchor="ctr"/>
          <a:lstStyle/>
          <a:p>
            <a:pPr indent="0" marL="0">
              <a:buNone/>
            </a:pPr>
            <a:r>
              <a:rPr lang="en-US" sz="2300" b="1" dirty="0">
                <a:solidFill>
                  <a:srgbClr val="BE123C"/>
                </a:solidFill>
                <a:latin typeface="Consolas" pitchFamily="34" charset="0"/>
                <a:ea typeface="Consolas" pitchFamily="34" charset="-122"/>
                <a:cs typeface="Consolas" pitchFamily="34" charset="-120"/>
              </a:rPr>
              <a:t>20 / 20</a:t>
            </a:r>
            <a:endParaRPr lang="en-US" sz="2300" dirty="0"/>
          </a:p>
        </p:txBody>
      </p:sp>
      <p:sp>
        <p:nvSpPr>
          <p:cNvPr id="10" name="Text 6"/>
          <p:cNvSpPr txBox="1"/>
          <p:nvPr/>
        </p:nvSpPr>
        <p:spPr>
          <a:xfrm>
            <a:off x="7214616" y="2359152"/>
            <a:ext cx="1837944" cy="493776"/>
          </a:xfrm>
          <a:prstGeom prst="rect">
            <a:avLst/>
          </a:prstGeom>
          <a:noFill/>
          <a:ln/>
        </p:spPr>
        <p:txBody>
          <a:bodyPr wrap="square" lIns="0" tIns="0" rIns="0" bIns="0" rtlCol="0" anchor="t"/>
          <a:lstStyle/>
          <a:p>
            <a:pPr indent="0" marL="0">
              <a:lnSpc>
                <a:spcPct val="108000"/>
              </a:lnSpc>
              <a:buNone/>
            </a:pPr>
            <a:r>
              <a:rPr lang="en-US" sz="950" dirty="0">
                <a:solidFill>
                  <a:srgbClr val="8794AC"/>
                </a:solidFill>
                <a:latin typeface="Calibri" pitchFamily="34" charset="0"/>
                <a:ea typeface="Calibri" pitchFamily="34" charset="-122"/>
                <a:cs typeface="Calibri" pitchFamily="34" charset="-120"/>
              </a:rPr>
              <a:t>requêtes arabes sans résultat BM25</a:t>
            </a:r>
            <a:endParaRPr lang="en-US" sz="950" dirty="0"/>
          </a:p>
        </p:txBody>
      </p:sp>
      <p:sp>
        <p:nvSpPr>
          <p:cNvPr id="11" name="Shape 7"/>
          <p:cNvSpPr/>
          <p:nvPr/>
        </p:nvSpPr>
        <p:spPr>
          <a:xfrm>
            <a:off x="9473184" y="1783080"/>
            <a:ext cx="2057400" cy="1188720"/>
          </a:xfrm>
          <a:prstGeom prst="roundRect">
            <a:avLst>
              <a:gd name="adj" fmla="val 5385"/>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2" name="Text 8"/>
          <p:cNvSpPr txBox="1"/>
          <p:nvPr/>
        </p:nvSpPr>
        <p:spPr>
          <a:xfrm>
            <a:off x="9674352" y="1901952"/>
            <a:ext cx="1655064" cy="457200"/>
          </a:xfrm>
          <a:prstGeom prst="rect">
            <a:avLst/>
          </a:prstGeom>
          <a:noFill/>
          <a:ln/>
        </p:spPr>
        <p:txBody>
          <a:bodyPr wrap="square" lIns="0" tIns="0" rIns="0" bIns="0" rtlCol="0" anchor="ctr"/>
          <a:lstStyle/>
          <a:p>
            <a:pPr indent="0" marL="0">
              <a:buNone/>
            </a:pPr>
            <a:r>
              <a:rPr lang="en-US" sz="2300" b="1" dirty="0">
                <a:solidFill>
                  <a:srgbClr val="7C3AED"/>
                </a:solidFill>
                <a:latin typeface="Consolas" pitchFamily="34" charset="0"/>
                <a:ea typeface="Consolas" pitchFamily="34" charset="-122"/>
                <a:cs typeface="Consolas" pitchFamily="34" charset="-120"/>
              </a:rPr>
              <a:t>0 / 20</a:t>
            </a:r>
            <a:endParaRPr lang="en-US" sz="2300" dirty="0"/>
          </a:p>
        </p:txBody>
      </p:sp>
      <p:sp>
        <p:nvSpPr>
          <p:cNvPr id="13" name="Text 9"/>
          <p:cNvSpPr txBox="1"/>
          <p:nvPr/>
        </p:nvSpPr>
        <p:spPr>
          <a:xfrm>
            <a:off x="9674352" y="2359152"/>
            <a:ext cx="1655064" cy="493776"/>
          </a:xfrm>
          <a:prstGeom prst="rect">
            <a:avLst/>
          </a:prstGeom>
          <a:noFill/>
          <a:ln/>
        </p:spPr>
        <p:txBody>
          <a:bodyPr wrap="square" lIns="0" tIns="0" rIns="0" bIns="0" rtlCol="0" anchor="t"/>
          <a:lstStyle/>
          <a:p>
            <a:pPr indent="0" marL="0">
              <a:lnSpc>
                <a:spcPct val="108000"/>
              </a:lnSpc>
              <a:buNone/>
            </a:pPr>
            <a:r>
              <a:rPr lang="en-US" sz="950" dirty="0">
                <a:solidFill>
                  <a:srgbClr val="8794AC"/>
                </a:solidFill>
                <a:latin typeface="Calibri" pitchFamily="34" charset="0"/>
                <a:ea typeface="Calibri" pitchFamily="34" charset="-122"/>
                <a:cs typeface="Calibri" pitchFamily="34" charset="-120"/>
              </a:rPr>
              <a:t>pour le moteur sémantique</a:t>
            </a:r>
            <a:endParaRPr lang="en-US" sz="950" dirty="0"/>
          </a:p>
        </p:txBody>
      </p:sp>
      <p:sp>
        <p:nvSpPr>
          <p:cNvPr id="14" name="Shape 10"/>
          <p:cNvSpPr/>
          <p:nvPr/>
        </p:nvSpPr>
        <p:spPr>
          <a:xfrm>
            <a:off x="7013448" y="3154680"/>
            <a:ext cx="4517136" cy="1371600"/>
          </a:xfrm>
          <a:prstGeom prst="roundRect">
            <a:avLst>
              <a:gd name="adj" fmla="val 4667"/>
            </a:avLst>
          </a:prstGeom>
          <a:solidFill>
            <a:srgbClr val="F4EFFE"/>
          </a:solidFill>
          <a:ln w="12700">
            <a:solidFill>
              <a:srgbClr val="7C3AED"/>
            </a:solidFill>
            <a:prstDash val="solid"/>
          </a:ln>
          <a:effectLst>
            <a:outerShdw sx="100000" sy="100000" kx="0" ky="0" algn="bl" rotWithShape="0" blurRad="101600" dist="25400" dir="5400000">
              <a:srgbClr val="A3AFC4">
                <a:alpha val="22000"/>
              </a:srgbClr>
            </a:outerShdw>
          </a:effectLst>
        </p:spPr>
      </p:sp>
      <p:sp>
        <p:nvSpPr>
          <p:cNvPr id="15" name="Shape 11"/>
          <p:cNvSpPr/>
          <p:nvPr/>
        </p:nvSpPr>
        <p:spPr>
          <a:xfrm>
            <a:off x="7251192" y="3364992"/>
            <a:ext cx="109728" cy="109728"/>
          </a:xfrm>
          <a:prstGeom prst="ellipse">
            <a:avLst/>
          </a:prstGeom>
          <a:solidFill>
            <a:srgbClr val="7C3AED"/>
          </a:solidFill>
          <a:ln w="12700">
            <a:solidFill>
              <a:srgbClr val="333333"/>
            </a:solidFill>
            <a:prstDash val="solid"/>
          </a:ln>
        </p:spPr>
      </p:sp>
      <p:sp>
        <p:nvSpPr>
          <p:cNvPr id="16" name="Text 12"/>
          <p:cNvSpPr txBox="1"/>
          <p:nvPr/>
        </p:nvSpPr>
        <p:spPr>
          <a:xfrm>
            <a:off x="7434072" y="3310128"/>
            <a:ext cx="3858768" cy="219456"/>
          </a:xfrm>
          <a:prstGeom prst="rect">
            <a:avLst/>
          </a:prstGeom>
          <a:noFill/>
          <a:ln/>
        </p:spPr>
        <p:txBody>
          <a:bodyPr wrap="square" lIns="0" tIns="0" rIns="0" bIns="0" rtlCol="0" anchor="ctr"/>
          <a:lstStyle/>
          <a:p>
            <a:pPr indent="0" marL="0">
              <a:buNone/>
            </a:pPr>
            <a:r>
              <a:rPr lang="en-US" sz="850" b="1" spc="110" kern="0" dirty="0">
                <a:solidFill>
                  <a:srgbClr val="7C3AED"/>
                </a:solidFill>
                <a:latin typeface="Calibri" pitchFamily="34" charset="0"/>
                <a:ea typeface="Calibri" pitchFamily="34" charset="-122"/>
                <a:cs typeface="Calibri" pitchFamily="34" charset="-120"/>
              </a:rPr>
              <a:t>CE QUE CELA VEUT DIRE</a:t>
            </a:r>
            <a:endParaRPr lang="en-US" sz="850" dirty="0"/>
          </a:p>
        </p:txBody>
      </p:sp>
      <p:sp>
        <p:nvSpPr>
          <p:cNvPr id="17" name="Text 13"/>
          <p:cNvSpPr txBox="1"/>
          <p:nvPr/>
        </p:nvSpPr>
        <p:spPr>
          <a:xfrm>
            <a:off x="7251192" y="3611880"/>
            <a:ext cx="4041648" cy="768096"/>
          </a:xfrm>
          <a:prstGeom prst="rect">
            <a:avLst/>
          </a:prstGeom>
          <a:noFill/>
          <a:ln/>
        </p:spPr>
        <p:txBody>
          <a:bodyPr wrap="square" lIns="0" tIns="0" rIns="0" bIns="0" rtlCol="0" anchor="t"/>
          <a:lstStyle/>
          <a:p>
            <a:pPr indent="0" marL="0">
              <a:lnSpc>
                <a:spcPct val="124000"/>
              </a:lnSpc>
              <a:buNone/>
            </a:pPr>
            <a:r>
              <a:rPr lang="en-US" sz="1200" dirty="0">
                <a:solidFill>
                  <a:srgbClr val="0F172A"/>
                </a:solidFill>
                <a:latin typeface="Calibri" pitchFamily="34" charset="0"/>
                <a:ea typeface="Calibri" pitchFamily="34" charset="-122"/>
                <a:cs typeface="Calibri" pitchFamily="34" charset="-120"/>
              </a:rPr>
              <a:t>Aucun mot arabe n'existe dans un corpus anglophone, donc aucun score n'est calculable. Sur ce terrain, les deux approches ne se comparent pas : une seule fonctionne.</a:t>
            </a:r>
            <a:endParaRPr lang="en-US" sz="1200" dirty="0"/>
          </a:p>
        </p:txBody>
      </p:sp>
      <p:sp>
        <p:nvSpPr>
          <p:cNvPr id="18" name="Shape 14"/>
          <p:cNvSpPr/>
          <p:nvPr/>
        </p:nvSpPr>
        <p:spPr>
          <a:xfrm>
            <a:off x="7013448" y="4645152"/>
            <a:ext cx="4517136" cy="1115568"/>
          </a:xfrm>
          <a:prstGeom prst="roundRect">
            <a:avLst>
              <a:gd name="adj" fmla="val 5738"/>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9" name="Text 15"/>
          <p:cNvSpPr txBox="1"/>
          <p:nvPr/>
        </p:nvSpPr>
        <p:spPr>
          <a:xfrm>
            <a:off x="7251192" y="4809744"/>
            <a:ext cx="4041648" cy="201168"/>
          </a:xfrm>
          <a:prstGeom prst="rect">
            <a:avLst/>
          </a:prstGeom>
          <a:noFill/>
          <a:ln/>
        </p:spPr>
        <p:txBody>
          <a:bodyPr wrap="square" lIns="0" tIns="0" rIns="0" bIns="0" rtlCol="0" anchor="ctr"/>
          <a:lstStyle/>
          <a:p>
            <a:pPr indent="0" marL="0">
              <a:buNone/>
            </a:pPr>
            <a:r>
              <a:rPr lang="en-US" sz="850" b="1" spc="110" kern="0" dirty="0">
                <a:solidFill>
                  <a:srgbClr val="8794AC"/>
                </a:solidFill>
                <a:latin typeface="Calibri" pitchFamily="34" charset="0"/>
                <a:ea typeface="Calibri" pitchFamily="34" charset="-122"/>
                <a:cs typeface="Calibri" pitchFamily="34" charset="-120"/>
              </a:rPr>
              <a:t>DEUX NUANCES HONNÊTES</a:t>
            </a:r>
            <a:endParaRPr lang="en-US" sz="850" dirty="0"/>
          </a:p>
        </p:txBody>
      </p:sp>
      <p:sp>
        <p:nvSpPr>
          <p:cNvPr id="20" name="Text 16"/>
          <p:cNvSpPr txBox="1"/>
          <p:nvPr/>
        </p:nvSpPr>
        <p:spPr>
          <a:xfrm>
            <a:off x="7251192" y="5084064"/>
            <a:ext cx="4041648" cy="512064"/>
          </a:xfrm>
          <a:prstGeom prst="rect">
            <a:avLst/>
          </a:prstGeom>
          <a:noFill/>
          <a:ln/>
        </p:spPr>
        <p:txBody>
          <a:bodyPr wrap="square" lIns="0" tIns="0" rIns="0" bIns="0" rtlCol="0" anchor="t"/>
          <a:lstStyle/>
          <a:p>
            <a:pPr indent="0" marL="0">
              <a:lnSpc>
                <a:spcPct val="120000"/>
              </a:lnSpc>
              <a:buNone/>
            </a:pPr>
            <a:r>
              <a:rPr lang="en-US" sz="1050" dirty="0">
                <a:solidFill>
                  <a:srgbClr val="46536B"/>
                </a:solidFill>
                <a:latin typeface="Calibri" pitchFamily="34" charset="0"/>
                <a:ea typeface="Calibri" pitchFamily="34" charset="-122"/>
                <a:cs typeface="Calibri" pitchFamily="34" charset="-120"/>
              </a:rPr>
              <a:t>0,445 en français se lit avec prudence : deux formulations peuvent renvoyer des articles différents et tous deux pertinents. Et 0,130 en arabe : la qualité n'est pas uniforme entre langues.</a:t>
            </a:r>
            <a:endParaRPr lang="en-US" sz="1050" dirty="0"/>
          </a:p>
        </p:txBody>
      </p:sp>
      <p:sp>
        <p:nvSpPr>
          <p:cNvPr id="21" name="Text 17"/>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Résultat 3 — le résultat central</a:t>
            </a:r>
            <a:endParaRPr lang="en-US" sz="900" dirty="0"/>
          </a:p>
        </p:txBody>
      </p:sp>
      <p:sp>
        <p:nvSpPr>
          <p:cNvPr id="22" name="Text 18"/>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047857"/>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047857"/>
                </a:solidFill>
                <a:latin typeface="Calibri" pitchFamily="34" charset="0"/>
                <a:ea typeface="Calibri" pitchFamily="34" charset="-122"/>
                <a:cs typeface="Calibri" pitchFamily="34" charset="-120"/>
              </a:rPr>
              <a:t>RÉSULTAT 4 · FUSION HYBRIDE</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La fusion </a:t>
            </a:r>
            <a:pPr indent="0" marL="0">
              <a:buNone/>
            </a:pPr>
            <a:r>
              <a:rPr lang="en-US" sz="3300" b="1" dirty="0">
                <a:solidFill>
                  <a:srgbClr val="047857"/>
                </a:solidFill>
                <a:latin typeface="Calibri" pitchFamily="34" charset="0"/>
                <a:ea typeface="Calibri" pitchFamily="34" charset="-122"/>
                <a:cs typeface="Calibri" pitchFamily="34" charset="-120"/>
              </a:rPr>
              <a:t>domine les deux</a:t>
            </a:r>
            <a:endParaRPr lang="en-US" sz="3300" dirty="0"/>
          </a:p>
        </p:txBody>
      </p:sp>
      <p:sp>
        <p:nvSpPr>
          <p:cNvPr id="6" name="Shape 3"/>
          <p:cNvSpPr/>
          <p:nvPr/>
        </p:nvSpPr>
        <p:spPr>
          <a:xfrm>
            <a:off x="658368" y="1783080"/>
            <a:ext cx="6583680" cy="3566160"/>
          </a:xfrm>
          <a:prstGeom prst="roundRect">
            <a:avLst>
              <a:gd name="adj" fmla="val 1795"/>
            </a:avLst>
          </a:prstGeom>
          <a:solidFill>
            <a:srgbClr val="FFFFFF"/>
          </a:solidFill>
          <a:ln w="12700">
            <a:solidFill>
              <a:srgbClr val="DFE5EF"/>
            </a:solidFill>
            <a:prstDash val="solid"/>
          </a:ln>
          <a:effectLst>
            <a:outerShdw sx="100000" sy="100000" kx="0" ky="0" algn="bl" rotWithShape="0" blurRad="101600" dist="25400" dir="5400000">
              <a:srgbClr val="A3AFC4">
                <a:alpha val="22000"/>
              </a:srgbClr>
            </a:outerShdw>
          </a:effectLst>
        </p:spPr>
      </p:sp>
      <p:graphicFrame>
        <p:nvGraphicFramePr>
          <p:cNvPr id="7" name="Chart 0" descr=""/>
          <p:cNvGraphicFramePr/>
          <p:nvPr/>
        </p:nvGraphicFramePr>
        <p:xfrm>
          <a:off x="786384" y="1892808"/>
          <a:ext cx="6327648" cy="3346704"/>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658368" y="5440680"/>
            <a:ext cx="6583680" cy="457200"/>
          </a:xfrm>
          <a:prstGeom prst="rect">
            <a:avLst/>
          </a:prstGeom>
          <a:noFill/>
          <a:ln/>
        </p:spPr>
        <p:txBody>
          <a:bodyPr wrap="square" lIns="0" tIns="0" rIns="0" bIns="0" rtlCol="0" anchor="t"/>
          <a:lstStyle/>
          <a:p>
            <a:pPr indent="0" marL="0">
              <a:lnSpc>
                <a:spcPct val="110000"/>
              </a:lnSpc>
              <a:buNone/>
            </a:pPr>
            <a:r>
              <a:rPr lang="en-US" sz="900" dirty="0">
                <a:solidFill>
                  <a:srgbClr val="8794AC"/>
                </a:solidFill>
                <a:latin typeface="Calibri" pitchFamily="34" charset="0"/>
                <a:ea typeface="Calibri" pitchFamily="34" charset="-122"/>
                <a:cs typeface="Calibri" pitchFamily="34" charset="-120"/>
              </a:rPr>
              <a:t>MRR@10 — exécution de contrôle sur corpus réduit. L'ordre entre moteurs est reproductible ; les valeurs absolues sont à régénérer sur le corpus complet.</a:t>
            </a:r>
            <a:endParaRPr lang="en-US" sz="900" dirty="0"/>
          </a:p>
        </p:txBody>
      </p:sp>
      <p:sp>
        <p:nvSpPr>
          <p:cNvPr id="9" name="Shape 5"/>
          <p:cNvSpPr/>
          <p:nvPr/>
        </p:nvSpPr>
        <p:spPr>
          <a:xfrm>
            <a:off x="7653528" y="1783080"/>
            <a:ext cx="3877056" cy="1783080"/>
          </a:xfrm>
          <a:prstGeom prst="roundRect">
            <a:avLst>
              <a:gd name="adj" fmla="val 3590"/>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0" name="Shape 6"/>
          <p:cNvSpPr/>
          <p:nvPr/>
        </p:nvSpPr>
        <p:spPr>
          <a:xfrm>
            <a:off x="7891272" y="1997964"/>
            <a:ext cx="105156" cy="105156"/>
          </a:xfrm>
          <a:prstGeom prst="ellipse">
            <a:avLst/>
          </a:prstGeom>
          <a:solidFill>
            <a:srgbClr val="047857"/>
          </a:solidFill>
          <a:ln w="12700">
            <a:solidFill>
              <a:srgbClr val="333333"/>
            </a:solidFill>
            <a:prstDash val="solid"/>
          </a:ln>
        </p:spPr>
      </p:sp>
      <p:sp>
        <p:nvSpPr>
          <p:cNvPr id="11" name="Text 7"/>
          <p:cNvSpPr txBox="1"/>
          <p:nvPr/>
        </p:nvSpPr>
        <p:spPr>
          <a:xfrm>
            <a:off x="8074152" y="1947672"/>
            <a:ext cx="3218688" cy="201168"/>
          </a:xfrm>
          <a:prstGeom prst="rect">
            <a:avLst/>
          </a:prstGeom>
          <a:noFill/>
          <a:ln/>
        </p:spPr>
        <p:txBody>
          <a:bodyPr wrap="square" lIns="0" tIns="0" rIns="0" bIns="0" rtlCol="0" anchor="ctr"/>
          <a:lstStyle/>
          <a:p>
            <a:pPr indent="0" marL="0">
              <a:buNone/>
            </a:pPr>
            <a:r>
              <a:rPr lang="en-US" sz="850" b="1" spc="110" kern="0" dirty="0">
                <a:solidFill>
                  <a:srgbClr val="047857"/>
                </a:solidFill>
                <a:latin typeface="Calibri" pitchFamily="34" charset="0"/>
                <a:ea typeface="Calibri" pitchFamily="34" charset="-122"/>
                <a:cs typeface="Calibri" pitchFamily="34" charset="-120"/>
              </a:rPr>
              <a:t>CE QUE LA FUSION APPORTE</a:t>
            </a:r>
            <a:endParaRPr lang="en-US" sz="850" dirty="0"/>
          </a:p>
        </p:txBody>
      </p:sp>
      <p:sp>
        <p:nvSpPr>
          <p:cNvPr id="12" name="Text 8"/>
          <p:cNvSpPr txBox="1"/>
          <p:nvPr/>
        </p:nvSpPr>
        <p:spPr>
          <a:xfrm>
            <a:off x="7891272" y="2221992"/>
            <a:ext cx="3401568" cy="1179576"/>
          </a:xfrm>
          <a:prstGeom prst="rect">
            <a:avLst/>
          </a:prstGeom>
          <a:noFill/>
          <a:ln/>
        </p:spPr>
        <p:txBody>
          <a:bodyPr wrap="square" lIns="0" tIns="0" rIns="0" bIns="0" rtlCol="0" anchor="t"/>
          <a:lstStyle/>
          <a:p>
            <a:pPr marL="342900" indent="-342900">
              <a:lnSpc>
                <a:spcPct val="114000"/>
              </a:lnSpc>
              <a:spcAft>
                <a:spcPts val="500"/>
              </a:spcAft>
              <a:buSzPct val="100000"/>
              <a:buChar char="•"/>
            </a:pPr>
            <a:r>
              <a:rPr lang="en-US" sz="1050" dirty="0">
                <a:solidFill>
                  <a:srgbClr val="46536B"/>
                </a:solidFill>
                <a:latin typeface="Calibri" pitchFamily="34" charset="0"/>
                <a:ea typeface="Calibri" pitchFamily="34" charset="-122"/>
                <a:cs typeface="Calibri" pitchFamily="34" charset="-120"/>
              </a:rPr>
              <a:t>Meilleure que chacun sur les trois protocoles</a:t>
            </a:r>
            <a:endParaRPr lang="en-US" sz="1050" dirty="0"/>
          </a:p>
          <a:p>
            <a:pPr marL="342900" indent="-342900">
              <a:lnSpc>
                <a:spcPct val="114000"/>
              </a:lnSpc>
              <a:spcAft>
                <a:spcPts val="500"/>
              </a:spcAft>
              <a:buSzPct val="100000"/>
              <a:buChar char="•"/>
            </a:pPr>
            <a:r>
              <a:rPr lang="en-US" sz="1050" dirty="0">
                <a:solidFill>
                  <a:srgbClr val="46536B"/>
                </a:solidFill>
                <a:latin typeface="Calibri" pitchFamily="34" charset="0"/>
                <a:ea typeface="Calibri" pitchFamily="34" charset="-122"/>
                <a:cs typeface="Calibri" pitchFamily="34" charset="-120"/>
              </a:rPr>
              <a:t>Écart le plus net là où les deux se contredisent</a:t>
            </a:r>
            <a:endParaRPr lang="en-US" sz="1050" dirty="0"/>
          </a:p>
          <a:p>
            <a:pPr marL="342900" indent="-342900">
              <a:lnSpc>
                <a:spcPct val="114000"/>
              </a:lnSpc>
              <a:spcAft>
                <a:spcPts val="500"/>
              </a:spcAft>
              <a:buSzPct val="100000"/>
              <a:buChar char="•"/>
            </a:pPr>
            <a:r>
              <a:rPr lang="en-US" sz="1050" b="1" dirty="0">
                <a:solidFill>
                  <a:srgbClr val="047857"/>
                </a:solidFill>
                <a:latin typeface="Calibri" pitchFamily="34" charset="0"/>
                <a:ea typeface="Calibri" pitchFamily="34" charset="-122"/>
                <a:cs typeface="Calibri" pitchFamily="34" charset="-120"/>
              </a:rPr>
              <a:t>0 requête arabe sans résultat</a:t>
            </a:r>
            <a:endParaRPr lang="en-US" sz="1050" dirty="0"/>
          </a:p>
        </p:txBody>
      </p:sp>
      <p:sp>
        <p:nvSpPr>
          <p:cNvPr id="13" name="Text 9"/>
          <p:cNvSpPr txBox="1"/>
          <p:nvPr/>
        </p:nvSpPr>
        <p:spPr>
          <a:xfrm>
            <a:off x="7653528" y="3749040"/>
            <a:ext cx="3877056" cy="237744"/>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Latence par requête</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653528" y="4041648"/>
          <a:ext cx="3877056" cy="914400"/>
        </p:xfrm>
        <a:graphic>
          <a:graphicData uri="http://schemas.openxmlformats.org/drawingml/2006/table">
            <a:tbl>
              <a:tblPr/>
              <a:tblGrid>
                <a:gridCol w="1572768"/>
                <a:gridCol w="1152144"/>
                <a:gridCol w="1152144"/>
              </a:tblGrid>
              <a:tr h="329184">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Moteur</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médiane</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p95</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7C3AED"/>
                          </a:solidFill>
                          <a:latin typeface="Calibri" pitchFamily="34" charset="0"/>
                          <a:ea typeface="Calibri" pitchFamily="34" charset="-122"/>
                          <a:cs typeface="Calibri" pitchFamily="34" charset="-120"/>
                        </a:rPr>
                        <a:t>Sémantique</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83,4 ms</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107,2 ms</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C2740A"/>
                          </a:solidFill>
                          <a:latin typeface="Calibri" pitchFamily="34" charset="0"/>
                          <a:ea typeface="Calibri" pitchFamily="34" charset="-122"/>
                          <a:cs typeface="Calibri" pitchFamily="34" charset="-120"/>
                        </a:rPr>
                        <a:t>BM25</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116,7 ms</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236,0 ms</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bl>
          </a:graphicData>
        </a:graphic>
      </p:graphicFrame>
      <p:sp>
        <p:nvSpPr>
          <p:cNvPr id="15" name="Shape 10"/>
          <p:cNvSpPr/>
          <p:nvPr/>
        </p:nvSpPr>
        <p:spPr>
          <a:xfrm>
            <a:off x="7653528" y="5120640"/>
            <a:ext cx="3877056" cy="777240"/>
          </a:xfrm>
          <a:prstGeom prst="roundRect">
            <a:avLst>
              <a:gd name="adj" fmla="val 8235"/>
            </a:avLst>
          </a:prstGeom>
          <a:solidFill>
            <a:srgbClr val="FDF0F3"/>
          </a:solidFill>
          <a:ln w="12700">
            <a:solidFill>
              <a:srgbClr val="BE123C"/>
            </a:solidFill>
            <a:prstDash val="solid"/>
          </a:ln>
          <a:effectLst>
            <a:outerShdw sx="100000" sy="100000" kx="0" ky="0" algn="bl" rotWithShape="0" blurRad="101600" dist="25400" dir="5400000">
              <a:srgbClr val="A3AFC4">
                <a:alpha val="22000"/>
              </a:srgbClr>
            </a:outerShdw>
          </a:effectLst>
        </p:spPr>
      </p:sp>
      <p:sp>
        <p:nvSpPr>
          <p:cNvPr id="16" name="Text 11"/>
          <p:cNvSpPr txBox="1"/>
          <p:nvPr/>
        </p:nvSpPr>
        <p:spPr>
          <a:xfrm>
            <a:off x="7891272" y="5303520"/>
            <a:ext cx="3401568" cy="448056"/>
          </a:xfrm>
          <a:prstGeom prst="rect">
            <a:avLst/>
          </a:prstGeom>
          <a:noFill/>
          <a:ln/>
        </p:spPr>
        <p:txBody>
          <a:bodyPr wrap="square" lIns="0" tIns="0" rIns="0" bIns="0" rtlCol="0" anchor="t"/>
          <a:lstStyle/>
          <a:p>
            <a:pPr indent="0" marL="0">
              <a:lnSpc>
                <a:spcPct val="124000"/>
              </a:lnSpc>
              <a:buNone/>
            </a:pPr>
            <a:r>
              <a:rPr lang="en-US" sz="1100" dirty="0">
                <a:solidFill>
                  <a:srgbClr val="0F172A"/>
                </a:solidFill>
                <a:latin typeface="Calibri" pitchFamily="34" charset="0"/>
                <a:ea typeface="Calibri" pitchFamily="34" charset="-122"/>
                <a:cs typeface="Calibri" pitchFamily="34" charset="-120"/>
              </a:rPr>
              <a:t>La fusion paie par construction la somme des deux latences.</a:t>
            </a:r>
            <a:endParaRPr lang="en-US" sz="1100" dirty="0"/>
          </a:p>
        </p:txBody>
      </p:sp>
      <p:sp>
        <p:nvSpPr>
          <p:cNvPr id="17" name="Text 12"/>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Résultat 4 — la fusion hybride</a:t>
            </a:r>
            <a:endParaRPr lang="en-US" sz="900" dirty="0"/>
          </a:p>
        </p:txBody>
      </p:sp>
      <p:sp>
        <p:nvSpPr>
          <p:cNvPr id="18" name="Text 13"/>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4338C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4338CA"/>
                </a:solidFill>
                <a:latin typeface="Calibri" pitchFamily="34" charset="0"/>
                <a:ea typeface="Calibri" pitchFamily="34" charset="-122"/>
                <a:cs typeface="Calibri" pitchFamily="34" charset="-120"/>
              </a:rPr>
              <a:t>CONCLUSION</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Ce que les mesures autorisent à dire</a:t>
            </a:r>
            <a:endParaRPr lang="en-US" sz="3300" dirty="0"/>
          </a:p>
        </p:txBody>
      </p:sp>
      <p:sp>
        <p:nvSpPr>
          <p:cNvPr id="6" name="Shape 3"/>
          <p:cNvSpPr/>
          <p:nvPr/>
        </p:nvSpPr>
        <p:spPr>
          <a:xfrm>
            <a:off x="658368" y="1627632"/>
            <a:ext cx="10874959" cy="1481328"/>
          </a:xfrm>
          <a:prstGeom prst="roundRect">
            <a:avLst>
              <a:gd name="adj" fmla="val 4321"/>
            </a:avLst>
          </a:prstGeom>
          <a:solidFill>
            <a:srgbClr val="EEF0FE"/>
          </a:solidFill>
          <a:ln w="12700">
            <a:solidFill>
              <a:srgbClr val="4338CA"/>
            </a:solidFill>
            <a:prstDash val="solid"/>
          </a:ln>
          <a:effectLst>
            <a:outerShdw sx="100000" sy="100000" kx="0" ky="0" algn="bl" rotWithShape="0" blurRad="101600" dist="25400" dir="5400000">
              <a:srgbClr val="A3AFC4">
                <a:alpha val="22000"/>
              </a:srgbClr>
            </a:outerShdw>
          </a:effectLst>
        </p:spPr>
      </p:sp>
      <p:sp>
        <p:nvSpPr>
          <p:cNvPr id="7" name="Shape 4"/>
          <p:cNvSpPr/>
          <p:nvPr/>
        </p:nvSpPr>
        <p:spPr>
          <a:xfrm>
            <a:off x="896112" y="1837944"/>
            <a:ext cx="109728" cy="109728"/>
          </a:xfrm>
          <a:prstGeom prst="ellipse">
            <a:avLst/>
          </a:prstGeom>
          <a:solidFill>
            <a:srgbClr val="4338CA"/>
          </a:solidFill>
          <a:ln w="12700">
            <a:solidFill>
              <a:srgbClr val="333333"/>
            </a:solidFill>
            <a:prstDash val="solid"/>
          </a:ln>
        </p:spPr>
      </p:sp>
      <p:sp>
        <p:nvSpPr>
          <p:cNvPr id="8" name="Text 5"/>
          <p:cNvSpPr txBox="1"/>
          <p:nvPr/>
        </p:nvSpPr>
        <p:spPr>
          <a:xfrm>
            <a:off x="1078992" y="1783080"/>
            <a:ext cx="10216591" cy="219456"/>
          </a:xfrm>
          <a:prstGeom prst="rect">
            <a:avLst/>
          </a:prstGeom>
          <a:noFill/>
          <a:ln/>
        </p:spPr>
        <p:txBody>
          <a:bodyPr wrap="square" lIns="0" tIns="0" rIns="0" bIns="0" rtlCol="0" anchor="ctr"/>
          <a:lstStyle/>
          <a:p>
            <a:pPr indent="0" marL="0">
              <a:buNone/>
            </a:pPr>
            <a:r>
              <a:rPr lang="en-US" sz="850" b="1" spc="110" kern="0" dirty="0">
                <a:solidFill>
                  <a:srgbClr val="4338CA"/>
                </a:solidFill>
                <a:latin typeface="Calibri" pitchFamily="34" charset="0"/>
                <a:ea typeface="Calibri" pitchFamily="34" charset="-122"/>
                <a:cs typeface="Calibri" pitchFamily="34" charset="-120"/>
              </a:rPr>
              <a:t>LA THÈSE DÉFENDABLE</a:t>
            </a:r>
            <a:endParaRPr lang="en-US" sz="850" dirty="0"/>
          </a:p>
        </p:txBody>
      </p:sp>
      <p:sp>
        <p:nvSpPr>
          <p:cNvPr id="9" name="Text 6"/>
          <p:cNvSpPr txBox="1"/>
          <p:nvPr/>
        </p:nvSpPr>
        <p:spPr>
          <a:xfrm>
            <a:off x="896112" y="2084832"/>
            <a:ext cx="10399471" cy="877824"/>
          </a:xfrm>
          <a:prstGeom prst="rect">
            <a:avLst/>
          </a:prstGeom>
          <a:noFill/>
          <a:ln/>
        </p:spPr>
        <p:txBody>
          <a:bodyPr wrap="square" lIns="0" tIns="0" rIns="0" bIns="0" rtlCol="0" anchor="t"/>
          <a:lstStyle/>
          <a:p>
            <a:pPr indent="0" marL="0">
              <a:lnSpc>
                <a:spcPct val="124000"/>
              </a:lnSpc>
              <a:buNone/>
            </a:pPr>
            <a:r>
              <a:rPr lang="en-US" sz="1500" dirty="0">
                <a:solidFill>
                  <a:srgbClr val="0F172A"/>
                </a:solidFill>
                <a:latin typeface="Calibri" pitchFamily="34" charset="0"/>
                <a:ea typeface="Calibri" pitchFamily="34" charset="-122"/>
                <a:cs typeface="Calibri" pitchFamily="34" charset="-120"/>
              </a:rPr>
              <a:t>Là où les mots se recouvrent, BM25 reste légèrement meilleur, gratuit et instantané.</a:t>
            </a:r>
            <a:endParaRPr lang="en-US" sz="1500" dirty="0"/>
          </a:p>
          <a:p>
            <a:pPr indent="0" marL="0">
              <a:lnSpc>
                <a:spcPct val="124000"/>
              </a:lnSpc>
              <a:buNone/>
            </a:pPr>
            <a:r>
              <a:rPr lang="en-US" sz="1500" dirty="0">
                <a:solidFill>
                  <a:srgbClr val="0F172A"/>
                </a:solidFill>
                <a:latin typeface="Calibri" pitchFamily="34" charset="0"/>
                <a:ea typeface="Calibri" pitchFamily="34" charset="-122"/>
                <a:cs typeface="Calibri" pitchFamily="34" charset="-120"/>
              </a:rPr>
              <a:t>Là où ils ne se recouvrent pas — autre langue, autre vocabulaire — le moteur sémantique est le seul à fonctionner, tandis que BM25 ne renvoie rien.</a:t>
            </a:r>
            <a:endParaRPr lang="en-US" sz="1500" dirty="0"/>
          </a:p>
        </p:txBody>
      </p:sp>
      <p:sp>
        <p:nvSpPr>
          <p:cNvPr id="10" name="Shape 7"/>
          <p:cNvSpPr/>
          <p:nvPr/>
        </p:nvSpPr>
        <p:spPr>
          <a:xfrm>
            <a:off x="658368" y="3310128"/>
            <a:ext cx="5230368" cy="1920240"/>
          </a:xfrm>
          <a:prstGeom prst="roundRect">
            <a:avLst>
              <a:gd name="adj" fmla="val 3333"/>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1" name="Shape 8"/>
          <p:cNvSpPr/>
          <p:nvPr/>
        </p:nvSpPr>
        <p:spPr>
          <a:xfrm>
            <a:off x="896112" y="3525012"/>
            <a:ext cx="105156" cy="105156"/>
          </a:xfrm>
          <a:prstGeom prst="ellipse">
            <a:avLst/>
          </a:prstGeom>
          <a:solidFill>
            <a:srgbClr val="BE123C"/>
          </a:solidFill>
          <a:ln w="12700">
            <a:solidFill>
              <a:srgbClr val="333333"/>
            </a:solidFill>
            <a:prstDash val="solid"/>
          </a:ln>
        </p:spPr>
      </p:sp>
      <p:sp>
        <p:nvSpPr>
          <p:cNvPr id="12" name="Text 9"/>
          <p:cNvSpPr txBox="1"/>
          <p:nvPr/>
        </p:nvSpPr>
        <p:spPr>
          <a:xfrm>
            <a:off x="1078992" y="3474720"/>
            <a:ext cx="4572000" cy="201168"/>
          </a:xfrm>
          <a:prstGeom prst="rect">
            <a:avLst/>
          </a:prstGeom>
          <a:noFill/>
          <a:ln/>
        </p:spPr>
        <p:txBody>
          <a:bodyPr wrap="square" lIns="0" tIns="0" rIns="0" bIns="0" rtlCol="0" anchor="ctr"/>
          <a:lstStyle/>
          <a:p>
            <a:pPr indent="0" marL="0">
              <a:buNone/>
            </a:pPr>
            <a:r>
              <a:rPr lang="en-US" sz="850" b="1" spc="110" kern="0" dirty="0">
                <a:solidFill>
                  <a:srgbClr val="BE123C"/>
                </a:solidFill>
                <a:latin typeface="Calibri" pitchFamily="34" charset="0"/>
                <a:ea typeface="Calibri" pitchFamily="34" charset="-122"/>
                <a:cs typeface="Calibri" pitchFamily="34" charset="-120"/>
              </a:rPr>
              <a:t>LIMITES ASSUMÉES</a:t>
            </a:r>
            <a:endParaRPr lang="en-US" sz="850" dirty="0"/>
          </a:p>
        </p:txBody>
      </p:sp>
      <p:sp>
        <p:nvSpPr>
          <p:cNvPr id="13" name="Text 10"/>
          <p:cNvSpPr txBox="1"/>
          <p:nvPr/>
        </p:nvSpPr>
        <p:spPr>
          <a:xfrm>
            <a:off x="896112" y="3749040"/>
            <a:ext cx="4754880" cy="1316736"/>
          </a:xfrm>
          <a:prstGeom prst="rect">
            <a:avLst/>
          </a:prstGeom>
          <a:noFill/>
          <a:ln/>
        </p:spPr>
        <p:txBody>
          <a:bodyPr wrap="square" lIns="0" tIns="0" rIns="0" bIns="0" rtlCol="0" anchor="t"/>
          <a:lstStyle/>
          <a:p>
            <a:pPr marL="342900" indent="-342900">
              <a:lnSpc>
                <a:spcPct val="114000"/>
              </a:lnSpc>
              <a:spcAft>
                <a:spcPts val="500"/>
              </a:spcAft>
              <a:buSzPct val="100000"/>
              <a:buChar char="•"/>
            </a:pPr>
            <a:r>
              <a:rPr lang="en-US" sz="1100" dirty="0">
                <a:solidFill>
                  <a:srgbClr val="46536B"/>
                </a:solidFill>
                <a:latin typeface="Calibri" pitchFamily="34" charset="0"/>
                <a:ea typeface="Calibri" pitchFamily="34" charset="-122"/>
                <a:cs typeface="Calibri" pitchFamily="34" charset="-120"/>
              </a:rPr>
              <a:t>Qualité multilingue non uniforme — 0,130 en arabe contre 0,445 en français</a:t>
            </a:r>
            <a:endParaRPr lang="en-US" sz="1100" dirty="0"/>
          </a:p>
          <a:p>
            <a:pPr marL="342900" indent="-342900">
              <a:lnSpc>
                <a:spcPct val="114000"/>
              </a:lnSpc>
              <a:spcAft>
                <a:spcPts val="500"/>
              </a:spcAft>
              <a:buSzPct val="100000"/>
              <a:buChar char="•"/>
            </a:pPr>
            <a:r>
              <a:rPr lang="en-US" sz="1100" dirty="0">
                <a:solidFill>
                  <a:srgbClr val="46536B"/>
                </a:solidFill>
                <a:latin typeface="Calibri" pitchFamily="34" charset="0"/>
                <a:ea typeface="Calibri" pitchFamily="34" charset="-122"/>
                <a:cs typeface="Calibri" pitchFamily="34" charset="-120"/>
              </a:rPr>
              <a:t>Le protocole 1 ne mesure pas le sens — son tiers le plus dur reste à 63 % lexical</a:t>
            </a:r>
            <a:endParaRPr lang="en-US" sz="1100" dirty="0"/>
          </a:p>
          <a:p>
            <a:pPr marL="342900" indent="-342900">
              <a:lnSpc>
                <a:spcPct val="114000"/>
              </a:lnSpc>
              <a:spcAft>
                <a:spcPts val="500"/>
              </a:spcAft>
              <a:buSzPct val="100000"/>
              <a:buChar char="•"/>
            </a:pPr>
            <a:r>
              <a:rPr lang="en-US" sz="1100" dirty="0">
                <a:solidFill>
                  <a:srgbClr val="46536B"/>
                </a:solidFill>
                <a:latin typeface="Calibri" pitchFamily="34" charset="0"/>
                <a:ea typeface="Calibri" pitchFamily="34" charset="-122"/>
                <a:cs typeface="Calibri" pitchFamily="34" charset="-120"/>
              </a:rPr>
              <a:t>Corpus mono-domaine — résumés scientifiques anglophones</a:t>
            </a:r>
            <a:endParaRPr lang="en-US" sz="1100" dirty="0"/>
          </a:p>
          <a:p>
            <a:pPr marL="342900" indent="-342900">
              <a:lnSpc>
                <a:spcPct val="114000"/>
              </a:lnSpc>
              <a:spcAft>
                <a:spcPts val="500"/>
              </a:spcAft>
              <a:buSzPct val="100000"/>
              <a:buChar char="•"/>
            </a:pPr>
            <a:r>
              <a:rPr lang="en-US" sz="1100" dirty="0">
                <a:solidFill>
                  <a:srgbClr val="46536B"/>
                </a:solidFill>
                <a:latin typeface="Calibri" pitchFamily="34" charset="0"/>
                <a:ea typeface="Calibri" pitchFamily="34" charset="-122"/>
                <a:cs typeface="Calibri" pitchFamily="34" charset="-120"/>
              </a:rPr>
              <a:t>L'explicabilité coûte 9× la recherche sur CPU</a:t>
            </a:r>
            <a:endParaRPr lang="en-US" sz="1100" dirty="0"/>
          </a:p>
        </p:txBody>
      </p:sp>
      <p:sp>
        <p:nvSpPr>
          <p:cNvPr id="14" name="Shape 11"/>
          <p:cNvSpPr/>
          <p:nvPr/>
        </p:nvSpPr>
        <p:spPr>
          <a:xfrm>
            <a:off x="6300216" y="3310128"/>
            <a:ext cx="5230368" cy="1920240"/>
          </a:xfrm>
          <a:prstGeom prst="roundRect">
            <a:avLst>
              <a:gd name="adj" fmla="val 3333"/>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5" name="Shape 12"/>
          <p:cNvSpPr/>
          <p:nvPr/>
        </p:nvSpPr>
        <p:spPr>
          <a:xfrm>
            <a:off x="6537960" y="3525012"/>
            <a:ext cx="105156" cy="105156"/>
          </a:xfrm>
          <a:prstGeom prst="ellipse">
            <a:avLst/>
          </a:prstGeom>
          <a:solidFill>
            <a:srgbClr val="047857"/>
          </a:solidFill>
          <a:ln w="12700">
            <a:solidFill>
              <a:srgbClr val="333333"/>
            </a:solidFill>
            <a:prstDash val="solid"/>
          </a:ln>
        </p:spPr>
      </p:sp>
      <p:sp>
        <p:nvSpPr>
          <p:cNvPr id="16" name="Text 13"/>
          <p:cNvSpPr txBox="1"/>
          <p:nvPr/>
        </p:nvSpPr>
        <p:spPr>
          <a:xfrm>
            <a:off x="6720840" y="3474720"/>
            <a:ext cx="4572000" cy="201168"/>
          </a:xfrm>
          <a:prstGeom prst="rect">
            <a:avLst/>
          </a:prstGeom>
          <a:noFill/>
          <a:ln/>
        </p:spPr>
        <p:txBody>
          <a:bodyPr wrap="square" lIns="0" tIns="0" rIns="0" bIns="0" rtlCol="0" anchor="ctr"/>
          <a:lstStyle/>
          <a:p>
            <a:pPr indent="0" marL="0">
              <a:buNone/>
            </a:pPr>
            <a:r>
              <a:rPr lang="en-US" sz="850" b="1" spc="110" kern="0" dirty="0">
                <a:solidFill>
                  <a:srgbClr val="047857"/>
                </a:solidFill>
                <a:latin typeface="Calibri" pitchFamily="34" charset="0"/>
                <a:ea typeface="Calibri" pitchFamily="34" charset="-122"/>
                <a:cs typeface="Calibri" pitchFamily="34" charset="-120"/>
              </a:rPr>
              <a:t>PERSPECTIVES, PAR RAPPORT QUALITÉ / EFFORT</a:t>
            </a:r>
            <a:endParaRPr lang="en-US" sz="850" dirty="0"/>
          </a:p>
        </p:txBody>
      </p:sp>
      <p:sp>
        <p:nvSpPr>
          <p:cNvPr id="17" name="Text 14"/>
          <p:cNvSpPr txBox="1"/>
          <p:nvPr/>
        </p:nvSpPr>
        <p:spPr>
          <a:xfrm>
            <a:off x="6537960" y="3749040"/>
            <a:ext cx="4754880" cy="1316736"/>
          </a:xfrm>
          <a:prstGeom prst="rect">
            <a:avLst/>
          </a:prstGeom>
          <a:noFill/>
          <a:ln/>
        </p:spPr>
        <p:txBody>
          <a:bodyPr wrap="square" lIns="0" tIns="0" rIns="0" bIns="0" rtlCol="0" anchor="t"/>
          <a:lstStyle/>
          <a:p>
            <a:pPr marL="342900" indent="-342900">
              <a:lnSpc>
                <a:spcPct val="114000"/>
              </a:lnSpc>
              <a:spcAft>
                <a:spcPts val="500"/>
              </a:spcAft>
              <a:buSzPct val="100000"/>
              <a:buChar char="•"/>
            </a:pPr>
            <a:r>
              <a:rPr lang="en-US" sz="1100" b="1" dirty="0">
                <a:solidFill>
                  <a:srgbClr val="0F172A"/>
                </a:solidFill>
                <a:latin typeface="Calibri" pitchFamily="34" charset="0"/>
                <a:ea typeface="Calibri" pitchFamily="34" charset="-122"/>
                <a:cs typeface="Calibri" pitchFamily="34" charset="-120"/>
              </a:rPr>
              <a:t>Reranking par cross-encoder — un modèle qui lit question et document ensemble. Le plus rentable</a:t>
            </a:r>
            <a:endParaRPr lang="en-US" sz="1100" dirty="0"/>
          </a:p>
          <a:p>
            <a:pPr marL="342900" indent="-342900">
              <a:lnSpc>
                <a:spcPct val="114000"/>
              </a:lnSpc>
              <a:spcAft>
                <a:spcPts val="500"/>
              </a:spcAft>
              <a:buSzPct val="100000"/>
              <a:buChar char="•"/>
            </a:pPr>
            <a:r>
              <a:rPr lang="en-US" sz="1100" dirty="0">
                <a:solidFill>
                  <a:srgbClr val="46536B"/>
                </a:solidFill>
                <a:latin typeface="Calibri" pitchFamily="34" charset="0"/>
                <a:ea typeface="Calibri" pitchFamily="34" charset="-122"/>
                <a:cs typeface="Calibri" pitchFamily="34" charset="-120"/>
              </a:rPr>
              <a:t>Régler les poids de la fusion — l'infrastructure est déjà là</a:t>
            </a:r>
            <a:endParaRPr lang="en-US" sz="1100" dirty="0"/>
          </a:p>
          <a:p>
            <a:pPr marL="342900" indent="-342900">
              <a:lnSpc>
                <a:spcPct val="114000"/>
              </a:lnSpc>
              <a:spcAft>
                <a:spcPts val="500"/>
              </a:spcAft>
              <a:buSzPct val="100000"/>
              <a:buChar char="•"/>
            </a:pPr>
            <a:r>
              <a:rPr lang="en-US" sz="1100" dirty="0">
                <a:solidFill>
                  <a:srgbClr val="46536B"/>
                </a:solidFill>
                <a:latin typeface="Calibri" pitchFamily="34" charset="0"/>
                <a:ea typeface="Calibri" pitchFamily="34" charset="-122"/>
                <a:cs typeface="Calibri" pitchFamily="34" charset="-120"/>
              </a:rPr>
              <a:t>Comparer e5-base à e5-small, en particulier sur l'arabe</a:t>
            </a:r>
            <a:endParaRPr lang="en-US" sz="1100" dirty="0"/>
          </a:p>
          <a:p>
            <a:pPr marL="342900" indent="-342900">
              <a:lnSpc>
                <a:spcPct val="114000"/>
              </a:lnSpc>
              <a:spcAft>
                <a:spcPts val="500"/>
              </a:spcAft>
              <a:buSzPct val="100000"/>
              <a:buChar char="•"/>
            </a:pPr>
            <a:r>
              <a:rPr lang="en-US" sz="1100" dirty="0">
                <a:solidFill>
                  <a:srgbClr val="46536B"/>
                </a:solidFill>
                <a:latin typeface="Calibri" pitchFamily="34" charset="0"/>
                <a:ea typeface="Calibri" pitchFamily="34" charset="-122"/>
                <a:cs typeface="Calibri" pitchFamily="34" charset="-120"/>
              </a:rPr>
              <a:t>Passage à l'échelle — 500 000 articles</a:t>
            </a:r>
            <a:endParaRPr lang="en-US" sz="1100" dirty="0"/>
          </a:p>
        </p:txBody>
      </p:sp>
      <p:sp>
        <p:nvSpPr>
          <p:cNvPr id="18" name="Text 15"/>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Conclusion</a:t>
            </a:r>
            <a:endParaRPr lang="en-US" sz="900" dirty="0"/>
          </a:p>
        </p:txBody>
      </p:sp>
      <p:sp>
        <p:nvSpPr>
          <p:cNvPr id="19" name="Text 16"/>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A78BFA"/>
          </a:solidFill>
          <a:ln w="12700">
            <a:solidFill>
              <a:srgbClr val="333333"/>
            </a:solidFill>
            <a:prstDash val="solid"/>
          </a:ln>
        </p:spPr>
      </p:sp>
      <p:sp>
        <p:nvSpPr>
          <p:cNvPr id="4" name="Text 1"/>
          <p:cNvSpPr txBox="1"/>
          <p:nvPr/>
        </p:nvSpPr>
        <p:spPr>
          <a:xfrm>
            <a:off x="868680" y="420624"/>
            <a:ext cx="10874959" cy="274320"/>
          </a:xfrm>
          <a:prstGeom prst="rect">
            <a:avLst/>
          </a:prstGeom>
          <a:noFill/>
          <a:ln/>
        </p:spPr>
        <p:txBody>
          <a:bodyPr wrap="square" lIns="0" tIns="0" rIns="0" bIns="0" rtlCol="0" anchor="ctr"/>
          <a:lstStyle/>
          <a:p>
            <a:pPr indent="0" marL="0">
              <a:buNone/>
            </a:pPr>
            <a:r>
              <a:rPr lang="en-US" sz="1000" b="1" spc="150" kern="0" dirty="0">
                <a:solidFill>
                  <a:srgbClr val="B9A7F5"/>
                </a:solidFill>
                <a:latin typeface="Calibri" pitchFamily="34" charset="0"/>
                <a:ea typeface="Calibri" pitchFamily="34" charset="-122"/>
                <a:cs typeface="Calibri" pitchFamily="34" charset="-120"/>
              </a:rPr>
              <a:t>DÉMONSTRATION EN DIRECT</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F1F5F9"/>
                </a:solidFill>
                <a:latin typeface="Calibri" pitchFamily="34" charset="0"/>
                <a:ea typeface="Calibri" pitchFamily="34" charset="-122"/>
                <a:cs typeface="Calibri" pitchFamily="34" charset="-120"/>
              </a:rPr>
              <a:t>Trois questions, une seule idée</a:t>
            </a:r>
            <a:endParaRPr lang="en-US" sz="3300" dirty="0"/>
          </a:p>
        </p:txBody>
      </p:sp>
      <p:sp>
        <p:nvSpPr>
          <p:cNvPr id="6" name="Shape 3"/>
          <p:cNvSpPr/>
          <p:nvPr/>
        </p:nvSpPr>
        <p:spPr>
          <a:xfrm>
            <a:off x="658368" y="1874520"/>
            <a:ext cx="3502152" cy="2487168"/>
          </a:xfrm>
          <a:prstGeom prst="roundRect">
            <a:avLst>
              <a:gd name="adj" fmla="val 2574"/>
            </a:avLst>
          </a:prstGeom>
          <a:solidFill>
            <a:srgbClr val="1B2537"/>
          </a:solidFill>
          <a:ln w="12700">
            <a:solidFill>
              <a:srgbClr val="2C3B55"/>
            </a:solidFill>
            <a:prstDash val="solid"/>
          </a:ln>
        </p:spPr>
      </p:sp>
      <p:sp>
        <p:nvSpPr>
          <p:cNvPr id="7" name="Shape 4"/>
          <p:cNvSpPr/>
          <p:nvPr/>
        </p:nvSpPr>
        <p:spPr>
          <a:xfrm>
            <a:off x="896112" y="2093976"/>
            <a:ext cx="109728" cy="109728"/>
          </a:xfrm>
          <a:prstGeom prst="ellipse">
            <a:avLst/>
          </a:prstGeom>
          <a:solidFill>
            <a:srgbClr val="34D399"/>
          </a:solidFill>
          <a:ln w="12700">
            <a:solidFill>
              <a:srgbClr val="333333"/>
            </a:solidFill>
            <a:prstDash val="solid"/>
          </a:ln>
        </p:spPr>
      </p:sp>
      <p:sp>
        <p:nvSpPr>
          <p:cNvPr id="8" name="Text 5"/>
          <p:cNvSpPr txBox="1"/>
          <p:nvPr/>
        </p:nvSpPr>
        <p:spPr>
          <a:xfrm>
            <a:off x="1078992" y="2039112"/>
            <a:ext cx="2926080" cy="219456"/>
          </a:xfrm>
          <a:prstGeom prst="rect">
            <a:avLst/>
          </a:prstGeom>
          <a:noFill/>
          <a:ln/>
        </p:spPr>
        <p:txBody>
          <a:bodyPr wrap="square" lIns="0" tIns="0" rIns="0" bIns="0" rtlCol="0" anchor="ctr"/>
          <a:lstStyle/>
          <a:p>
            <a:pPr indent="0" marL="0">
              <a:buNone/>
            </a:pPr>
            <a:r>
              <a:rPr lang="en-US" sz="850" b="1" spc="110" kern="0" dirty="0">
                <a:solidFill>
                  <a:srgbClr val="34D399"/>
                </a:solidFill>
                <a:latin typeface="Calibri" pitchFamily="34" charset="0"/>
                <a:ea typeface="Calibri" pitchFamily="34" charset="-122"/>
                <a:cs typeface="Calibri" pitchFamily="34" charset="-120"/>
              </a:rPr>
              <a:t>TEMPS 1  ·  ANGLAIS</a:t>
            </a:r>
            <a:endParaRPr lang="en-US" sz="850" dirty="0"/>
          </a:p>
        </p:txBody>
      </p:sp>
      <p:sp>
        <p:nvSpPr>
          <p:cNvPr id="9" name="Text 6"/>
          <p:cNvSpPr txBox="1"/>
          <p:nvPr/>
        </p:nvSpPr>
        <p:spPr>
          <a:xfrm>
            <a:off x="896112" y="2359152"/>
            <a:ext cx="3026664" cy="777240"/>
          </a:xfrm>
          <a:prstGeom prst="rect">
            <a:avLst/>
          </a:prstGeom>
          <a:noFill/>
          <a:ln/>
        </p:spPr>
        <p:txBody>
          <a:bodyPr wrap="square" lIns="0" tIns="0" rIns="0" bIns="0" rtlCol="0" anchor="t"/>
          <a:lstStyle/>
          <a:p>
            <a:pPr indent="0" marL="0">
              <a:lnSpc>
                <a:spcPct val="115000"/>
              </a:lnSpc>
              <a:buNone/>
            </a:pPr>
            <a:r>
              <a:rPr lang="en-US" sz="1200" b="1" dirty="0">
                <a:solidFill>
                  <a:srgbClr val="F1F5F9"/>
                </a:solidFill>
                <a:latin typeface="Calibri" pitchFamily="34" charset="0"/>
                <a:ea typeface="Calibri" pitchFamily="34" charset="-122"/>
                <a:cs typeface="Calibri" pitchFamily="34" charset="-120"/>
              </a:rPr>
              <a:t>machine learning for banking fraud detection</a:t>
            </a:r>
            <a:endParaRPr lang="en-US" sz="1200" dirty="0"/>
          </a:p>
        </p:txBody>
      </p:sp>
      <p:sp>
        <p:nvSpPr>
          <p:cNvPr id="10" name="Text 7"/>
          <p:cNvSpPr txBox="1"/>
          <p:nvPr/>
        </p:nvSpPr>
        <p:spPr>
          <a:xfrm>
            <a:off x="896112" y="3218688"/>
            <a:ext cx="3026664" cy="960120"/>
          </a:xfrm>
          <a:prstGeom prst="rect">
            <a:avLst/>
          </a:prstGeom>
          <a:noFill/>
          <a:ln/>
        </p:spPr>
        <p:txBody>
          <a:bodyPr wrap="square" lIns="0" tIns="0" rIns="0" bIns="0" rtlCol="0" anchor="t"/>
          <a:lstStyle/>
          <a:p>
            <a:pPr indent="0" marL="0">
              <a:lnSpc>
                <a:spcPct val="120000"/>
              </a:lnSpc>
              <a:buNone/>
            </a:pPr>
            <a:r>
              <a:rPr lang="en-US" sz="1050" dirty="0">
                <a:solidFill>
                  <a:srgbClr val="A9B6CC"/>
                </a:solidFill>
                <a:latin typeface="Calibri" pitchFamily="34" charset="0"/>
                <a:ea typeface="Calibri" pitchFamily="34" charset="-122"/>
                <a:cs typeface="Calibri" pitchFamily="34" charset="-120"/>
              </a:rPr>
              <a:t>Les mots existent dans le corpus. Les deux moteurs fonctionnent et s'accordent. C'est le cas normal.</a:t>
            </a:r>
            <a:endParaRPr lang="en-US" sz="1050" dirty="0"/>
          </a:p>
        </p:txBody>
      </p:sp>
      <p:sp>
        <p:nvSpPr>
          <p:cNvPr id="11" name="Shape 8"/>
          <p:cNvSpPr/>
          <p:nvPr/>
        </p:nvSpPr>
        <p:spPr>
          <a:xfrm>
            <a:off x="4343400" y="1874520"/>
            <a:ext cx="3502152" cy="2487168"/>
          </a:xfrm>
          <a:prstGeom prst="roundRect">
            <a:avLst>
              <a:gd name="adj" fmla="val 2574"/>
            </a:avLst>
          </a:prstGeom>
          <a:solidFill>
            <a:srgbClr val="1B2537"/>
          </a:solidFill>
          <a:ln w="12700">
            <a:solidFill>
              <a:srgbClr val="2C3B55"/>
            </a:solidFill>
            <a:prstDash val="solid"/>
          </a:ln>
        </p:spPr>
      </p:sp>
      <p:sp>
        <p:nvSpPr>
          <p:cNvPr id="12" name="Shape 9"/>
          <p:cNvSpPr/>
          <p:nvPr/>
        </p:nvSpPr>
        <p:spPr>
          <a:xfrm>
            <a:off x="4581144" y="2093976"/>
            <a:ext cx="109728" cy="109728"/>
          </a:xfrm>
          <a:prstGeom prst="ellipse">
            <a:avLst/>
          </a:prstGeom>
          <a:solidFill>
            <a:srgbClr val="FBBF24"/>
          </a:solidFill>
          <a:ln w="12700">
            <a:solidFill>
              <a:srgbClr val="333333"/>
            </a:solidFill>
            <a:prstDash val="solid"/>
          </a:ln>
        </p:spPr>
      </p:sp>
      <p:sp>
        <p:nvSpPr>
          <p:cNvPr id="13" name="Text 10"/>
          <p:cNvSpPr txBox="1"/>
          <p:nvPr/>
        </p:nvSpPr>
        <p:spPr>
          <a:xfrm>
            <a:off x="4764024" y="2039112"/>
            <a:ext cx="2926080" cy="219456"/>
          </a:xfrm>
          <a:prstGeom prst="rect">
            <a:avLst/>
          </a:prstGeom>
          <a:noFill/>
          <a:ln/>
        </p:spPr>
        <p:txBody>
          <a:bodyPr wrap="square" lIns="0" tIns="0" rIns="0" bIns="0" rtlCol="0" anchor="ctr"/>
          <a:lstStyle/>
          <a:p>
            <a:pPr indent="0" marL="0">
              <a:buNone/>
            </a:pPr>
            <a:r>
              <a:rPr lang="en-US" sz="850" b="1" spc="110" kern="0" dirty="0">
                <a:solidFill>
                  <a:srgbClr val="FBBF24"/>
                </a:solidFill>
                <a:latin typeface="Calibri" pitchFamily="34" charset="0"/>
                <a:ea typeface="Calibri" pitchFamily="34" charset="-122"/>
                <a:cs typeface="Calibri" pitchFamily="34" charset="-120"/>
              </a:rPr>
              <a:t>TEMPS 2  ·  FRANÇAIS</a:t>
            </a:r>
            <a:endParaRPr lang="en-US" sz="850" dirty="0"/>
          </a:p>
        </p:txBody>
      </p:sp>
      <p:sp>
        <p:nvSpPr>
          <p:cNvPr id="14" name="Text 11"/>
          <p:cNvSpPr txBox="1"/>
          <p:nvPr/>
        </p:nvSpPr>
        <p:spPr>
          <a:xfrm>
            <a:off x="4581144" y="2359152"/>
            <a:ext cx="3026664" cy="777240"/>
          </a:xfrm>
          <a:prstGeom prst="rect">
            <a:avLst/>
          </a:prstGeom>
          <a:noFill/>
          <a:ln/>
        </p:spPr>
        <p:txBody>
          <a:bodyPr wrap="square" lIns="0" tIns="0" rIns="0" bIns="0" rtlCol="0" anchor="t"/>
          <a:lstStyle/>
          <a:p>
            <a:pPr indent="0" marL="0">
              <a:lnSpc>
                <a:spcPct val="115000"/>
              </a:lnSpc>
              <a:buNone/>
            </a:pPr>
            <a:r>
              <a:rPr lang="en-US" sz="1200" b="1" dirty="0">
                <a:solidFill>
                  <a:srgbClr val="F1F5F9"/>
                </a:solidFill>
                <a:latin typeface="Calibri" pitchFamily="34" charset="0"/>
                <a:ea typeface="Calibri" pitchFamily="34" charset="-122"/>
                <a:cs typeface="Calibri" pitchFamily="34" charset="-120"/>
              </a:rPr>
              <a:t>détection de la fraude bancaire par apprentissage automatique</a:t>
            </a:r>
            <a:endParaRPr lang="en-US" sz="1200" dirty="0"/>
          </a:p>
        </p:txBody>
      </p:sp>
      <p:sp>
        <p:nvSpPr>
          <p:cNvPr id="15" name="Text 12"/>
          <p:cNvSpPr txBox="1"/>
          <p:nvPr/>
        </p:nvSpPr>
        <p:spPr>
          <a:xfrm>
            <a:off x="4581144" y="3218688"/>
            <a:ext cx="3026664" cy="960120"/>
          </a:xfrm>
          <a:prstGeom prst="rect">
            <a:avLst/>
          </a:prstGeom>
          <a:noFill/>
          <a:ln/>
        </p:spPr>
        <p:txBody>
          <a:bodyPr wrap="square" lIns="0" tIns="0" rIns="0" bIns="0" rtlCol="0" anchor="t"/>
          <a:lstStyle/>
          <a:p>
            <a:pPr indent="0" marL="0">
              <a:lnSpc>
                <a:spcPct val="120000"/>
              </a:lnSpc>
              <a:buNone/>
            </a:pPr>
            <a:r>
              <a:rPr lang="en-US" sz="1050" dirty="0">
                <a:solidFill>
                  <a:srgbClr val="A9B6CC"/>
                </a:solidFill>
                <a:latin typeface="Calibri" pitchFamily="34" charset="0"/>
                <a:ea typeface="Calibri" pitchFamily="34" charset="-122"/>
                <a:cs typeface="Calibri" pitchFamily="34" charset="-120"/>
              </a:rPr>
              <a:t>Même question, autre langue. BM25 s'effondre. Le sémantique continue de répondre.</a:t>
            </a:r>
            <a:endParaRPr lang="en-US" sz="1050" dirty="0"/>
          </a:p>
        </p:txBody>
      </p:sp>
      <p:sp>
        <p:nvSpPr>
          <p:cNvPr id="16" name="Shape 13"/>
          <p:cNvSpPr/>
          <p:nvPr/>
        </p:nvSpPr>
        <p:spPr>
          <a:xfrm>
            <a:off x="8028432" y="1874520"/>
            <a:ext cx="3502152" cy="2487168"/>
          </a:xfrm>
          <a:prstGeom prst="roundRect">
            <a:avLst>
              <a:gd name="adj" fmla="val 2574"/>
            </a:avLst>
          </a:prstGeom>
          <a:solidFill>
            <a:srgbClr val="1B2537"/>
          </a:solidFill>
          <a:ln w="12700">
            <a:solidFill>
              <a:srgbClr val="2C3B55"/>
            </a:solidFill>
            <a:prstDash val="solid"/>
          </a:ln>
        </p:spPr>
      </p:sp>
      <p:sp>
        <p:nvSpPr>
          <p:cNvPr id="17" name="Shape 14"/>
          <p:cNvSpPr/>
          <p:nvPr/>
        </p:nvSpPr>
        <p:spPr>
          <a:xfrm>
            <a:off x="8266176" y="2093976"/>
            <a:ext cx="109728" cy="109728"/>
          </a:xfrm>
          <a:prstGeom prst="ellipse">
            <a:avLst/>
          </a:prstGeom>
          <a:solidFill>
            <a:srgbClr val="A78BFA"/>
          </a:solidFill>
          <a:ln w="12700">
            <a:solidFill>
              <a:srgbClr val="333333"/>
            </a:solidFill>
            <a:prstDash val="solid"/>
          </a:ln>
        </p:spPr>
      </p:sp>
      <p:sp>
        <p:nvSpPr>
          <p:cNvPr id="18" name="Text 15"/>
          <p:cNvSpPr txBox="1"/>
          <p:nvPr/>
        </p:nvSpPr>
        <p:spPr>
          <a:xfrm>
            <a:off x="8449056" y="2039112"/>
            <a:ext cx="2926080" cy="219456"/>
          </a:xfrm>
          <a:prstGeom prst="rect">
            <a:avLst/>
          </a:prstGeom>
          <a:noFill/>
          <a:ln/>
        </p:spPr>
        <p:txBody>
          <a:bodyPr wrap="square" lIns="0" tIns="0" rIns="0" bIns="0" rtlCol="0" anchor="ctr"/>
          <a:lstStyle/>
          <a:p>
            <a:pPr indent="0" marL="0">
              <a:buNone/>
            </a:pPr>
            <a:r>
              <a:rPr lang="en-US" sz="850" b="1" spc="110" kern="0" dirty="0">
                <a:solidFill>
                  <a:srgbClr val="A78BFA"/>
                </a:solidFill>
                <a:latin typeface="Calibri" pitchFamily="34" charset="0"/>
                <a:ea typeface="Calibri" pitchFamily="34" charset="-122"/>
                <a:cs typeface="Calibri" pitchFamily="34" charset="-120"/>
              </a:rPr>
              <a:t>TEMPS 3  ·  ARABE</a:t>
            </a:r>
            <a:endParaRPr lang="en-US" sz="850" dirty="0"/>
          </a:p>
        </p:txBody>
      </p:sp>
      <p:sp>
        <p:nvSpPr>
          <p:cNvPr id="19" name="Text 16"/>
          <p:cNvSpPr txBox="1"/>
          <p:nvPr/>
        </p:nvSpPr>
        <p:spPr>
          <a:xfrm>
            <a:off x="8266176" y="2359152"/>
            <a:ext cx="3026664" cy="777240"/>
          </a:xfrm>
          <a:prstGeom prst="rect">
            <a:avLst/>
          </a:prstGeom>
          <a:noFill/>
          <a:ln/>
        </p:spPr>
        <p:txBody>
          <a:bodyPr wrap="square" lIns="0" tIns="0" rIns="0" bIns="0" rtlCol="0" anchor="t"/>
          <a:lstStyle/>
          <a:p>
            <a:pPr indent="0" marL="0">
              <a:lnSpc>
                <a:spcPct val="115000"/>
              </a:lnSpc>
              <a:buNone/>
            </a:pPr>
            <a:r>
              <a:rPr lang="en-US" sz="1200" b="1" dirty="0">
                <a:solidFill>
                  <a:srgbClr val="F1F5F9"/>
                </a:solidFill>
                <a:latin typeface="Calibri" pitchFamily="34" charset="0"/>
                <a:ea typeface="Calibri" pitchFamily="34" charset="-122"/>
                <a:cs typeface="Calibri" pitchFamily="34" charset="-120"/>
              </a:rPr>
              <a:t>كشف الاحتيال المصرفي باستخدام التعلم الآلي</a:t>
            </a:r>
            <a:endParaRPr lang="en-US" sz="1200" dirty="0"/>
          </a:p>
        </p:txBody>
      </p:sp>
      <p:sp>
        <p:nvSpPr>
          <p:cNvPr id="20" name="Text 17"/>
          <p:cNvSpPr txBox="1"/>
          <p:nvPr/>
        </p:nvSpPr>
        <p:spPr>
          <a:xfrm>
            <a:off x="8266176" y="3218688"/>
            <a:ext cx="3026664" cy="960120"/>
          </a:xfrm>
          <a:prstGeom prst="rect">
            <a:avLst/>
          </a:prstGeom>
          <a:noFill/>
          <a:ln/>
        </p:spPr>
        <p:txBody>
          <a:bodyPr wrap="square" lIns="0" tIns="0" rIns="0" bIns="0" rtlCol="0" anchor="t"/>
          <a:lstStyle/>
          <a:p>
            <a:pPr indent="0" marL="0">
              <a:lnSpc>
                <a:spcPct val="120000"/>
              </a:lnSpc>
              <a:buNone/>
            </a:pPr>
            <a:r>
              <a:rPr lang="en-US" sz="1050" dirty="0">
                <a:solidFill>
                  <a:srgbClr val="A9B6CC"/>
                </a:solidFill>
                <a:latin typeface="Calibri" pitchFamily="34" charset="0"/>
                <a:ea typeface="Calibri" pitchFamily="34" charset="-122"/>
                <a:cs typeface="Calibri" pitchFamily="34" charset="-120"/>
              </a:rPr>
              <a:t>Autre alphabet. BM25 ne renvoie plus rien. Le sémantique répond, et l'interface signale « aucun mot en commun ».</a:t>
            </a:r>
            <a:endParaRPr lang="en-US" sz="1050" dirty="0"/>
          </a:p>
        </p:txBody>
      </p:sp>
      <p:sp>
        <p:nvSpPr>
          <p:cNvPr id="21" name="Text 18"/>
          <p:cNvSpPr txBox="1"/>
          <p:nvPr/>
        </p:nvSpPr>
        <p:spPr>
          <a:xfrm>
            <a:off x="658368" y="4709160"/>
            <a:ext cx="10874959" cy="54864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Merci de votre attention  ·  Questions</a:t>
            </a:r>
            <a:endParaRPr lang="en-US" sz="2600" dirty="0"/>
          </a:p>
        </p:txBody>
      </p:sp>
      <p:sp>
        <p:nvSpPr>
          <p:cNvPr id="22" name="Text 19"/>
          <p:cNvSpPr txBox="1"/>
          <p:nvPr/>
        </p:nvSpPr>
        <p:spPr>
          <a:xfrm>
            <a:off x="658368" y="5358384"/>
            <a:ext cx="2560320" cy="329184"/>
          </a:xfrm>
          <a:prstGeom prst="rect">
            <a:avLst/>
          </a:prstGeom>
          <a:noFill/>
          <a:ln/>
        </p:spPr>
        <p:txBody>
          <a:bodyPr wrap="square" lIns="0" tIns="0" rIns="0" bIns="0" rtlCol="0" anchor="ctr"/>
          <a:lstStyle/>
          <a:p>
            <a:pPr indent="0" marL="0">
              <a:buNone/>
            </a:pPr>
            <a:r>
              <a:rPr lang="en-US" sz="1900" b="1" dirty="0">
                <a:solidFill>
                  <a:srgbClr val="A78BFA"/>
                </a:solidFill>
                <a:latin typeface="Calibri" pitchFamily="34" charset="0"/>
                <a:ea typeface="Calibri" pitchFamily="34" charset="-122"/>
                <a:cs typeface="Calibri" pitchFamily="34" charset="-120"/>
              </a:rPr>
              <a:t>8 569</a:t>
            </a:r>
            <a:endParaRPr lang="en-US" sz="1900" dirty="0"/>
          </a:p>
        </p:txBody>
      </p:sp>
      <p:sp>
        <p:nvSpPr>
          <p:cNvPr id="23" name="Text 20"/>
          <p:cNvSpPr txBox="1"/>
          <p:nvPr/>
        </p:nvSpPr>
        <p:spPr>
          <a:xfrm>
            <a:off x="658368" y="5687568"/>
            <a:ext cx="2560320" cy="256032"/>
          </a:xfrm>
          <a:prstGeom prst="rect">
            <a:avLst/>
          </a:prstGeom>
          <a:noFill/>
          <a:ln/>
        </p:spPr>
        <p:txBody>
          <a:bodyPr wrap="square" lIns="0" tIns="0" rIns="0" bIns="0" rtlCol="0" anchor="ctr"/>
          <a:lstStyle/>
          <a:p>
            <a:pPr indent="0" marL="0">
              <a:buNone/>
            </a:pPr>
            <a:r>
              <a:rPr lang="en-US" sz="950" dirty="0">
                <a:solidFill>
                  <a:srgbClr val="A9B6CC"/>
                </a:solidFill>
                <a:latin typeface="Calibri" pitchFamily="34" charset="0"/>
                <a:ea typeface="Calibri" pitchFamily="34" charset="-122"/>
                <a:cs typeface="Calibri" pitchFamily="34" charset="-120"/>
              </a:rPr>
              <a:t>articles indexés</a:t>
            </a:r>
            <a:endParaRPr lang="en-US" sz="950" dirty="0"/>
          </a:p>
        </p:txBody>
      </p:sp>
      <p:sp>
        <p:nvSpPr>
          <p:cNvPr id="24" name="Text 21"/>
          <p:cNvSpPr txBox="1"/>
          <p:nvPr/>
        </p:nvSpPr>
        <p:spPr>
          <a:xfrm>
            <a:off x="3401568" y="5358384"/>
            <a:ext cx="2560320" cy="329184"/>
          </a:xfrm>
          <a:prstGeom prst="rect">
            <a:avLst/>
          </a:prstGeom>
          <a:noFill/>
          <a:ln/>
        </p:spPr>
        <p:txBody>
          <a:bodyPr wrap="square" lIns="0" tIns="0" rIns="0" bIns="0" rtlCol="0" anchor="ctr"/>
          <a:lstStyle/>
          <a:p>
            <a:pPr indent="0" marL="0">
              <a:buNone/>
            </a:pPr>
            <a:r>
              <a:rPr lang="en-US" sz="1900" b="1" dirty="0">
                <a:solidFill>
                  <a:srgbClr val="A78BFA"/>
                </a:solidFill>
                <a:latin typeface="Calibri" pitchFamily="34" charset="0"/>
                <a:ea typeface="Calibri" pitchFamily="34" charset="-122"/>
                <a:cs typeface="Calibri" pitchFamily="34" charset="-120"/>
              </a:rPr>
              <a:t>3</a:t>
            </a:r>
            <a:endParaRPr lang="en-US" sz="1900" dirty="0"/>
          </a:p>
        </p:txBody>
      </p:sp>
      <p:sp>
        <p:nvSpPr>
          <p:cNvPr id="25" name="Text 22"/>
          <p:cNvSpPr txBox="1"/>
          <p:nvPr/>
        </p:nvSpPr>
        <p:spPr>
          <a:xfrm>
            <a:off x="3401568" y="5687568"/>
            <a:ext cx="2560320" cy="256032"/>
          </a:xfrm>
          <a:prstGeom prst="rect">
            <a:avLst/>
          </a:prstGeom>
          <a:noFill/>
          <a:ln/>
        </p:spPr>
        <p:txBody>
          <a:bodyPr wrap="square" lIns="0" tIns="0" rIns="0" bIns="0" rtlCol="0" anchor="ctr"/>
          <a:lstStyle/>
          <a:p>
            <a:pPr indent="0" marL="0">
              <a:buNone/>
            </a:pPr>
            <a:r>
              <a:rPr lang="en-US" sz="950" dirty="0">
                <a:solidFill>
                  <a:srgbClr val="A9B6CC"/>
                </a:solidFill>
                <a:latin typeface="Calibri" pitchFamily="34" charset="0"/>
                <a:ea typeface="Calibri" pitchFamily="34" charset="-122"/>
                <a:cs typeface="Calibri" pitchFamily="34" charset="-120"/>
              </a:rPr>
              <a:t>moteurs comparés</a:t>
            </a:r>
            <a:endParaRPr lang="en-US" sz="950" dirty="0"/>
          </a:p>
        </p:txBody>
      </p:sp>
      <p:sp>
        <p:nvSpPr>
          <p:cNvPr id="26" name="Text 23"/>
          <p:cNvSpPr txBox="1"/>
          <p:nvPr/>
        </p:nvSpPr>
        <p:spPr>
          <a:xfrm>
            <a:off x="6144768" y="5358384"/>
            <a:ext cx="2560320" cy="329184"/>
          </a:xfrm>
          <a:prstGeom prst="rect">
            <a:avLst/>
          </a:prstGeom>
          <a:noFill/>
          <a:ln/>
        </p:spPr>
        <p:txBody>
          <a:bodyPr wrap="square" lIns="0" tIns="0" rIns="0" bIns="0" rtlCol="0" anchor="ctr"/>
          <a:lstStyle/>
          <a:p>
            <a:pPr indent="0" marL="0">
              <a:buNone/>
            </a:pPr>
            <a:r>
              <a:rPr lang="en-US" sz="1900" b="1" dirty="0">
                <a:solidFill>
                  <a:srgbClr val="A78BFA"/>
                </a:solidFill>
                <a:latin typeface="Calibri" pitchFamily="34" charset="0"/>
                <a:ea typeface="Calibri" pitchFamily="34" charset="-122"/>
                <a:cs typeface="Calibri" pitchFamily="34" charset="-120"/>
              </a:rPr>
              <a:t>47</a:t>
            </a:r>
            <a:endParaRPr lang="en-US" sz="1900" dirty="0"/>
          </a:p>
        </p:txBody>
      </p:sp>
      <p:sp>
        <p:nvSpPr>
          <p:cNvPr id="27" name="Text 24"/>
          <p:cNvSpPr txBox="1"/>
          <p:nvPr/>
        </p:nvSpPr>
        <p:spPr>
          <a:xfrm>
            <a:off x="6144768" y="5687568"/>
            <a:ext cx="2560320" cy="256032"/>
          </a:xfrm>
          <a:prstGeom prst="rect">
            <a:avLst/>
          </a:prstGeom>
          <a:noFill/>
          <a:ln/>
        </p:spPr>
        <p:txBody>
          <a:bodyPr wrap="square" lIns="0" tIns="0" rIns="0" bIns="0" rtlCol="0" anchor="ctr"/>
          <a:lstStyle/>
          <a:p>
            <a:pPr indent="0" marL="0">
              <a:buNone/>
            </a:pPr>
            <a:r>
              <a:rPr lang="en-US" sz="950" dirty="0">
                <a:solidFill>
                  <a:srgbClr val="A9B6CC"/>
                </a:solidFill>
                <a:latin typeface="Calibri" pitchFamily="34" charset="0"/>
                <a:ea typeface="Calibri" pitchFamily="34" charset="-122"/>
                <a:cs typeface="Calibri" pitchFamily="34" charset="-120"/>
              </a:rPr>
              <a:t>tests automatiques</a:t>
            </a:r>
            <a:endParaRPr lang="en-US" sz="950" dirty="0"/>
          </a:p>
        </p:txBody>
      </p:sp>
      <p:sp>
        <p:nvSpPr>
          <p:cNvPr id="28" name="Text 25"/>
          <p:cNvSpPr txBox="1"/>
          <p:nvPr/>
        </p:nvSpPr>
        <p:spPr>
          <a:xfrm>
            <a:off x="8887968" y="5358384"/>
            <a:ext cx="2560320" cy="329184"/>
          </a:xfrm>
          <a:prstGeom prst="rect">
            <a:avLst/>
          </a:prstGeom>
          <a:noFill/>
          <a:ln/>
        </p:spPr>
        <p:txBody>
          <a:bodyPr wrap="square" lIns="0" tIns="0" rIns="0" bIns="0" rtlCol="0" anchor="ctr"/>
          <a:lstStyle/>
          <a:p>
            <a:pPr indent="0" marL="0">
              <a:buNone/>
            </a:pPr>
            <a:r>
              <a:rPr lang="en-US" sz="1900" b="1" dirty="0">
                <a:solidFill>
                  <a:srgbClr val="A78BFA"/>
                </a:solidFill>
                <a:latin typeface="Calibri" pitchFamily="34" charset="0"/>
                <a:ea typeface="Calibri" pitchFamily="34" charset="-122"/>
                <a:cs typeface="Calibri" pitchFamily="34" charset="-120"/>
              </a:rPr>
              <a:t>20/20</a:t>
            </a:r>
            <a:endParaRPr lang="en-US" sz="1900" dirty="0"/>
          </a:p>
        </p:txBody>
      </p:sp>
      <p:sp>
        <p:nvSpPr>
          <p:cNvPr id="29" name="Text 26"/>
          <p:cNvSpPr txBox="1"/>
          <p:nvPr/>
        </p:nvSpPr>
        <p:spPr>
          <a:xfrm>
            <a:off x="8887968" y="5687568"/>
            <a:ext cx="2560320" cy="256032"/>
          </a:xfrm>
          <a:prstGeom prst="rect">
            <a:avLst/>
          </a:prstGeom>
          <a:noFill/>
          <a:ln/>
        </p:spPr>
        <p:txBody>
          <a:bodyPr wrap="square" lIns="0" tIns="0" rIns="0" bIns="0" rtlCol="0" anchor="ctr"/>
          <a:lstStyle/>
          <a:p>
            <a:pPr indent="0" marL="0">
              <a:buNone/>
            </a:pPr>
            <a:r>
              <a:rPr lang="en-US" sz="950" dirty="0">
                <a:solidFill>
                  <a:srgbClr val="A9B6CC"/>
                </a:solidFill>
                <a:latin typeface="Calibri" pitchFamily="34" charset="0"/>
                <a:ea typeface="Calibri" pitchFamily="34" charset="-122"/>
                <a:cs typeface="Calibri" pitchFamily="34" charset="-120"/>
              </a:rPr>
              <a:t>requêtes arabes où BM25 échoue</a:t>
            </a:r>
            <a:endParaRPr lang="en-US" sz="950" dirty="0"/>
          </a:p>
        </p:txBody>
      </p:sp>
      <p:sp>
        <p:nvSpPr>
          <p:cNvPr id="30" name="Text 27"/>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A9B6CC"/>
                </a:solidFill>
                <a:latin typeface="Calibri" pitchFamily="34" charset="0"/>
                <a:ea typeface="Calibri" pitchFamily="34" charset="-122"/>
                <a:cs typeface="Calibri" pitchFamily="34" charset="-120"/>
              </a:rPr>
              <a:t>Démonstration &amp; questions</a:t>
            </a:r>
            <a:endParaRPr lang="en-US" sz="900" dirty="0"/>
          </a:p>
        </p:txBody>
      </p:sp>
      <p:sp>
        <p:nvSpPr>
          <p:cNvPr id="31" name="Text 28"/>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A9B6CC"/>
                </a:solidFill>
                <a:latin typeface="Consolas" pitchFamily="34" charset="0"/>
                <a:ea typeface="Consolas" pitchFamily="34" charset="-122"/>
                <a:cs typeface="Consolas" pitchFamily="34" charset="-120"/>
              </a:rPr>
              <a:t>14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C2740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C2740A"/>
                </a:solidFill>
                <a:latin typeface="Calibri" pitchFamily="34" charset="0"/>
                <a:ea typeface="Calibri" pitchFamily="34" charset="-122"/>
                <a:cs typeface="Calibri" pitchFamily="34" charset="-120"/>
              </a:rPr>
              <a:t>ANNEXE · REQUÊTES APPAUVRIES</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Un résultat </a:t>
            </a:r>
            <a:pPr indent="0" marL="0">
              <a:buNone/>
            </a:pPr>
            <a:r>
              <a:rPr lang="en-US" sz="3300" b="1" dirty="0">
                <a:solidFill>
                  <a:srgbClr val="C2740A"/>
                </a:solidFill>
                <a:latin typeface="Calibri" pitchFamily="34" charset="0"/>
                <a:ea typeface="Calibri" pitchFamily="34" charset="-122"/>
                <a:cs typeface="Calibri" pitchFamily="34" charset="-120"/>
              </a:rPr>
              <a:t>contraire à l'hypothèse</a:t>
            </a:r>
            <a:endParaRPr lang="en-US" sz="3300" dirty="0"/>
          </a:p>
        </p:txBody>
      </p:sp>
      <p:sp>
        <p:nvSpPr>
          <p:cNvPr id="6" name="Shape 3"/>
          <p:cNvSpPr/>
          <p:nvPr/>
        </p:nvSpPr>
        <p:spPr>
          <a:xfrm>
            <a:off x="658368" y="1783080"/>
            <a:ext cx="5943600" cy="3749040"/>
          </a:xfrm>
          <a:prstGeom prst="roundRect">
            <a:avLst>
              <a:gd name="adj" fmla="val 1707"/>
            </a:avLst>
          </a:prstGeom>
          <a:solidFill>
            <a:srgbClr val="FFFFFF"/>
          </a:solidFill>
          <a:ln w="12700">
            <a:solidFill>
              <a:srgbClr val="DFE5EF"/>
            </a:solidFill>
            <a:prstDash val="solid"/>
          </a:ln>
          <a:effectLst>
            <a:outerShdw sx="100000" sy="100000" kx="0" ky="0" algn="bl" rotWithShape="0" blurRad="101600" dist="25400" dir="5400000">
              <a:srgbClr val="A3AFC4">
                <a:alpha val="22000"/>
              </a:srgbClr>
            </a:outerShdw>
          </a:effectLst>
        </p:spPr>
      </p:sp>
      <p:graphicFrame>
        <p:nvGraphicFramePr>
          <p:cNvPr id="7" name="Chart 0" descr=""/>
          <p:cNvGraphicFramePr/>
          <p:nvPr/>
        </p:nvGraphicFramePr>
        <p:xfrm>
          <a:off x="786384" y="1892808"/>
          <a:ext cx="5687568" cy="3529584"/>
        </p:xfrm>
        <a:graphic xmlns:a="http://schemas.openxmlformats.org/drawingml/2006/main">
          <a:graphicData uri="http://schemas.openxmlformats.org/drawingml/2006/chart">
            <c:chart xmlns:c="http://schemas.openxmlformats.org/drawingml/2006/chart" r:id="rId2"/>
          </a:graphicData>
        </a:graphic>
      </p:graphicFrame>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013448" y="1783080"/>
          <a:ext cx="4517136" cy="914400"/>
        </p:xfrm>
        <a:graphic>
          <a:graphicData uri="http://schemas.openxmlformats.org/drawingml/2006/table">
            <a:tbl>
              <a:tblPr/>
              <a:tblGrid>
                <a:gridCol w="1463040"/>
                <a:gridCol w="969264"/>
                <a:gridCol w="1005840"/>
                <a:gridCol w="1078992"/>
              </a:tblGrid>
              <a:tr h="365760">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Moteur</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normal</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appauvri</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variation</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7C3AED"/>
                          </a:solidFill>
                          <a:latin typeface="Calibri" pitchFamily="34" charset="0"/>
                          <a:ea typeface="Calibri" pitchFamily="34" charset="-122"/>
                          <a:cs typeface="Calibri" pitchFamily="34" charset="-120"/>
                        </a:rPr>
                        <a:t>Sémantique</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0,922</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0,564</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E123C"/>
                          </a:solidFill>
                          <a:latin typeface="Consolas" pitchFamily="34" charset="0"/>
                          <a:ea typeface="Consolas" pitchFamily="34" charset="-122"/>
                          <a:cs typeface="Consolas" pitchFamily="34" charset="-120"/>
                        </a:rPr>
                        <a:t>−0,357</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C2740A"/>
                          </a:solidFill>
                          <a:latin typeface="Calibri" pitchFamily="34" charset="0"/>
                          <a:ea typeface="Calibri" pitchFamily="34" charset="-122"/>
                          <a:cs typeface="Calibri" pitchFamily="34" charset="-120"/>
                        </a:rPr>
                        <a:t>BM25</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0,953</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0,645</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−0,308</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bl>
          </a:graphicData>
        </a:graphic>
      </p:graphicFrame>
      <p:sp>
        <p:nvSpPr>
          <p:cNvPr id="9" name="Shape 4"/>
          <p:cNvSpPr/>
          <p:nvPr/>
        </p:nvSpPr>
        <p:spPr>
          <a:xfrm>
            <a:off x="7013448" y="3063240"/>
            <a:ext cx="4517136" cy="1097280"/>
          </a:xfrm>
          <a:prstGeom prst="roundRect">
            <a:avLst>
              <a:gd name="adj" fmla="val 5833"/>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0" name="Text 5"/>
          <p:cNvSpPr txBox="1"/>
          <p:nvPr/>
        </p:nvSpPr>
        <p:spPr>
          <a:xfrm>
            <a:off x="7251192" y="3227832"/>
            <a:ext cx="4041648" cy="201168"/>
          </a:xfrm>
          <a:prstGeom prst="rect">
            <a:avLst/>
          </a:prstGeom>
          <a:noFill/>
          <a:ln/>
        </p:spPr>
        <p:txBody>
          <a:bodyPr wrap="square" lIns="0" tIns="0" rIns="0" bIns="0" rtlCol="0" anchor="ctr"/>
          <a:lstStyle/>
          <a:p>
            <a:pPr indent="0" marL="0">
              <a:buNone/>
            </a:pPr>
            <a:r>
              <a:rPr lang="en-US" sz="850" b="1" spc="110" kern="0" dirty="0">
                <a:solidFill>
                  <a:srgbClr val="8794AC"/>
                </a:solidFill>
                <a:latin typeface="Calibri" pitchFamily="34" charset="0"/>
                <a:ea typeface="Calibri" pitchFamily="34" charset="-122"/>
                <a:cs typeface="Calibri" pitchFamily="34" charset="-120"/>
              </a:rPr>
              <a:t>LA TRANSFORMATION APPLIQUÉE</a:t>
            </a:r>
            <a:endParaRPr lang="en-US" sz="850" dirty="0"/>
          </a:p>
        </p:txBody>
      </p:sp>
      <p:sp>
        <p:nvSpPr>
          <p:cNvPr id="11" name="Text 6"/>
          <p:cNvSpPr txBox="1"/>
          <p:nvPr/>
        </p:nvSpPr>
        <p:spPr>
          <a:xfrm>
            <a:off x="7251192" y="3502152"/>
            <a:ext cx="4041648" cy="493776"/>
          </a:xfrm>
          <a:prstGeom prst="rect">
            <a:avLst/>
          </a:prstGeom>
          <a:noFill/>
          <a:ln/>
        </p:spPr>
        <p:txBody>
          <a:bodyPr wrap="square" lIns="0" tIns="0" rIns="0" bIns="0" rtlCol="0" anchor="t"/>
          <a:lstStyle/>
          <a:p>
            <a:pPr indent="0" marL="0">
              <a:lnSpc>
                <a:spcPct val="120000"/>
              </a:lnSpc>
              <a:buNone/>
            </a:pPr>
            <a:r>
              <a:rPr lang="en-US" sz="1050" dirty="0">
                <a:solidFill>
                  <a:srgbClr val="46536B"/>
                </a:solidFill>
                <a:latin typeface="Calibri" pitchFamily="34" charset="0"/>
                <a:ea typeface="Calibri" pitchFamily="34" charset="-122"/>
                <a:cs typeface="Calibri" pitchFamily="34" charset="-120"/>
              </a:rPr>
              <a:t>« Discovering Conceptual Metaphors Across Topics and Media Types »</a:t>
            </a:r>
            <a:endParaRPr lang="en-US" sz="1050" dirty="0"/>
          </a:p>
          <a:p>
            <a:pPr indent="0" marL="0">
              <a:lnSpc>
                <a:spcPct val="120000"/>
              </a:lnSpc>
              <a:buNone/>
            </a:pPr>
            <a:r>
              <a:rPr lang="en-US" sz="1050" dirty="0">
                <a:solidFill>
                  <a:srgbClr val="46536B"/>
                </a:solidFill>
                <a:latin typeface="Calibri" pitchFamily="34" charset="0"/>
                <a:ea typeface="Calibri" pitchFamily="34" charset="-122"/>
                <a:cs typeface="Calibri" pitchFamily="34" charset="-120"/>
              </a:rPr>
              <a:t>→ « conceptual across and media types »</a:t>
            </a:r>
            <a:endParaRPr lang="en-US" sz="1050" dirty="0"/>
          </a:p>
        </p:txBody>
      </p:sp>
      <p:sp>
        <p:nvSpPr>
          <p:cNvPr id="12" name="Shape 7"/>
          <p:cNvSpPr/>
          <p:nvPr/>
        </p:nvSpPr>
        <p:spPr>
          <a:xfrm>
            <a:off x="7013448" y="4279392"/>
            <a:ext cx="4517136" cy="1280160"/>
          </a:xfrm>
          <a:prstGeom prst="roundRect">
            <a:avLst>
              <a:gd name="adj" fmla="val 5000"/>
            </a:avLst>
          </a:prstGeom>
          <a:solidFill>
            <a:srgbClr val="F4EFFE"/>
          </a:solidFill>
          <a:ln w="12700">
            <a:solidFill>
              <a:srgbClr val="7C3AED"/>
            </a:solidFill>
            <a:prstDash val="solid"/>
          </a:ln>
          <a:effectLst>
            <a:outerShdw sx="100000" sy="100000" kx="0" ky="0" algn="bl" rotWithShape="0" blurRad="101600" dist="25400" dir="5400000">
              <a:srgbClr val="A3AFC4">
                <a:alpha val="22000"/>
              </a:srgbClr>
            </a:outerShdw>
          </a:effectLst>
        </p:spPr>
      </p:sp>
      <p:sp>
        <p:nvSpPr>
          <p:cNvPr id="13" name="Shape 8"/>
          <p:cNvSpPr/>
          <p:nvPr/>
        </p:nvSpPr>
        <p:spPr>
          <a:xfrm>
            <a:off x="7251192" y="4489704"/>
            <a:ext cx="109728" cy="109728"/>
          </a:xfrm>
          <a:prstGeom prst="ellipse">
            <a:avLst/>
          </a:prstGeom>
          <a:solidFill>
            <a:srgbClr val="7C3AED"/>
          </a:solidFill>
          <a:ln w="12700">
            <a:solidFill>
              <a:srgbClr val="333333"/>
            </a:solidFill>
            <a:prstDash val="solid"/>
          </a:ln>
        </p:spPr>
      </p:sp>
      <p:sp>
        <p:nvSpPr>
          <p:cNvPr id="14" name="Text 9"/>
          <p:cNvSpPr txBox="1"/>
          <p:nvPr/>
        </p:nvSpPr>
        <p:spPr>
          <a:xfrm>
            <a:off x="7434072" y="4434840"/>
            <a:ext cx="3858768" cy="219456"/>
          </a:xfrm>
          <a:prstGeom prst="rect">
            <a:avLst/>
          </a:prstGeom>
          <a:noFill/>
          <a:ln/>
        </p:spPr>
        <p:txBody>
          <a:bodyPr wrap="square" lIns="0" tIns="0" rIns="0" bIns="0" rtlCol="0" anchor="ctr"/>
          <a:lstStyle/>
          <a:p>
            <a:pPr indent="0" marL="0">
              <a:buNone/>
            </a:pPr>
            <a:r>
              <a:rPr lang="en-US" sz="850" b="1" spc="110" kern="0" dirty="0">
                <a:solidFill>
                  <a:srgbClr val="7C3AED"/>
                </a:solidFill>
                <a:latin typeface="Calibri" pitchFamily="34" charset="0"/>
                <a:ea typeface="Calibri" pitchFamily="34" charset="-122"/>
                <a:cs typeface="Calibri" pitchFamily="34" charset="-120"/>
              </a:rPr>
              <a:t>L'EXPLICATION</a:t>
            </a:r>
            <a:endParaRPr lang="en-US" sz="850" dirty="0"/>
          </a:p>
        </p:txBody>
      </p:sp>
      <p:sp>
        <p:nvSpPr>
          <p:cNvPr id="15" name="Text 10"/>
          <p:cNvSpPr txBox="1"/>
          <p:nvPr/>
        </p:nvSpPr>
        <p:spPr>
          <a:xfrm>
            <a:off x="7251192" y="4736592"/>
            <a:ext cx="4041648" cy="676656"/>
          </a:xfrm>
          <a:prstGeom prst="rect">
            <a:avLst/>
          </a:prstGeom>
          <a:noFill/>
          <a:ln/>
        </p:spPr>
        <p:txBody>
          <a:bodyPr wrap="square" lIns="0" tIns="0" rIns="0" bIns="0" rtlCol="0" anchor="t"/>
          <a:lstStyle/>
          <a:p>
            <a:pPr indent="0" marL="0">
              <a:lnSpc>
                <a:spcPct val="124000"/>
              </a:lnSpc>
              <a:buNone/>
            </a:pPr>
            <a:r>
              <a:rPr lang="en-US" sz="1150" dirty="0">
                <a:solidFill>
                  <a:srgbClr val="0F172A"/>
                </a:solidFill>
                <a:latin typeface="Calibri" pitchFamily="34" charset="0"/>
                <a:ea typeface="Calibri" pitchFamily="34" charset="-122"/>
                <a:cs typeface="Calibri" pitchFamily="34" charset="-120"/>
              </a:rPr>
              <a:t>Les mots rares ne portaient pas seulement la signature lexicale : ils portaient le sujet. Un modèle dense compresse la requête entière dans un vecteur unique — il y est donc plus sensible.</a:t>
            </a:r>
            <a:endParaRPr lang="en-US" sz="1150" dirty="0"/>
          </a:p>
        </p:txBody>
      </p:sp>
      <p:sp>
        <p:nvSpPr>
          <p:cNvPr id="16" name="Text 11"/>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Annexe — requêtes appauvries</a:t>
            </a:r>
            <a:endParaRPr lang="en-US" sz="900" dirty="0"/>
          </a:p>
        </p:txBody>
      </p:sp>
      <p:sp>
        <p:nvSpPr>
          <p:cNvPr id="17" name="Text 12"/>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Annexe 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4338C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4338CA"/>
                </a:solidFill>
                <a:latin typeface="Calibri" pitchFamily="34" charset="0"/>
                <a:ea typeface="Calibri" pitchFamily="34" charset="-122"/>
                <a:cs typeface="Calibri" pitchFamily="34" charset="-120"/>
              </a:rPr>
              <a:t>ANNEXE · COÛT DE L'INDEX</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Ce que l'approximation ne vaut pas ici</a:t>
            </a:r>
            <a:endParaRPr lang="en-US" sz="3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 y="1783080"/>
          <a:ext cx="5760720" cy="914400"/>
        </p:xfrm>
        <a:graphic>
          <a:graphicData uri="http://schemas.openxmlformats.org/drawingml/2006/table">
            <a:tbl>
              <a:tblPr/>
              <a:tblGrid>
                <a:gridCol w="1737360"/>
                <a:gridCol w="1097280"/>
                <a:gridCol w="1463040"/>
                <a:gridCol w="1463040"/>
              </a:tblGrid>
              <a:tr h="384048">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Index</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nprobe</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ms / requête</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indent="0" marL="0">
                        <a:buNone/>
                      </a:pPr>
                      <a:r>
                        <a:rPr lang="en-US" sz="900" b="1" spc="80" kern="0" dirty="0">
                          <a:solidFill>
                            <a:srgbClr val="8794AC"/>
                          </a:solidFill>
                          <a:latin typeface="Calibri" pitchFamily="34" charset="0"/>
                          <a:ea typeface="Calibri" pitchFamily="34" charset="-122"/>
                          <a:cs typeface="Calibri" pitchFamily="34" charset="-120"/>
                        </a:rPr>
                        <a:t>rappel</a:t>
                      </a:r>
                      <a:endParaRPr lang="en-US" sz="9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flat (exact)</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6F7FB"/>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6F7FB"/>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1,311</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6F7FB"/>
                    </a:solidFill>
                  </a:tcPr>
                </a:tc>
                <a:tc>
                  <a:txBody>
                    <a:bodyPr/>
                    <a:lstStyle/>
                    <a:p>
                      <a:pPr algn="r" indent="0" marL="0">
                        <a:buNone/>
                      </a:pPr>
                      <a:r>
                        <a:rPr lang="en-US" sz="1100" b="1" dirty="0">
                          <a:solidFill>
                            <a:srgbClr val="047857"/>
                          </a:solidFill>
                          <a:latin typeface="Consolas" pitchFamily="34" charset="0"/>
                          <a:ea typeface="Consolas" pitchFamily="34" charset="-122"/>
                          <a:cs typeface="Consolas" pitchFamily="34" charset="-120"/>
                        </a:rPr>
                        <a:t>1,000</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6F7FB"/>
                    </a:solidFill>
                  </a:tcPr>
                </a:tc>
              </a:tr>
              <a:tr h="384048">
                <a:tc>
                  <a:txBody>
                    <a:bodyPr/>
                    <a:lstStyle/>
                    <a:p>
                      <a:pPr algn="l" indent="0" marL="0">
                        <a:buNone/>
                      </a:pPr>
                      <a:r>
                        <a:rPr lang="en-US" sz="1100" dirty="0">
                          <a:solidFill>
                            <a:srgbClr val="46536B"/>
                          </a:solidFill>
                          <a:latin typeface="Calibri" pitchFamily="34" charset="0"/>
                          <a:ea typeface="Calibri" pitchFamily="34" charset="-122"/>
                          <a:cs typeface="Calibri" pitchFamily="34" charset="-120"/>
                        </a:rPr>
                        <a:t>ivf</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1</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0,126</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BE123C"/>
                          </a:solidFill>
                          <a:latin typeface="Consolas" pitchFamily="34" charset="0"/>
                          <a:ea typeface="Consolas" pitchFamily="34" charset="-122"/>
                          <a:cs typeface="Consolas" pitchFamily="34" charset="-120"/>
                        </a:rPr>
                        <a:t>0,325</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46536B"/>
                          </a:solidFill>
                          <a:latin typeface="Calibri" pitchFamily="34" charset="0"/>
                          <a:ea typeface="Calibri" pitchFamily="34" charset="-122"/>
                          <a:cs typeface="Calibri" pitchFamily="34" charset="-120"/>
                        </a:rPr>
                        <a:t>ivf</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0,074</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0,623</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46536B"/>
                          </a:solidFill>
                          <a:latin typeface="Calibri" pitchFamily="34" charset="0"/>
                          <a:ea typeface="Calibri" pitchFamily="34" charset="-122"/>
                          <a:cs typeface="Calibri" pitchFamily="34" charset="-120"/>
                        </a:rPr>
                        <a:t>ivf</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0,124</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0,761</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46536B"/>
                          </a:solidFill>
                          <a:latin typeface="Calibri" pitchFamily="34" charset="0"/>
                          <a:ea typeface="Calibri" pitchFamily="34" charset="-122"/>
                          <a:cs typeface="Calibri" pitchFamily="34" charset="-120"/>
                        </a:rPr>
                        <a:t>ivf</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0,449</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6536B"/>
                          </a:solidFill>
                          <a:latin typeface="Consolas" pitchFamily="34" charset="0"/>
                          <a:ea typeface="Consolas" pitchFamily="34" charset="-122"/>
                          <a:cs typeface="Consolas" pitchFamily="34" charset="-120"/>
                        </a:rPr>
                        <a:t>0,862</a:t>
                      </a:r>
                      <a:endParaRPr lang="en-US" sz="1100" dirty="0">
                        <a:latin typeface="Consolas" charset="0"/>
                        <a:ea typeface="Consolas" charset="0"/>
                        <a:cs typeface="Consolas"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FE5EF"/>
                      </a:solidFill>
                      <a:prstDash val="solid"/>
                      <a:round/>
                      <a:headEnd type="none" w="med" len="med"/>
                      <a:tailEnd type="none" w="med" len="med"/>
                    </a:lnB>
                    <a:solidFill>
                      <a:srgbClr val="FFFFFF"/>
                    </a:solidFill>
                  </a:tcPr>
                </a:tc>
              </a:tr>
            </a:tbl>
          </a:graphicData>
        </a:graphic>
      </p:graphicFrame>
      <p:sp>
        <p:nvSpPr>
          <p:cNvPr id="7" name="Shape 3"/>
          <p:cNvSpPr/>
          <p:nvPr/>
        </p:nvSpPr>
        <p:spPr>
          <a:xfrm>
            <a:off x="6830568" y="1783080"/>
            <a:ext cx="4700016" cy="1783080"/>
          </a:xfrm>
          <a:prstGeom prst="roundRect">
            <a:avLst>
              <a:gd name="adj" fmla="val 3590"/>
            </a:avLst>
          </a:prstGeom>
          <a:solidFill>
            <a:srgbClr val="FDF0F3"/>
          </a:solidFill>
          <a:ln w="12700">
            <a:solidFill>
              <a:srgbClr val="BE123C"/>
            </a:solidFill>
            <a:prstDash val="solid"/>
          </a:ln>
          <a:effectLst>
            <a:outerShdw sx="100000" sy="100000" kx="0" ky="0" algn="bl" rotWithShape="0" blurRad="101600" dist="25400" dir="5400000">
              <a:srgbClr val="A3AFC4">
                <a:alpha val="22000"/>
              </a:srgbClr>
            </a:outerShdw>
          </a:effectLst>
        </p:spPr>
      </p:sp>
      <p:sp>
        <p:nvSpPr>
          <p:cNvPr id="8" name="Shape 4"/>
          <p:cNvSpPr/>
          <p:nvPr/>
        </p:nvSpPr>
        <p:spPr>
          <a:xfrm>
            <a:off x="7068312" y="1993392"/>
            <a:ext cx="109728" cy="109728"/>
          </a:xfrm>
          <a:prstGeom prst="ellipse">
            <a:avLst/>
          </a:prstGeom>
          <a:solidFill>
            <a:srgbClr val="BE123C"/>
          </a:solidFill>
          <a:ln w="12700">
            <a:solidFill>
              <a:srgbClr val="333333"/>
            </a:solidFill>
            <a:prstDash val="solid"/>
          </a:ln>
        </p:spPr>
      </p:sp>
      <p:sp>
        <p:nvSpPr>
          <p:cNvPr id="9" name="Text 5"/>
          <p:cNvSpPr txBox="1"/>
          <p:nvPr/>
        </p:nvSpPr>
        <p:spPr>
          <a:xfrm>
            <a:off x="7251192" y="1938528"/>
            <a:ext cx="4041648" cy="219456"/>
          </a:xfrm>
          <a:prstGeom prst="rect">
            <a:avLst/>
          </a:prstGeom>
          <a:noFill/>
          <a:ln/>
        </p:spPr>
        <p:txBody>
          <a:bodyPr wrap="square" lIns="0" tIns="0" rIns="0" bIns="0" rtlCol="0" anchor="ctr"/>
          <a:lstStyle/>
          <a:p>
            <a:pPr indent="0" marL="0">
              <a:buNone/>
            </a:pPr>
            <a:r>
              <a:rPr lang="en-US" sz="850" b="1" spc="110" kern="0" dirty="0">
                <a:solidFill>
                  <a:srgbClr val="BE123C"/>
                </a:solidFill>
                <a:latin typeface="Calibri" pitchFamily="34" charset="0"/>
                <a:ea typeface="Calibri" pitchFamily="34" charset="-122"/>
                <a:cs typeface="Calibri" pitchFamily="34" charset="-120"/>
              </a:rPr>
              <a:t>CONCLUSION CONTRE-INTUITIVE</a:t>
            </a:r>
            <a:endParaRPr lang="en-US" sz="850" dirty="0"/>
          </a:p>
        </p:txBody>
      </p:sp>
      <p:sp>
        <p:nvSpPr>
          <p:cNvPr id="10" name="Text 6"/>
          <p:cNvSpPr txBox="1"/>
          <p:nvPr/>
        </p:nvSpPr>
        <p:spPr>
          <a:xfrm>
            <a:off x="7068312" y="2240280"/>
            <a:ext cx="4224528" cy="1179576"/>
          </a:xfrm>
          <a:prstGeom prst="rect">
            <a:avLst/>
          </a:prstGeom>
          <a:noFill/>
          <a:ln/>
        </p:spPr>
        <p:txBody>
          <a:bodyPr wrap="square" lIns="0" tIns="0" rIns="0" bIns="0" rtlCol="0" anchor="t"/>
          <a:lstStyle/>
          <a:p>
            <a:pPr indent="0" marL="0">
              <a:lnSpc>
                <a:spcPct val="124000"/>
              </a:lnSpc>
              <a:buNone/>
            </a:pPr>
            <a:r>
              <a:rPr lang="en-US" sz="1200" dirty="0">
                <a:solidFill>
                  <a:srgbClr val="0F172A"/>
                </a:solidFill>
                <a:latin typeface="Calibri" pitchFamily="34" charset="0"/>
                <a:ea typeface="Calibri" pitchFamily="34" charset="-122"/>
                <a:cs typeface="Calibri" pitchFamily="34" charset="-120"/>
              </a:rPr>
              <a:t>L'approximation fait perdre 14 % de rappel pour économiser moins d'une milliseconde sur une requête qui en prend 83.</a:t>
            </a:r>
            <a:endParaRPr lang="en-US" sz="1200" dirty="0"/>
          </a:p>
          <a:p>
            <a:pPr indent="0" marL="0">
              <a:lnSpc>
                <a:spcPct val="124000"/>
              </a:lnSpc>
              <a:buNone/>
            </a:pPr>
            <a:endParaRPr lang="en-US" sz="1200" dirty="0"/>
          </a:p>
          <a:p>
            <a:pPr indent="0" marL="0">
              <a:lnSpc>
                <a:spcPct val="124000"/>
              </a:lnSpc>
              <a:buNone/>
            </a:pPr>
            <a:r>
              <a:rPr lang="en-US" sz="1200" dirty="0">
                <a:solidFill>
                  <a:srgbClr val="0F172A"/>
                </a:solidFill>
                <a:latin typeface="Calibri" pitchFamily="34" charset="0"/>
                <a:ea typeface="Calibri" pitchFamily="34" charset="-122"/>
                <a:cs typeface="Calibri" pitchFamily="34" charset="-120"/>
              </a:rPr>
              <a:t>Elle ne se justifie pas à cette échelle.</a:t>
            </a:r>
            <a:endParaRPr lang="en-US" sz="1200" dirty="0"/>
          </a:p>
        </p:txBody>
      </p:sp>
      <p:sp>
        <p:nvSpPr>
          <p:cNvPr id="11" name="Shape 7"/>
          <p:cNvSpPr/>
          <p:nvPr/>
        </p:nvSpPr>
        <p:spPr>
          <a:xfrm>
            <a:off x="658368" y="4114800"/>
            <a:ext cx="5760720" cy="1051560"/>
          </a:xfrm>
          <a:prstGeom prst="roundRect">
            <a:avLst>
              <a:gd name="adj" fmla="val 608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2" name="Text 8"/>
          <p:cNvSpPr txBox="1"/>
          <p:nvPr/>
        </p:nvSpPr>
        <p:spPr>
          <a:xfrm>
            <a:off x="896112" y="4279392"/>
            <a:ext cx="5285232" cy="201168"/>
          </a:xfrm>
          <a:prstGeom prst="rect">
            <a:avLst/>
          </a:prstGeom>
          <a:noFill/>
          <a:ln/>
        </p:spPr>
        <p:txBody>
          <a:bodyPr wrap="square" lIns="0" tIns="0" rIns="0" bIns="0" rtlCol="0" anchor="ctr"/>
          <a:lstStyle/>
          <a:p>
            <a:pPr indent="0" marL="0">
              <a:buNone/>
            </a:pPr>
            <a:r>
              <a:rPr lang="en-US" sz="850" b="1" spc="110" kern="0" dirty="0">
                <a:solidFill>
                  <a:srgbClr val="8794AC"/>
                </a:solidFill>
                <a:latin typeface="Calibri" pitchFamily="34" charset="0"/>
                <a:ea typeface="Calibri" pitchFamily="34" charset="-122"/>
                <a:cs typeface="Calibri" pitchFamily="34" charset="-120"/>
              </a:rPr>
              <a:t>CE QUE CELA MONTRE</a:t>
            </a:r>
            <a:endParaRPr lang="en-US" sz="850" dirty="0"/>
          </a:p>
        </p:txBody>
      </p:sp>
      <p:sp>
        <p:nvSpPr>
          <p:cNvPr id="13" name="Text 9"/>
          <p:cNvSpPr txBox="1"/>
          <p:nvPr/>
        </p:nvSpPr>
        <p:spPr>
          <a:xfrm>
            <a:off x="896112" y="4553712"/>
            <a:ext cx="5285232" cy="448056"/>
          </a:xfrm>
          <a:prstGeom prst="rect">
            <a:avLst/>
          </a:prstGeom>
          <a:noFill/>
          <a:ln/>
        </p:spPr>
        <p:txBody>
          <a:bodyPr wrap="square" lIns="0" tIns="0" rIns="0" bIns="0" rtlCol="0" anchor="t"/>
          <a:lstStyle/>
          <a:p>
            <a:pPr indent="0" marL="0">
              <a:lnSpc>
                <a:spcPct val="120000"/>
              </a:lnSpc>
              <a:buNone/>
            </a:pPr>
            <a:r>
              <a:rPr lang="en-US" sz="1150" dirty="0">
                <a:solidFill>
                  <a:srgbClr val="46536B"/>
                </a:solidFill>
                <a:latin typeface="Calibri" pitchFamily="34" charset="0"/>
                <a:ea typeface="Calibri" pitchFamily="34" charset="-122"/>
                <a:cs typeface="Calibri" pitchFamily="34" charset="-120"/>
              </a:rPr>
              <a:t>J'ai testé une optimisation et conclu qu'il ne fallait pas l'activer. Elle reste implémentée pour le jour où le corpus atteindra le million de documents.</a:t>
            </a:r>
            <a:endParaRPr lang="en-US" sz="1150" dirty="0"/>
          </a:p>
        </p:txBody>
      </p:sp>
      <p:sp>
        <p:nvSpPr>
          <p:cNvPr id="14" name="Shape 10"/>
          <p:cNvSpPr/>
          <p:nvPr/>
        </p:nvSpPr>
        <p:spPr>
          <a:xfrm>
            <a:off x="6830568" y="3749040"/>
            <a:ext cx="4700016" cy="1417320"/>
          </a:xfrm>
          <a:prstGeom prst="roundRect">
            <a:avLst>
              <a:gd name="adj" fmla="val 4516"/>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5" name="Text 11"/>
          <p:cNvSpPr txBox="1"/>
          <p:nvPr/>
        </p:nvSpPr>
        <p:spPr>
          <a:xfrm>
            <a:off x="7068312" y="3913632"/>
            <a:ext cx="4224528" cy="201168"/>
          </a:xfrm>
          <a:prstGeom prst="rect">
            <a:avLst/>
          </a:prstGeom>
          <a:noFill/>
          <a:ln/>
        </p:spPr>
        <p:txBody>
          <a:bodyPr wrap="square" lIns="0" tIns="0" rIns="0" bIns="0" rtlCol="0" anchor="ctr"/>
          <a:lstStyle/>
          <a:p>
            <a:pPr indent="0" marL="0">
              <a:buNone/>
            </a:pPr>
            <a:r>
              <a:rPr lang="en-US" sz="850" b="1" spc="110" kern="0" dirty="0">
                <a:solidFill>
                  <a:srgbClr val="8794AC"/>
                </a:solidFill>
                <a:latin typeface="Calibri" pitchFamily="34" charset="0"/>
                <a:ea typeface="Calibri" pitchFamily="34" charset="-122"/>
                <a:cs typeface="Calibri" pitchFamily="34" charset="-120"/>
              </a:rPr>
              <a:t>OÙ PASSE LE TEMPS</a:t>
            </a:r>
            <a:endParaRPr lang="en-US" sz="850" dirty="0"/>
          </a:p>
        </p:txBody>
      </p:sp>
      <p:sp>
        <p:nvSpPr>
          <p:cNvPr id="16" name="Text 12"/>
          <p:cNvSpPr txBox="1"/>
          <p:nvPr/>
        </p:nvSpPr>
        <p:spPr>
          <a:xfrm>
            <a:off x="7068312" y="4187952"/>
            <a:ext cx="4224528" cy="813816"/>
          </a:xfrm>
          <a:prstGeom prst="rect">
            <a:avLst/>
          </a:prstGeom>
          <a:noFill/>
          <a:ln/>
        </p:spPr>
        <p:txBody>
          <a:bodyPr wrap="square" lIns="0" tIns="0" rIns="0" bIns="0" rtlCol="0" anchor="t"/>
          <a:lstStyle/>
          <a:p>
            <a:pPr indent="0" marL="0">
              <a:lnSpc>
                <a:spcPct val="120000"/>
              </a:lnSpc>
              <a:buNone/>
            </a:pPr>
            <a:r>
              <a:rPr lang="en-US" sz="1150" dirty="0">
                <a:solidFill>
                  <a:srgbClr val="46536B"/>
                </a:solidFill>
                <a:latin typeface="Calibri" pitchFamily="34" charset="0"/>
                <a:ea typeface="Calibri" pitchFamily="34" charset="-122"/>
                <a:cs typeface="Calibri" pitchFamily="34" charset="-120"/>
              </a:rPr>
              <a:t>Le temps du moteur sémantique est presque entièrement consacré à l'encodage de la requête. La recherche FAISS elle-même ne coûte qu'une milliseconde sur 10 897 vecteurs.</a:t>
            </a:r>
            <a:endParaRPr lang="en-US" sz="1150" dirty="0"/>
          </a:p>
        </p:txBody>
      </p:sp>
      <p:sp>
        <p:nvSpPr>
          <p:cNvPr id="17" name="Text 13"/>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Annexe — coût de l'index</a:t>
            </a:r>
            <a:endParaRPr lang="en-US" sz="900" dirty="0"/>
          </a:p>
        </p:txBody>
      </p:sp>
      <p:sp>
        <p:nvSpPr>
          <p:cNvPr id="18" name="Text 14"/>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Annexe 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4338C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4338CA"/>
                </a:solidFill>
                <a:latin typeface="Calibri" pitchFamily="34" charset="0"/>
                <a:ea typeface="Calibri" pitchFamily="34" charset="-122"/>
                <a:cs typeface="Calibri" pitchFamily="34" charset="-120"/>
              </a:rPr>
              <a:t>ANNEXE · LES MÉTRIQUES</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Comment elles se calculent</a:t>
            </a:r>
            <a:endParaRPr lang="en-US" sz="3300" dirty="0"/>
          </a:p>
        </p:txBody>
      </p:sp>
      <p:sp>
        <p:nvSpPr>
          <p:cNvPr id="6" name="Shape 3"/>
          <p:cNvSpPr/>
          <p:nvPr/>
        </p:nvSpPr>
        <p:spPr>
          <a:xfrm>
            <a:off x="658368" y="1783080"/>
            <a:ext cx="3502152" cy="2286000"/>
          </a:xfrm>
          <a:prstGeom prst="roundRect">
            <a:avLst>
              <a:gd name="adj" fmla="val 2800"/>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7" name="Shape 4"/>
          <p:cNvSpPr/>
          <p:nvPr/>
        </p:nvSpPr>
        <p:spPr>
          <a:xfrm>
            <a:off x="896112" y="1997964"/>
            <a:ext cx="105156" cy="105156"/>
          </a:xfrm>
          <a:prstGeom prst="ellipse">
            <a:avLst/>
          </a:prstGeom>
          <a:solidFill>
            <a:srgbClr val="4338CA"/>
          </a:solidFill>
          <a:ln w="12700">
            <a:solidFill>
              <a:srgbClr val="333333"/>
            </a:solidFill>
            <a:prstDash val="solid"/>
          </a:ln>
        </p:spPr>
      </p:sp>
      <p:sp>
        <p:nvSpPr>
          <p:cNvPr id="8" name="Text 5"/>
          <p:cNvSpPr txBox="1"/>
          <p:nvPr/>
        </p:nvSpPr>
        <p:spPr>
          <a:xfrm>
            <a:off x="1078992" y="1947672"/>
            <a:ext cx="2843784" cy="201168"/>
          </a:xfrm>
          <a:prstGeom prst="rect">
            <a:avLst/>
          </a:prstGeom>
          <a:noFill/>
          <a:ln/>
        </p:spPr>
        <p:txBody>
          <a:bodyPr wrap="square" lIns="0" tIns="0" rIns="0" bIns="0" rtlCol="0" anchor="ctr"/>
          <a:lstStyle/>
          <a:p>
            <a:pPr indent="0" marL="0">
              <a:buNone/>
            </a:pPr>
            <a:r>
              <a:rPr lang="en-US" sz="850" b="1" spc="110" kern="0" dirty="0">
                <a:solidFill>
                  <a:srgbClr val="4338CA"/>
                </a:solidFill>
                <a:latin typeface="Calibri" pitchFamily="34" charset="0"/>
                <a:ea typeface="Calibri" pitchFamily="34" charset="-122"/>
                <a:cs typeface="Calibri" pitchFamily="34" charset="-120"/>
              </a:rPr>
              <a:t>RECALL@K</a:t>
            </a:r>
            <a:endParaRPr lang="en-US" sz="850" dirty="0"/>
          </a:p>
        </p:txBody>
      </p:sp>
      <p:sp>
        <p:nvSpPr>
          <p:cNvPr id="9" name="Text 6"/>
          <p:cNvSpPr txBox="1"/>
          <p:nvPr/>
        </p:nvSpPr>
        <p:spPr>
          <a:xfrm>
            <a:off x="896112" y="2221992"/>
            <a:ext cx="3026664" cy="493776"/>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Le bon document est-il dans les K premiers ?</a:t>
            </a:r>
            <a:endParaRPr lang="en-US" sz="1300" dirty="0"/>
          </a:p>
        </p:txBody>
      </p:sp>
      <p:sp>
        <p:nvSpPr>
          <p:cNvPr id="10" name="Text 7"/>
          <p:cNvSpPr txBox="1"/>
          <p:nvPr/>
        </p:nvSpPr>
        <p:spPr>
          <a:xfrm>
            <a:off x="896112" y="2788920"/>
            <a:ext cx="3026664" cy="1115568"/>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Oui = 1, non = 0, puis moyenne sur toutes les requêtes.</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En position 3 : Recall@1 = 0, Recall@5 = 1.</a:t>
            </a:r>
            <a:endParaRPr lang="en-US" sz="1100" dirty="0"/>
          </a:p>
        </p:txBody>
      </p:sp>
      <p:sp>
        <p:nvSpPr>
          <p:cNvPr id="11" name="Shape 8"/>
          <p:cNvSpPr/>
          <p:nvPr/>
        </p:nvSpPr>
        <p:spPr>
          <a:xfrm>
            <a:off x="4343400" y="1783080"/>
            <a:ext cx="3502152" cy="2286000"/>
          </a:xfrm>
          <a:prstGeom prst="roundRect">
            <a:avLst>
              <a:gd name="adj" fmla="val 2800"/>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2" name="Shape 9"/>
          <p:cNvSpPr/>
          <p:nvPr/>
        </p:nvSpPr>
        <p:spPr>
          <a:xfrm>
            <a:off x="4581144" y="1997964"/>
            <a:ext cx="105156" cy="105156"/>
          </a:xfrm>
          <a:prstGeom prst="ellipse">
            <a:avLst/>
          </a:prstGeom>
          <a:solidFill>
            <a:srgbClr val="7C3AED"/>
          </a:solidFill>
          <a:ln w="12700">
            <a:solidFill>
              <a:srgbClr val="333333"/>
            </a:solidFill>
            <a:prstDash val="solid"/>
          </a:ln>
        </p:spPr>
      </p:sp>
      <p:sp>
        <p:nvSpPr>
          <p:cNvPr id="13" name="Text 10"/>
          <p:cNvSpPr txBox="1"/>
          <p:nvPr/>
        </p:nvSpPr>
        <p:spPr>
          <a:xfrm>
            <a:off x="4764024" y="1947672"/>
            <a:ext cx="2843784" cy="201168"/>
          </a:xfrm>
          <a:prstGeom prst="rect">
            <a:avLst/>
          </a:prstGeom>
          <a:noFill/>
          <a:ln/>
        </p:spPr>
        <p:txBody>
          <a:bodyPr wrap="square" lIns="0" tIns="0" rIns="0" bIns="0" rtlCol="0" anchor="ctr"/>
          <a:lstStyle/>
          <a:p>
            <a:pPr indent="0" marL="0">
              <a:buNone/>
            </a:pPr>
            <a:r>
              <a:rPr lang="en-US" sz="850" b="1" spc="110" kern="0" dirty="0">
                <a:solidFill>
                  <a:srgbClr val="7C3AED"/>
                </a:solidFill>
                <a:latin typeface="Calibri" pitchFamily="34" charset="0"/>
                <a:ea typeface="Calibri" pitchFamily="34" charset="-122"/>
                <a:cs typeface="Calibri" pitchFamily="34" charset="-120"/>
              </a:rPr>
              <a:t>MRR@K</a:t>
            </a:r>
            <a:endParaRPr lang="en-US" sz="850" dirty="0"/>
          </a:p>
        </p:txBody>
      </p:sp>
      <p:sp>
        <p:nvSpPr>
          <p:cNvPr id="14" name="Text 11"/>
          <p:cNvSpPr txBox="1"/>
          <p:nvPr/>
        </p:nvSpPr>
        <p:spPr>
          <a:xfrm>
            <a:off x="4581144" y="2221992"/>
            <a:ext cx="3026664" cy="493776"/>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1 / position du bon document</a:t>
            </a:r>
            <a:endParaRPr lang="en-US" sz="1300" dirty="0"/>
          </a:p>
        </p:txBody>
      </p:sp>
      <p:sp>
        <p:nvSpPr>
          <p:cNvPr id="15" name="Text 12"/>
          <p:cNvSpPr txBox="1"/>
          <p:nvPr/>
        </p:nvSpPr>
        <p:spPr>
          <a:xfrm>
            <a:off x="4581144" y="2788920"/>
            <a:ext cx="3026664" cy="1115568"/>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1re place = 1,000</a:t>
            </a: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2e place = 0,500</a:t>
            </a: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4e place = 0,250</a:t>
            </a: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absent = 0</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Récompense le fait d'être haut dans la liste.</a:t>
            </a:r>
            <a:endParaRPr lang="en-US" sz="1100" dirty="0"/>
          </a:p>
        </p:txBody>
      </p:sp>
      <p:sp>
        <p:nvSpPr>
          <p:cNvPr id="16" name="Shape 13"/>
          <p:cNvSpPr/>
          <p:nvPr/>
        </p:nvSpPr>
        <p:spPr>
          <a:xfrm>
            <a:off x="8028432" y="1783080"/>
            <a:ext cx="3502152" cy="2286000"/>
          </a:xfrm>
          <a:prstGeom prst="roundRect">
            <a:avLst>
              <a:gd name="adj" fmla="val 2800"/>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7" name="Shape 14"/>
          <p:cNvSpPr/>
          <p:nvPr/>
        </p:nvSpPr>
        <p:spPr>
          <a:xfrm>
            <a:off x="8266176" y="1997964"/>
            <a:ext cx="105156" cy="105156"/>
          </a:xfrm>
          <a:prstGeom prst="ellipse">
            <a:avLst/>
          </a:prstGeom>
          <a:solidFill>
            <a:srgbClr val="047857"/>
          </a:solidFill>
          <a:ln w="12700">
            <a:solidFill>
              <a:srgbClr val="333333"/>
            </a:solidFill>
            <a:prstDash val="solid"/>
          </a:ln>
        </p:spPr>
      </p:sp>
      <p:sp>
        <p:nvSpPr>
          <p:cNvPr id="18" name="Text 15"/>
          <p:cNvSpPr txBox="1"/>
          <p:nvPr/>
        </p:nvSpPr>
        <p:spPr>
          <a:xfrm>
            <a:off x="8449056" y="1947672"/>
            <a:ext cx="2843784" cy="201168"/>
          </a:xfrm>
          <a:prstGeom prst="rect">
            <a:avLst/>
          </a:prstGeom>
          <a:noFill/>
          <a:ln/>
        </p:spPr>
        <p:txBody>
          <a:bodyPr wrap="square" lIns="0" tIns="0" rIns="0" bIns="0" rtlCol="0" anchor="ctr"/>
          <a:lstStyle/>
          <a:p>
            <a:pPr indent="0" marL="0">
              <a:buNone/>
            </a:pPr>
            <a:r>
              <a:rPr lang="en-US" sz="850" b="1" spc="110" kern="0" dirty="0">
                <a:solidFill>
                  <a:srgbClr val="047857"/>
                </a:solidFill>
                <a:latin typeface="Calibri" pitchFamily="34" charset="0"/>
                <a:ea typeface="Calibri" pitchFamily="34" charset="-122"/>
                <a:cs typeface="Calibri" pitchFamily="34" charset="-120"/>
              </a:rPr>
              <a:t>NDCG@K</a:t>
            </a:r>
            <a:endParaRPr lang="en-US" sz="850" dirty="0"/>
          </a:p>
        </p:txBody>
      </p:sp>
      <p:sp>
        <p:nvSpPr>
          <p:cNvPr id="19" name="Text 16"/>
          <p:cNvSpPr txBox="1"/>
          <p:nvPr/>
        </p:nvSpPr>
        <p:spPr>
          <a:xfrm>
            <a:off x="8266176" y="2221992"/>
            <a:ext cx="3026664" cy="493776"/>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1 / log₂(position + 1)</a:t>
            </a:r>
            <a:endParaRPr lang="en-US" sz="1300" dirty="0"/>
          </a:p>
        </p:txBody>
      </p:sp>
      <p:sp>
        <p:nvSpPr>
          <p:cNvPr id="20" name="Text 17"/>
          <p:cNvSpPr txBox="1"/>
          <p:nvPr/>
        </p:nvSpPr>
        <p:spPr>
          <a:xfrm>
            <a:off x="8266176" y="2788920"/>
            <a:ext cx="3026664" cy="1115568"/>
          </a:xfrm>
          <a:prstGeom prst="rect">
            <a:avLst/>
          </a:prstGeom>
          <a:noFill/>
          <a:ln/>
        </p:spPr>
        <p:txBody>
          <a:bodyPr wrap="square" lIns="0" tIns="0" rIns="0" bIns="0" rtlCol="0" anchor="t"/>
          <a:lstStyle/>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1re place = 1,000</a:t>
            </a: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2e place = 0,631</a:t>
            </a: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3e place = 0,500</a:t>
            </a:r>
            <a:endParaRPr lang="en-US" sz="1100" dirty="0"/>
          </a:p>
          <a:p>
            <a:pPr indent="0" marL="0">
              <a:lnSpc>
                <a:spcPct val="120000"/>
              </a:lnSpc>
              <a:buNone/>
            </a:pPr>
            <a:endParaRPr lang="en-US" sz="1100" dirty="0"/>
          </a:p>
          <a:p>
            <a:pPr indent="0" marL="0">
              <a:lnSpc>
                <a:spcPct val="120000"/>
              </a:lnSpc>
              <a:buNone/>
            </a:pPr>
            <a:r>
              <a:rPr lang="en-US" sz="1100" dirty="0">
                <a:solidFill>
                  <a:srgbClr val="46536B"/>
                </a:solidFill>
                <a:latin typeface="Calibri" pitchFamily="34" charset="0"/>
                <a:ea typeface="Calibri" pitchFamily="34" charset="-122"/>
                <a:cs typeface="Calibri" pitchFamily="34" charset="-120"/>
              </a:rPr>
              <a:t>Décroissance logarithmique : plus douce que le MRR.</a:t>
            </a:r>
            <a:endParaRPr lang="en-US" sz="1100" dirty="0"/>
          </a:p>
        </p:txBody>
      </p:sp>
      <p:sp>
        <p:nvSpPr>
          <p:cNvPr id="21" name="Shape 18"/>
          <p:cNvSpPr/>
          <p:nvPr/>
        </p:nvSpPr>
        <p:spPr>
          <a:xfrm>
            <a:off x="658368" y="4279392"/>
            <a:ext cx="10874959" cy="1572768"/>
          </a:xfrm>
          <a:prstGeom prst="roundRect">
            <a:avLst>
              <a:gd name="adj" fmla="val 4070"/>
            </a:avLst>
          </a:prstGeom>
          <a:solidFill>
            <a:srgbClr val="EEF0FE"/>
          </a:solidFill>
          <a:ln w="12700">
            <a:solidFill>
              <a:srgbClr val="4338CA"/>
            </a:solidFill>
            <a:prstDash val="solid"/>
          </a:ln>
          <a:effectLst>
            <a:outerShdw sx="100000" sy="100000" kx="0" ky="0" algn="bl" rotWithShape="0" blurRad="101600" dist="25400" dir="5400000">
              <a:srgbClr val="A3AFC4">
                <a:alpha val="22000"/>
              </a:srgbClr>
            </a:outerShdw>
          </a:effectLst>
        </p:spPr>
      </p:sp>
      <p:sp>
        <p:nvSpPr>
          <p:cNvPr id="22" name="Shape 19"/>
          <p:cNvSpPr/>
          <p:nvPr/>
        </p:nvSpPr>
        <p:spPr>
          <a:xfrm>
            <a:off x="896112" y="4489704"/>
            <a:ext cx="109728" cy="109728"/>
          </a:xfrm>
          <a:prstGeom prst="ellipse">
            <a:avLst/>
          </a:prstGeom>
          <a:solidFill>
            <a:srgbClr val="4338CA"/>
          </a:solidFill>
          <a:ln w="12700">
            <a:solidFill>
              <a:srgbClr val="333333"/>
            </a:solidFill>
            <a:prstDash val="solid"/>
          </a:ln>
        </p:spPr>
      </p:sp>
      <p:sp>
        <p:nvSpPr>
          <p:cNvPr id="23" name="Text 20"/>
          <p:cNvSpPr txBox="1"/>
          <p:nvPr/>
        </p:nvSpPr>
        <p:spPr>
          <a:xfrm>
            <a:off x="1078992" y="4434840"/>
            <a:ext cx="10216591" cy="219456"/>
          </a:xfrm>
          <a:prstGeom prst="rect">
            <a:avLst/>
          </a:prstGeom>
          <a:noFill/>
          <a:ln/>
        </p:spPr>
        <p:txBody>
          <a:bodyPr wrap="square" lIns="0" tIns="0" rIns="0" bIns="0" rtlCol="0" anchor="ctr"/>
          <a:lstStyle/>
          <a:p>
            <a:pPr indent="0" marL="0">
              <a:buNone/>
            </a:pPr>
            <a:r>
              <a:rPr lang="en-US" sz="850" b="1" spc="110" kern="0" dirty="0">
                <a:solidFill>
                  <a:srgbClr val="4338CA"/>
                </a:solidFill>
                <a:latin typeface="Calibri" pitchFamily="34" charset="0"/>
                <a:ea typeface="Calibri" pitchFamily="34" charset="-122"/>
                <a:cs typeface="Calibri" pitchFamily="34" charset="-120"/>
              </a:rPr>
              <a:t>« ET LA PRÉCISION ? »</a:t>
            </a:r>
            <a:endParaRPr lang="en-US" sz="850" dirty="0"/>
          </a:p>
        </p:txBody>
      </p:sp>
      <p:sp>
        <p:nvSpPr>
          <p:cNvPr id="24" name="Text 21"/>
          <p:cNvSpPr txBox="1"/>
          <p:nvPr/>
        </p:nvSpPr>
        <p:spPr>
          <a:xfrm>
            <a:off x="896112" y="4736592"/>
            <a:ext cx="10399471" cy="969264"/>
          </a:xfrm>
          <a:prstGeom prst="rect">
            <a:avLst/>
          </a:prstGeom>
          <a:noFill/>
          <a:ln/>
        </p:spPr>
        <p:txBody>
          <a:bodyPr wrap="square" lIns="0" tIns="0" rIns="0" bIns="0" rtlCol="0" anchor="t"/>
          <a:lstStyle/>
          <a:p>
            <a:pPr indent="0" marL="0">
              <a:lnSpc>
                <a:spcPct val="124000"/>
              </a:lnSpc>
              <a:buNone/>
            </a:pPr>
            <a:r>
              <a:rPr lang="en-US" sz="1200" dirty="0">
                <a:solidFill>
                  <a:srgbClr val="0F172A"/>
                </a:solidFill>
                <a:latin typeface="Calibri" pitchFamily="34" charset="0"/>
                <a:ea typeface="Calibri" pitchFamily="34" charset="-122"/>
                <a:cs typeface="Calibri" pitchFamily="34" charset="-120"/>
              </a:rPr>
              <a:t>Dans mon protocole, chaque requête n'a qu'un seul document pertinent — l'article dont le titre a servi de requête. Précision et rappel se confondent alors : si le bon document est dans les K premiers, les deux valent 1 ; sinon les deux valent 0.</a:t>
            </a:r>
            <a:endParaRPr lang="en-US" sz="1200" dirty="0"/>
          </a:p>
          <a:p>
            <a:pPr indent="0" marL="0">
              <a:lnSpc>
                <a:spcPct val="124000"/>
              </a:lnSpc>
              <a:buNone/>
            </a:pPr>
            <a:r>
              <a:rPr lang="en-US" sz="1200" dirty="0">
                <a:solidFill>
                  <a:srgbClr val="0F172A"/>
                </a:solidFill>
                <a:latin typeface="Calibri" pitchFamily="34" charset="0"/>
                <a:ea typeface="Calibri" pitchFamily="34" charset="-122"/>
                <a:cs typeface="Calibri" pitchFamily="34" charset="-120"/>
              </a:rPr>
              <a:t>J'ai donc rapporté le rappel, et ajouté le MRR et le nDCG qui tiennent compte de la position — ce que ni la précision ni le rappel ne font.</a:t>
            </a:r>
            <a:endParaRPr lang="en-US" sz="1200" dirty="0"/>
          </a:p>
        </p:txBody>
      </p:sp>
      <p:sp>
        <p:nvSpPr>
          <p:cNvPr id="25" name="Text 22"/>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Annexe — les métriques</a:t>
            </a:r>
            <a:endParaRPr lang="en-US" sz="900" dirty="0"/>
          </a:p>
        </p:txBody>
      </p:sp>
      <p:sp>
        <p:nvSpPr>
          <p:cNvPr id="26" name="Text 23"/>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Annexe 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58368" y="498348"/>
            <a:ext cx="114300" cy="114300"/>
          </a:xfrm>
          <a:prstGeom prst="ellipse">
            <a:avLst/>
          </a:prstGeom>
          <a:solidFill>
            <a:srgbClr val="4338CA"/>
          </a:solidFill>
          <a:ln w="12700">
            <a:solidFill>
              <a:srgbClr val="333333"/>
            </a:solidFill>
            <a:prstDash val="solid"/>
          </a:ln>
        </p:spPr>
      </p:sp>
      <p:sp>
        <p:nvSpPr>
          <p:cNvPr id="4" name="Text 1"/>
          <p:cNvSpPr txBox="1"/>
          <p:nvPr/>
        </p:nvSpPr>
        <p:spPr>
          <a:xfrm>
            <a:off x="868680" y="420624"/>
            <a:ext cx="10664647" cy="274320"/>
          </a:xfrm>
          <a:prstGeom prst="rect">
            <a:avLst/>
          </a:prstGeom>
          <a:noFill/>
          <a:ln/>
        </p:spPr>
        <p:txBody>
          <a:bodyPr wrap="square" lIns="0" tIns="0" rIns="0" bIns="0" rtlCol="0" anchor="ctr"/>
          <a:lstStyle/>
          <a:p>
            <a:pPr indent="0" marL="0">
              <a:buNone/>
            </a:pPr>
            <a:r>
              <a:rPr lang="en-US" sz="1000" b="1" spc="150" kern="0" dirty="0">
                <a:solidFill>
                  <a:srgbClr val="4338CA"/>
                </a:solidFill>
                <a:latin typeface="Calibri" pitchFamily="34" charset="0"/>
                <a:ea typeface="Calibri" pitchFamily="34" charset="-122"/>
                <a:cs typeface="Calibri" pitchFamily="34" charset="-120"/>
              </a:rPr>
              <a:t>ANNEXE · QUESTIONS PROBABLES</a:t>
            </a:r>
            <a:endParaRPr lang="en-US" sz="1000" dirty="0"/>
          </a:p>
        </p:txBody>
      </p:sp>
      <p:sp>
        <p:nvSpPr>
          <p:cNvPr id="5" name="Text 2"/>
          <p:cNvSpPr txBox="1"/>
          <p:nvPr/>
        </p:nvSpPr>
        <p:spPr>
          <a:xfrm>
            <a:off x="658368" y="768096"/>
            <a:ext cx="10874959" cy="822960"/>
          </a:xfrm>
          <a:prstGeom prst="rect">
            <a:avLst/>
          </a:prstGeom>
          <a:noFill/>
          <a:ln/>
        </p:spPr>
        <p:txBody>
          <a:bodyPr wrap="square" lIns="0" tIns="0" rIns="0" bIns="0" rtlCol="0" anchor="t"/>
          <a:lstStyle/>
          <a:p>
            <a:pPr indent="0" marL="0">
              <a:buNone/>
            </a:pPr>
            <a:r>
              <a:rPr lang="en-US" sz="3300" b="1" dirty="0">
                <a:solidFill>
                  <a:srgbClr val="0F172A"/>
                </a:solidFill>
                <a:latin typeface="Calibri" pitchFamily="34" charset="0"/>
                <a:ea typeface="Calibri" pitchFamily="34" charset="-122"/>
                <a:cs typeface="Calibri" pitchFamily="34" charset="-120"/>
              </a:rPr>
              <a:t>Réponses courtes</a:t>
            </a:r>
            <a:endParaRPr lang="en-US" sz="3300" dirty="0"/>
          </a:p>
        </p:txBody>
      </p:sp>
      <p:sp>
        <p:nvSpPr>
          <p:cNvPr id="6" name="Shape 3"/>
          <p:cNvSpPr/>
          <p:nvPr/>
        </p:nvSpPr>
        <p:spPr>
          <a:xfrm>
            <a:off x="658368" y="1783080"/>
            <a:ext cx="5230368" cy="1243584"/>
          </a:xfrm>
          <a:prstGeom prst="roundRect">
            <a:avLst>
              <a:gd name="adj" fmla="val 514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7" name="Text 4"/>
          <p:cNvSpPr txBox="1"/>
          <p:nvPr/>
        </p:nvSpPr>
        <p:spPr>
          <a:xfrm>
            <a:off x="896112" y="1947672"/>
            <a:ext cx="4754880" cy="201168"/>
          </a:xfrm>
          <a:prstGeom prst="rect">
            <a:avLst/>
          </a:prstGeom>
          <a:noFill/>
          <a:ln/>
        </p:spPr>
        <p:txBody>
          <a:bodyPr wrap="square" lIns="0" tIns="0" rIns="0" bIns="0" rtlCol="0" anchor="ctr"/>
          <a:lstStyle/>
          <a:p>
            <a:pPr indent="0" marL="0">
              <a:buNone/>
            </a:pPr>
            <a:r>
              <a:rPr lang="en-US" sz="850" b="1" spc="110" kern="0" dirty="0">
                <a:solidFill>
                  <a:srgbClr val="8794AC"/>
                </a:solidFill>
                <a:latin typeface="Calibri" pitchFamily="34" charset="0"/>
                <a:ea typeface="Calibri" pitchFamily="34" charset="-122"/>
                <a:cs typeface="Calibri" pitchFamily="34" charset="-120"/>
              </a:rPr>
              <a:t>« POURQUOI PAS TF-IDF ? »</a:t>
            </a:r>
            <a:endParaRPr lang="en-US" sz="850" dirty="0"/>
          </a:p>
        </p:txBody>
      </p:sp>
      <p:sp>
        <p:nvSpPr>
          <p:cNvPr id="8" name="Text 5"/>
          <p:cNvSpPr txBox="1"/>
          <p:nvPr/>
        </p:nvSpPr>
        <p:spPr>
          <a:xfrm>
            <a:off x="896112" y="2221992"/>
            <a:ext cx="4754880" cy="640080"/>
          </a:xfrm>
          <a:prstGeom prst="rect">
            <a:avLst/>
          </a:prstGeom>
          <a:noFill/>
          <a:ln/>
        </p:spPr>
        <p:txBody>
          <a:bodyPr wrap="square" lIns="0" tIns="0" rIns="0" bIns="0" rtlCol="0" anchor="t"/>
          <a:lstStyle/>
          <a:p>
            <a:pPr indent="0" marL="0">
              <a:lnSpc>
                <a:spcPct val="120000"/>
              </a:lnSpc>
              <a:buNone/>
            </a:pPr>
            <a:r>
              <a:rPr lang="en-US" sz="1050" dirty="0">
                <a:solidFill>
                  <a:srgbClr val="46536B"/>
                </a:solidFill>
                <a:latin typeface="Calibri" pitchFamily="34" charset="0"/>
                <a:ea typeface="Calibri" pitchFamily="34" charset="-122"/>
                <a:cs typeface="Calibri" pitchFamily="34" charset="-120"/>
              </a:rPr>
              <a:t>BM25 est l'amélioration directe de TF-IDF : saturation de la fréquence et normalisation par la longueur. C'est la référence en production. Choisir TF-IDF aurait affaibli volontairement la baseline.</a:t>
            </a:r>
            <a:endParaRPr lang="en-US" sz="1050" dirty="0"/>
          </a:p>
        </p:txBody>
      </p:sp>
      <p:sp>
        <p:nvSpPr>
          <p:cNvPr id="9" name="Shape 6"/>
          <p:cNvSpPr/>
          <p:nvPr/>
        </p:nvSpPr>
        <p:spPr>
          <a:xfrm>
            <a:off x="6300216" y="1783080"/>
            <a:ext cx="5230368" cy="1243584"/>
          </a:xfrm>
          <a:prstGeom prst="roundRect">
            <a:avLst>
              <a:gd name="adj" fmla="val 514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0" name="Text 7"/>
          <p:cNvSpPr txBox="1"/>
          <p:nvPr/>
        </p:nvSpPr>
        <p:spPr>
          <a:xfrm>
            <a:off x="6537960" y="1947672"/>
            <a:ext cx="4754880" cy="201168"/>
          </a:xfrm>
          <a:prstGeom prst="rect">
            <a:avLst/>
          </a:prstGeom>
          <a:noFill/>
          <a:ln/>
        </p:spPr>
        <p:txBody>
          <a:bodyPr wrap="square" lIns="0" tIns="0" rIns="0" bIns="0" rtlCol="0" anchor="ctr"/>
          <a:lstStyle/>
          <a:p>
            <a:pPr indent="0" marL="0">
              <a:buNone/>
            </a:pPr>
            <a:r>
              <a:rPr lang="en-US" sz="850" b="1" spc="110" kern="0" dirty="0">
                <a:solidFill>
                  <a:srgbClr val="8794AC"/>
                </a:solidFill>
                <a:latin typeface="Calibri" pitchFamily="34" charset="0"/>
                <a:ea typeface="Calibri" pitchFamily="34" charset="-122"/>
                <a:cs typeface="Calibri" pitchFamily="34" charset="-120"/>
              </a:rPr>
              <a:t>« POURQUOI 384 DIMENSIONS ? »</a:t>
            </a:r>
            <a:endParaRPr lang="en-US" sz="850" dirty="0"/>
          </a:p>
        </p:txBody>
      </p:sp>
      <p:sp>
        <p:nvSpPr>
          <p:cNvPr id="11" name="Text 8"/>
          <p:cNvSpPr txBox="1"/>
          <p:nvPr/>
        </p:nvSpPr>
        <p:spPr>
          <a:xfrm>
            <a:off x="6537960" y="2221992"/>
            <a:ext cx="4754880" cy="640080"/>
          </a:xfrm>
          <a:prstGeom prst="rect">
            <a:avLst/>
          </a:prstGeom>
          <a:noFill/>
          <a:ln/>
        </p:spPr>
        <p:txBody>
          <a:bodyPr wrap="square" lIns="0" tIns="0" rIns="0" bIns="0" rtlCol="0" anchor="t"/>
          <a:lstStyle/>
          <a:p>
            <a:pPr indent="0" marL="0">
              <a:lnSpc>
                <a:spcPct val="120000"/>
              </a:lnSpc>
              <a:buNone/>
            </a:pPr>
            <a:r>
              <a:rPr lang="en-US" sz="1050" dirty="0">
                <a:solidFill>
                  <a:srgbClr val="46536B"/>
                </a:solidFill>
                <a:latin typeface="Calibri" pitchFamily="34" charset="0"/>
                <a:ea typeface="Calibri" pitchFamily="34" charset="-122"/>
                <a:cs typeface="Calibri" pitchFamily="34" charset="-120"/>
              </a:rPr>
              <a:t>C'est la dimension de sortie de e5-small — imposée par le modèle, pas choisie. e5-base en produirait 768, pour trois fois plus de calcul.</a:t>
            </a:r>
            <a:endParaRPr lang="en-US" sz="1050" dirty="0"/>
          </a:p>
        </p:txBody>
      </p:sp>
      <p:sp>
        <p:nvSpPr>
          <p:cNvPr id="12" name="Shape 9"/>
          <p:cNvSpPr/>
          <p:nvPr/>
        </p:nvSpPr>
        <p:spPr>
          <a:xfrm>
            <a:off x="658368" y="3154680"/>
            <a:ext cx="5230368" cy="1243584"/>
          </a:xfrm>
          <a:prstGeom prst="roundRect">
            <a:avLst>
              <a:gd name="adj" fmla="val 514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3" name="Text 10"/>
          <p:cNvSpPr txBox="1"/>
          <p:nvPr/>
        </p:nvSpPr>
        <p:spPr>
          <a:xfrm>
            <a:off x="896112" y="3319272"/>
            <a:ext cx="4754880" cy="201168"/>
          </a:xfrm>
          <a:prstGeom prst="rect">
            <a:avLst/>
          </a:prstGeom>
          <a:noFill/>
          <a:ln/>
        </p:spPr>
        <p:txBody>
          <a:bodyPr wrap="square" lIns="0" tIns="0" rIns="0" bIns="0" rtlCol="0" anchor="ctr"/>
          <a:lstStyle/>
          <a:p>
            <a:pPr indent="0" marL="0">
              <a:buNone/>
            </a:pPr>
            <a:r>
              <a:rPr lang="en-US" sz="850" b="1" spc="110" kern="0" dirty="0">
                <a:solidFill>
                  <a:srgbClr val="8794AC"/>
                </a:solidFill>
                <a:latin typeface="Calibri" pitchFamily="34" charset="0"/>
                <a:ea typeface="Calibri" pitchFamily="34" charset="-122"/>
                <a:cs typeface="Calibri" pitchFamily="34" charset="-120"/>
              </a:rPr>
              <a:t>« COMMENT SAVEZ-VOUS QUE CE N'EST PAS DE LA CHANCE ? »</a:t>
            </a:r>
            <a:endParaRPr lang="en-US" sz="850" dirty="0"/>
          </a:p>
        </p:txBody>
      </p:sp>
      <p:sp>
        <p:nvSpPr>
          <p:cNvPr id="14" name="Text 11"/>
          <p:cNvSpPr txBox="1"/>
          <p:nvPr/>
        </p:nvSpPr>
        <p:spPr>
          <a:xfrm>
            <a:off x="896112" y="3593592"/>
            <a:ext cx="4754880" cy="640080"/>
          </a:xfrm>
          <a:prstGeom prst="rect">
            <a:avLst/>
          </a:prstGeom>
          <a:noFill/>
          <a:ln/>
        </p:spPr>
        <p:txBody>
          <a:bodyPr wrap="square" lIns="0" tIns="0" rIns="0" bIns="0" rtlCol="0" anchor="t"/>
          <a:lstStyle/>
          <a:p>
            <a:pPr indent="0" marL="0">
              <a:lnSpc>
                <a:spcPct val="120000"/>
              </a:lnSpc>
              <a:buNone/>
            </a:pPr>
            <a:r>
              <a:rPr lang="en-US" sz="1050" dirty="0">
                <a:solidFill>
                  <a:srgbClr val="46536B"/>
                </a:solidFill>
                <a:latin typeface="Calibri" pitchFamily="34" charset="0"/>
                <a:ea typeface="Calibri" pitchFamily="34" charset="-122"/>
                <a:cs typeface="Calibri" pitchFamily="34" charset="-120"/>
              </a:rPr>
              <a:t>500 requêtes annotées automatiquement, graine aléatoire fixée, trois protocoles indépendants, et un fichier de résultats régénérable par une commande.</a:t>
            </a:r>
            <a:endParaRPr lang="en-US" sz="1050" dirty="0"/>
          </a:p>
        </p:txBody>
      </p:sp>
      <p:sp>
        <p:nvSpPr>
          <p:cNvPr id="15" name="Shape 12"/>
          <p:cNvSpPr/>
          <p:nvPr/>
        </p:nvSpPr>
        <p:spPr>
          <a:xfrm>
            <a:off x="6300216" y="3154680"/>
            <a:ext cx="5230368" cy="1243584"/>
          </a:xfrm>
          <a:prstGeom prst="roundRect">
            <a:avLst>
              <a:gd name="adj" fmla="val 514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6" name="Text 13"/>
          <p:cNvSpPr txBox="1"/>
          <p:nvPr/>
        </p:nvSpPr>
        <p:spPr>
          <a:xfrm>
            <a:off x="6537960" y="3319272"/>
            <a:ext cx="4754880" cy="201168"/>
          </a:xfrm>
          <a:prstGeom prst="rect">
            <a:avLst/>
          </a:prstGeom>
          <a:noFill/>
          <a:ln/>
        </p:spPr>
        <p:txBody>
          <a:bodyPr wrap="square" lIns="0" tIns="0" rIns="0" bIns="0" rtlCol="0" anchor="ctr"/>
          <a:lstStyle/>
          <a:p>
            <a:pPr indent="0" marL="0">
              <a:buNone/>
            </a:pPr>
            <a:r>
              <a:rPr lang="en-US" sz="850" b="1" spc="110" kern="0" dirty="0">
                <a:solidFill>
                  <a:srgbClr val="8794AC"/>
                </a:solidFill>
                <a:latin typeface="Calibri" pitchFamily="34" charset="0"/>
                <a:ea typeface="Calibri" pitchFamily="34" charset="-122"/>
                <a:cs typeface="Calibri" pitchFamily="34" charset="-120"/>
              </a:rPr>
              <a:t>« BM25 GAGNE : VOTRE PROJET NE SERT À RIEN ? »</a:t>
            </a:r>
            <a:endParaRPr lang="en-US" sz="850" dirty="0"/>
          </a:p>
        </p:txBody>
      </p:sp>
      <p:sp>
        <p:nvSpPr>
          <p:cNvPr id="17" name="Text 14"/>
          <p:cNvSpPr txBox="1"/>
          <p:nvPr/>
        </p:nvSpPr>
        <p:spPr>
          <a:xfrm>
            <a:off x="6537960" y="3593592"/>
            <a:ext cx="4754880" cy="640080"/>
          </a:xfrm>
          <a:prstGeom prst="rect">
            <a:avLst/>
          </a:prstGeom>
          <a:noFill/>
          <a:ln/>
        </p:spPr>
        <p:txBody>
          <a:bodyPr wrap="square" lIns="0" tIns="0" rIns="0" bIns="0" rtlCol="0" anchor="t"/>
          <a:lstStyle/>
          <a:p>
            <a:pPr indent="0" marL="0">
              <a:lnSpc>
                <a:spcPct val="120000"/>
              </a:lnSpc>
              <a:buNone/>
            </a:pPr>
            <a:r>
              <a:rPr lang="en-US" sz="1050" dirty="0">
                <a:solidFill>
                  <a:srgbClr val="46536B"/>
                </a:solidFill>
                <a:latin typeface="Calibri" pitchFamily="34" charset="0"/>
                <a:ea typeface="Calibri" pitchFamily="34" charset="-122"/>
                <a:cs typeface="Calibri" pitchFamily="34" charset="-120"/>
              </a:rPr>
              <a:t>Il gagne sur le protocole qui lui est le plus favorable, et j'explique pourquoi. Sur les requêtes multilingues, il ne renvoie rien, 20 fois sur 20.</a:t>
            </a:r>
            <a:endParaRPr lang="en-US" sz="1050" dirty="0"/>
          </a:p>
        </p:txBody>
      </p:sp>
      <p:sp>
        <p:nvSpPr>
          <p:cNvPr id="18" name="Shape 15"/>
          <p:cNvSpPr/>
          <p:nvPr/>
        </p:nvSpPr>
        <p:spPr>
          <a:xfrm>
            <a:off x="658368" y="4526280"/>
            <a:ext cx="5230368" cy="1243584"/>
          </a:xfrm>
          <a:prstGeom prst="roundRect">
            <a:avLst>
              <a:gd name="adj" fmla="val 514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19" name="Text 16"/>
          <p:cNvSpPr txBox="1"/>
          <p:nvPr/>
        </p:nvSpPr>
        <p:spPr>
          <a:xfrm>
            <a:off x="896112" y="4690872"/>
            <a:ext cx="4754880" cy="201168"/>
          </a:xfrm>
          <a:prstGeom prst="rect">
            <a:avLst/>
          </a:prstGeom>
          <a:noFill/>
          <a:ln/>
        </p:spPr>
        <p:txBody>
          <a:bodyPr wrap="square" lIns="0" tIns="0" rIns="0" bIns="0" rtlCol="0" anchor="ctr"/>
          <a:lstStyle/>
          <a:p>
            <a:pPr indent="0" marL="0">
              <a:buNone/>
            </a:pPr>
            <a:r>
              <a:rPr lang="en-US" sz="850" b="1" spc="110" kern="0" dirty="0">
                <a:solidFill>
                  <a:srgbClr val="8794AC"/>
                </a:solidFill>
                <a:latin typeface="Calibri" pitchFamily="34" charset="0"/>
                <a:ea typeface="Calibri" pitchFamily="34" charset="-122"/>
                <a:cs typeface="Calibri" pitchFamily="34" charset="-120"/>
              </a:rPr>
              <a:t>« POURQUOI NE PAS TRADUIRE LA REQUÊTE ? »</a:t>
            </a:r>
            <a:endParaRPr lang="en-US" sz="850" dirty="0"/>
          </a:p>
        </p:txBody>
      </p:sp>
      <p:sp>
        <p:nvSpPr>
          <p:cNvPr id="20" name="Text 17"/>
          <p:cNvSpPr txBox="1"/>
          <p:nvPr/>
        </p:nvSpPr>
        <p:spPr>
          <a:xfrm>
            <a:off x="896112" y="4965192"/>
            <a:ext cx="4754880" cy="640080"/>
          </a:xfrm>
          <a:prstGeom prst="rect">
            <a:avLst/>
          </a:prstGeom>
          <a:noFill/>
          <a:ln/>
        </p:spPr>
        <p:txBody>
          <a:bodyPr wrap="square" lIns="0" tIns="0" rIns="0" bIns="0" rtlCol="0" anchor="t"/>
          <a:lstStyle/>
          <a:p>
            <a:pPr indent="0" marL="0">
              <a:lnSpc>
                <a:spcPct val="120000"/>
              </a:lnSpc>
              <a:buNone/>
            </a:pPr>
            <a:r>
              <a:rPr lang="en-US" sz="1050" dirty="0">
                <a:solidFill>
                  <a:srgbClr val="46536B"/>
                </a:solidFill>
                <a:latin typeface="Calibri" pitchFamily="34" charset="0"/>
                <a:ea typeface="Calibri" pitchFamily="34" charset="-122"/>
                <a:cs typeface="Calibri" pitchFamily="34" charset="-120"/>
              </a:rPr>
              <a:t>Ce serait une brique de plus à installer, maintenir et évaluer, avec ses propres erreurs. L'espace vectoriel partagé rend la traduction inutile.</a:t>
            </a:r>
            <a:endParaRPr lang="en-US" sz="1050" dirty="0"/>
          </a:p>
        </p:txBody>
      </p:sp>
      <p:sp>
        <p:nvSpPr>
          <p:cNvPr id="21" name="Shape 18"/>
          <p:cNvSpPr/>
          <p:nvPr/>
        </p:nvSpPr>
        <p:spPr>
          <a:xfrm>
            <a:off x="6300216" y="4526280"/>
            <a:ext cx="5230368" cy="1243584"/>
          </a:xfrm>
          <a:prstGeom prst="roundRect">
            <a:avLst>
              <a:gd name="adj" fmla="val 5147"/>
            </a:avLst>
          </a:prstGeom>
          <a:solidFill>
            <a:srgbClr val="FBFCFE"/>
          </a:solidFill>
          <a:ln w="12700">
            <a:solidFill>
              <a:srgbClr val="DFE5EF"/>
            </a:solidFill>
            <a:prstDash val="solid"/>
          </a:ln>
          <a:effectLst>
            <a:outerShdw sx="100000" sy="100000" kx="0" ky="0" algn="bl" rotWithShape="0" blurRad="101600" dist="25400" dir="5400000">
              <a:srgbClr val="A3AFC4">
                <a:alpha val="22000"/>
              </a:srgbClr>
            </a:outerShdw>
          </a:effectLst>
        </p:spPr>
      </p:sp>
      <p:sp>
        <p:nvSpPr>
          <p:cNvPr id="22" name="Text 19"/>
          <p:cNvSpPr txBox="1"/>
          <p:nvPr/>
        </p:nvSpPr>
        <p:spPr>
          <a:xfrm>
            <a:off x="6537960" y="4690872"/>
            <a:ext cx="4754880" cy="201168"/>
          </a:xfrm>
          <a:prstGeom prst="rect">
            <a:avLst/>
          </a:prstGeom>
          <a:noFill/>
          <a:ln/>
        </p:spPr>
        <p:txBody>
          <a:bodyPr wrap="square" lIns="0" tIns="0" rIns="0" bIns="0" rtlCol="0" anchor="ctr"/>
          <a:lstStyle/>
          <a:p>
            <a:pPr indent="0" marL="0">
              <a:buNone/>
            </a:pPr>
            <a:r>
              <a:rPr lang="en-US" sz="850" b="1" spc="110" kern="0" dirty="0">
                <a:solidFill>
                  <a:srgbClr val="8794AC"/>
                </a:solidFill>
                <a:latin typeface="Calibri" pitchFamily="34" charset="0"/>
                <a:ea typeface="Calibri" pitchFamily="34" charset="-122"/>
                <a:cs typeface="Calibri" pitchFamily="34" charset="-120"/>
              </a:rPr>
              <a:t>« ET UN LLM / UN CHATBOT ? »</a:t>
            </a:r>
            <a:endParaRPr lang="en-US" sz="850" dirty="0"/>
          </a:p>
        </p:txBody>
      </p:sp>
      <p:sp>
        <p:nvSpPr>
          <p:cNvPr id="23" name="Text 20"/>
          <p:cNvSpPr txBox="1"/>
          <p:nvPr/>
        </p:nvSpPr>
        <p:spPr>
          <a:xfrm>
            <a:off x="6537960" y="4965192"/>
            <a:ext cx="4754880" cy="640080"/>
          </a:xfrm>
          <a:prstGeom prst="rect">
            <a:avLst/>
          </a:prstGeom>
          <a:noFill/>
          <a:ln/>
        </p:spPr>
        <p:txBody>
          <a:bodyPr wrap="square" lIns="0" tIns="0" rIns="0" bIns="0" rtlCol="0" anchor="t"/>
          <a:lstStyle/>
          <a:p>
            <a:pPr indent="0" marL="0">
              <a:lnSpc>
                <a:spcPct val="120000"/>
              </a:lnSpc>
              <a:buNone/>
            </a:pPr>
            <a:r>
              <a:rPr lang="en-US" sz="1050" dirty="0">
                <a:solidFill>
                  <a:srgbClr val="46536B"/>
                </a:solidFill>
                <a:latin typeface="Calibri" pitchFamily="34" charset="0"/>
                <a:ea typeface="Calibri" pitchFamily="34" charset="-122"/>
                <a:cs typeface="Calibri" pitchFamily="34" charset="-120"/>
              </a:rPr>
              <a:t>Un LLM ne remplace ni l'indexation, ni le classement, ni l'évaluation. Il se branche après, sur des résultats déjà pertinents.</a:t>
            </a:r>
            <a:endParaRPr lang="en-US" sz="1050" dirty="0"/>
          </a:p>
        </p:txBody>
      </p:sp>
      <p:sp>
        <p:nvSpPr>
          <p:cNvPr id="24" name="Text 21"/>
          <p:cNvSpPr txBox="1"/>
          <p:nvPr/>
        </p:nvSpPr>
        <p:spPr>
          <a:xfrm>
            <a:off x="658368" y="6327648"/>
            <a:ext cx="7772400" cy="274320"/>
          </a:xfrm>
          <a:prstGeom prst="rect">
            <a:avLst/>
          </a:prstGeom>
          <a:noFill/>
          <a:ln/>
        </p:spPr>
        <p:txBody>
          <a:bodyPr wrap="square" lIns="0" tIns="0" rIns="0" bIns="0" rtlCol="0" anchor="ctr"/>
          <a:lstStyle/>
          <a:p>
            <a:pPr indent="0" marL="0">
              <a:buNone/>
            </a:pPr>
            <a:r>
              <a:rPr lang="en-US" sz="900" dirty="0">
                <a:solidFill>
                  <a:srgbClr val="8794AC"/>
                </a:solidFill>
                <a:latin typeface="Calibri" pitchFamily="34" charset="0"/>
                <a:ea typeface="Calibri" pitchFamily="34" charset="-122"/>
                <a:cs typeface="Calibri" pitchFamily="34" charset="-120"/>
              </a:rPr>
              <a:t>Annexe — questions probables</a:t>
            </a:r>
            <a:endParaRPr lang="en-US" sz="900" dirty="0"/>
          </a:p>
        </p:txBody>
      </p:sp>
      <p:sp>
        <p:nvSpPr>
          <p:cNvPr id="25" name="Text 22"/>
          <p:cNvSpPr txBox="1"/>
          <p:nvPr/>
        </p:nvSpPr>
        <p:spPr>
          <a:xfrm>
            <a:off x="9521647" y="6327648"/>
            <a:ext cx="2011680" cy="274320"/>
          </a:xfrm>
          <a:prstGeom prst="rect">
            <a:avLst/>
          </a:prstGeom>
          <a:noFill/>
          <a:ln/>
        </p:spPr>
        <p:txBody>
          <a:bodyPr wrap="square" lIns="0" tIns="0" rIns="0" bIns="0" rtlCol="0" anchor="ctr"/>
          <a:lstStyle/>
          <a:p>
            <a:pPr algn="r" indent="0" marL="0">
              <a:buNone/>
            </a:pPr>
            <a:r>
              <a:rPr lang="en-US" sz="900" dirty="0">
                <a:solidFill>
                  <a:srgbClr val="8794AC"/>
                </a:solidFill>
                <a:latin typeface="Consolas" pitchFamily="34" charset="0"/>
                <a:ea typeface="Consolas" pitchFamily="34" charset="-122"/>
                <a:cs typeface="Consolas" pitchFamily="34" charset="-120"/>
              </a:rPr>
              <a:t>Annexe 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Moteur de recherche sémantique — soutenance</dc:title>
  <dc:subject>PptxGenJS Presentation</dc:subject>
  <dc:creator>Salma Karim</dc:creator>
  <cp:lastModifiedBy>Salma Karim</cp:lastModifiedBy>
  <cp:revision>1</cp:revision>
  <dcterms:created xsi:type="dcterms:W3CDTF">2026-09-01T23:00:11Z</dcterms:created>
  <dcterms:modified xsi:type="dcterms:W3CDTF">2026-09-01T23:00:11Z</dcterms:modified>
</cp:coreProperties>
</file>